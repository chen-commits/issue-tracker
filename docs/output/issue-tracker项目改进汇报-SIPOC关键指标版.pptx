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b856f9571f475c" /><Relationship Type="http://schemas.openxmlformats.org/officeDocument/2006/relationships/extended-properties" Target="/docProps/app.xml" Id="R8d437fd888654f16" /><Relationship Type="http://schemas.openxmlformats.org/officeDocument/2006/relationships/officeDocument" Target="/ppt/presentation.xml" Id="Rb1ec9615e09545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afb69602544f9c"/>
  </p:sldMasterIdLst>
  <p:notesMasterIdLst>
    <p:notesMasterId xmlns:r="http://schemas.openxmlformats.org/officeDocument/2006/relationships" r:id="R6909b60e55244983"/>
  </p:notesMasterIdLst>
  <p:sldIdLst>
    <p:sldId xmlns:r="http://schemas.openxmlformats.org/officeDocument/2006/relationships" id="256" r:id="R4ce58cc56f1b4239"/>
    <p:sldId xmlns:r="http://schemas.openxmlformats.org/officeDocument/2006/relationships" id="257" r:id="R13ec54491b4b44fc"/>
    <p:sldId xmlns:r="http://schemas.openxmlformats.org/officeDocument/2006/relationships" id="258" r:id="R88b3375422ee4d98"/>
    <p:sldId xmlns:r="http://schemas.openxmlformats.org/officeDocument/2006/relationships" id="259" r:id="Rfafd5706151545a6"/>
    <p:sldId xmlns:r="http://schemas.openxmlformats.org/officeDocument/2006/relationships" id="260" r:id="R7bbfeabeb752410e"/>
    <p:sldId xmlns:r="http://schemas.openxmlformats.org/officeDocument/2006/relationships" id="261" r:id="Re25502b1bc5b42e6"/>
    <p:sldId xmlns:r="http://schemas.openxmlformats.org/officeDocument/2006/relationships" id="262" r:id="R389d8f45cda84369"/>
    <p:sldId xmlns:r="http://schemas.openxmlformats.org/officeDocument/2006/relationships" id="263" r:id="R71a7aa59202040f4"/>
    <p:sldId xmlns:r="http://schemas.openxmlformats.org/officeDocument/2006/relationships" id="264" r:id="R2fd69b1de747492a"/>
    <p:sldId xmlns:r="http://schemas.openxmlformats.org/officeDocument/2006/relationships" id="265" r:id="R86e83bfac2d64959"/>
    <p:sldId xmlns:r="http://schemas.openxmlformats.org/officeDocument/2006/relationships" id="266" r:id="Rc62a133588394e54"/>
    <p:sldId xmlns:r="http://schemas.openxmlformats.org/officeDocument/2006/relationships" id="267" r:id="R46f5841848b84ef0"/>
    <p:sldId xmlns:r="http://schemas.openxmlformats.org/officeDocument/2006/relationships" id="268" r:id="R90cc908ef485450b"/>
    <p:sldId xmlns:r="http://schemas.openxmlformats.org/officeDocument/2006/relationships" id="269" r:id="Rc3d1a79448434e60"/>
    <p:sldId xmlns:r="http://schemas.openxmlformats.org/officeDocument/2006/relationships" id="270" r:id="R7271461ae7f04a95"/>
    <p:sldId xmlns:r="http://schemas.openxmlformats.org/officeDocument/2006/relationships" id="271" r:id="R3120adee2b724da8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81d2502d8d4d2b" /><Relationship Type="http://schemas.openxmlformats.org/officeDocument/2006/relationships/slideMaster" Target="/ppt/slideMasters/slideMaster1.xml" Id="Rceafb69602544f9c" /><Relationship Type="http://schemas.openxmlformats.org/officeDocument/2006/relationships/notesMaster" Target="/ppt/notesMasters/notesMaster1.xml" Id="R6909b60e55244983" /><Relationship Type="http://schemas.openxmlformats.org/officeDocument/2006/relationships/presProps" Target="/ppt/presProps.xml" Id="R6b45916361044ad4" /><Relationship Type="http://schemas.openxmlformats.org/officeDocument/2006/relationships/tableStyles" Target="/ppt/tableStyles.xml" Id="Rc46fa176affc4ff6" /><Relationship Type="http://schemas.openxmlformats.org/officeDocument/2006/relationships/slide" Target="/ppt/slides/slide1.xml" Id="R4ce58cc56f1b4239" /><Relationship Type="http://schemas.openxmlformats.org/officeDocument/2006/relationships/slide" Target="/ppt/slides/slide2.xml" Id="R13ec54491b4b44fc" /><Relationship Type="http://schemas.openxmlformats.org/officeDocument/2006/relationships/slide" Target="/ppt/slides/slide3.xml" Id="R88b3375422ee4d98" /><Relationship Type="http://schemas.openxmlformats.org/officeDocument/2006/relationships/slide" Target="/ppt/slides/slide4.xml" Id="Rfafd5706151545a6" /><Relationship Type="http://schemas.openxmlformats.org/officeDocument/2006/relationships/slide" Target="/ppt/slides/slide5.xml" Id="R7bbfeabeb752410e" /><Relationship Type="http://schemas.openxmlformats.org/officeDocument/2006/relationships/slide" Target="/ppt/slides/slide6.xml" Id="Re25502b1bc5b42e6" /><Relationship Type="http://schemas.openxmlformats.org/officeDocument/2006/relationships/slide" Target="/ppt/slides/slide7.xml" Id="R389d8f45cda84369" /><Relationship Type="http://schemas.openxmlformats.org/officeDocument/2006/relationships/slide" Target="/ppt/slides/slide8.xml" Id="R71a7aa59202040f4" /><Relationship Type="http://schemas.openxmlformats.org/officeDocument/2006/relationships/slide" Target="/ppt/slides/slide9.xml" Id="R2fd69b1de747492a" /><Relationship Type="http://schemas.openxmlformats.org/officeDocument/2006/relationships/slide" Target="/ppt/slides/slide10.xml" Id="R86e83bfac2d64959" /><Relationship Type="http://schemas.openxmlformats.org/officeDocument/2006/relationships/slide" Target="/ppt/slides/slide11.xml" Id="Rc62a133588394e54" /><Relationship Type="http://schemas.openxmlformats.org/officeDocument/2006/relationships/slide" Target="/ppt/slides/slide12.xml" Id="R46f5841848b84ef0" /><Relationship Type="http://schemas.openxmlformats.org/officeDocument/2006/relationships/slide" Target="/ppt/slides/slide13.xml" Id="R90cc908ef485450b" /><Relationship Type="http://schemas.openxmlformats.org/officeDocument/2006/relationships/slide" Target="/ppt/slides/slide14.xml" Id="Rc3d1a79448434e60" /><Relationship Type="http://schemas.openxmlformats.org/officeDocument/2006/relationships/slide" Target="/ppt/slides/slide15.xml" Id="R7271461ae7f04a95" /><Relationship Type="http://schemas.openxmlformats.org/officeDocument/2006/relationships/slide" Target="/ppt/slides/slide16.xml" Id="R3120adee2b724d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13b34474684e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4ca3d418114aa7" /><Relationship Type="http://schemas.openxmlformats.org/officeDocument/2006/relationships/notesMaster" Target="/ppt/notesMasters/notesMaster1.xml" Id="R437bc649f02f40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57e2f949a442df" /><Relationship Type="http://schemas.openxmlformats.org/officeDocument/2006/relationships/notesMaster" Target="/ppt/notesMasters/notesMaster1.xml" Id="Ra0561395b52a44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38d7e67c2e4501" /><Relationship Type="http://schemas.openxmlformats.org/officeDocument/2006/relationships/notesMaster" Target="/ppt/notesMasters/notesMaster1.xml" Id="R6a76361c36da48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4a7d0baa80497c" /><Relationship Type="http://schemas.openxmlformats.org/officeDocument/2006/relationships/notesMaster" Target="/ppt/notesMasters/notesMaster1.xml" Id="Rebb94f61b5ca48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82b3f7e61145b8" /><Relationship Type="http://schemas.openxmlformats.org/officeDocument/2006/relationships/notesMaster" Target="/ppt/notesMasters/notesMaster1.xml" Id="R3ea88b4b804b4c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c226e4bd6d4c11" /><Relationship Type="http://schemas.openxmlformats.org/officeDocument/2006/relationships/notesMaster" Target="/ppt/notesMasters/notesMaster1.xml" Id="R203ffab2eeb44e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a33bdd576f4975" /><Relationship Type="http://schemas.openxmlformats.org/officeDocument/2006/relationships/notesMaster" Target="/ppt/notesMasters/notesMaster1.xml" Id="Rfffa56ea880e45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eef1c368cb4441" /><Relationship Type="http://schemas.openxmlformats.org/officeDocument/2006/relationships/notesMaster" Target="/ppt/notesMasters/notesMaster1.xml" Id="Reea8164182af4e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8cabef1edd480d" /><Relationship Type="http://schemas.openxmlformats.org/officeDocument/2006/relationships/notesMaster" Target="/ppt/notesMasters/notesMaster1.xml" Id="R90e2f61a38a744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0f8c0a03294c90" /><Relationship Type="http://schemas.openxmlformats.org/officeDocument/2006/relationships/notesMaster" Target="/ppt/notesMasters/notesMaster1.xml" Id="R7af3e903ff3f47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6f5206bb074af4" /><Relationship Type="http://schemas.openxmlformats.org/officeDocument/2006/relationships/notesMaster" Target="/ppt/notesMasters/notesMaster1.xml" Id="Rcef80bbc3ba241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98558a1e064d4e" /><Relationship Type="http://schemas.openxmlformats.org/officeDocument/2006/relationships/notesMaster" Target="/ppt/notesMasters/notesMaster1.xml" Id="Rb7a8a65b0a3043e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8b36e00b94a4f61" /><Relationship Type="http://schemas.openxmlformats.org/officeDocument/2006/relationships/notesMaster" Target="/ppt/notesMasters/notesMaster1.xml" Id="R46a4997289b04aa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3caca924cd648e5" /><Relationship Type="http://schemas.openxmlformats.org/officeDocument/2006/relationships/notesMaster" Target="/ppt/notesMasters/notesMaster1.xml" Id="Ra53f5737f6584c1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dc2e713fd7d4c37" /><Relationship Type="http://schemas.openxmlformats.org/officeDocument/2006/relationships/notesMaster" Target="/ppt/notesMasters/notesMaster1.xml" Id="R4c4e693119ab499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c7da052f4aa41d0" /><Relationship Type="http://schemas.openxmlformats.org/officeDocument/2006/relationships/notesMaster" Target="/ppt/notesMasters/notesMaster1.xml" Id="Rf4e72993b6874e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issue-tracker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社区问题管理与测试分析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现状调查：社区 Issue 管理的五项痛点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社区反馈持续增加，正文、评论和处理进展分散。测试人员需要先收集、阅读和判断，再准备验证材料。</a:t>
            </a:r>
          </a:p>
          <a:p xmlns:a="http://schemas.openxmlformats.org/drawingml/2006/main">
            <a:r>
              <a:t>以下痛点来自项目需求与使用反馈，具体耗时和遗漏比例仍需建立统计基线。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痛点：具体表现：对测试工作的影响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持续跟踪困难：新增问题、历史更新和维护者回复需要反复查看。</a:t>
            </a:r>
          </a:p>
          <a:p xmlns:a="http://schemas.openxmlformats.org/drawingml/2006/main">
            <a:r>
              <a:t>正文、评论与状态变化缺少统一的跟踪入口。：容易重复查找与核对。</a:t>
            </a:r>
          </a:p>
          <a:p xmlns:a="http://schemas.openxmlformats.org/drawingml/2006/main">
            <a:r>
              <a:t>重要更新可能未能及时跟进。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人工整理投入大：逐条阅读长正文、多轮评论和错误日志。</a:t>
            </a:r>
          </a:p>
          <a:p xmlns:a="http://schemas.openxmlformats.org/drawingml/2006/main">
            <a:r>
              <a:t>重复提取问题现象、环境配置与处理进展。：资料准备占用分析精力。</a:t>
            </a:r>
          </a:p>
          <a:p xmlns:a="http://schemas.openxmlformats.org/drawingml/2006/main">
            <a:r>
              <a:t>集中梳理大量问题时耗时明显。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重点问题筛选难：缺陷、文档、咨询和 RFC 混杂在完整列表中。</a:t>
            </a:r>
          </a:p>
          <a:p xmlns:a="http://schemas.openxmlformats.org/drawingml/2006/main">
            <a:r>
              <a:t>价值、版本适用性和复现条件需要分别判断。：测试资源难以确定投入顺序。</a:t>
            </a:r>
          </a:p>
          <a:p xmlns:a="http://schemas.openxmlformats.org/drawingml/2006/main">
            <a:r>
              <a:t>重要缺陷可能被低相关反馈淹没。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复现材料不完整：模型、量化、并行方式与软硬件版本组合复杂。</a:t>
            </a:r>
          </a:p>
          <a:p xmlns:a="http://schemas.openxmlformats.org/drawingml/2006/main">
            <a:r>
              <a:t>启动参数、触发请求或复现步骤可能缺失。：需要重新翻阅正文与评论补齐参数。</a:t>
            </a:r>
          </a:p>
          <a:p xmlns:a="http://schemas.openxmlformats.org/drawingml/2006/main">
            <a:r>
              <a:t>难以判断是否具备开展验证的条件。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分析经验难复用：分析结论、补测建议与处理进展分散保存。</a:t>
            </a:r>
          </a:p>
          <a:p xmlns:a="http://schemas.openxmlformats.org/drawingml/2006/main">
            <a:r>
              <a:t>交接时缺少可直接接续的材料和判断依据。：接手者重复阅读与分析。</a:t>
            </a:r>
          </a:p>
          <a:p xmlns:a="http://schemas.openxmlformats.org/drawingml/2006/main">
            <a:r>
              <a:t>典型问题难以积累为后续测试输入。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SIPOC：流程范围与关键指标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使用方需要有依据、可接续的分析记录，项目通过统一台账、筛选和辅助整理减少形成这些材料的人工投入。</a:t>
            </a:r>
          </a:p>
          <a:p xmlns:a="http://schemas.openxmlformats.org/drawingml/2006/main">
            <a:r>
              <a:t>据此提出主指标“单条 Issue 分析平均人工耗时”，在输出质量满足要求的前提下比较改进前后变化。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 供应方：I 输入：P 处理过程：O 输出：C 使用方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Issue 提交者</a:t>
            </a:r>
          </a:p>
          <a:p xmlns:a="http://schemas.openxmlformats.org/drawingml/2006/main">
            <a:r>
              <a:t>社区维护者</a:t>
            </a:r>
          </a:p>
          <a:p xmlns:a="http://schemas.openxmlformats.org/drawingml/2006/main">
            <a:r>
              <a:t>参与讨论的用户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提供问题与后续反馈：正文、评论与日志</a:t>
            </a:r>
          </a:p>
          <a:p xmlns:a="http://schemas.openxmlformats.org/drawingml/2006/main">
            <a:r>
              <a:t>标签、状态与版本</a:t>
            </a:r>
          </a:p>
          <a:p xmlns:a="http://schemas.openxmlformats.org/drawingml/2006/main">
            <a:r>
              <a:t>模型、环境配置</a:t>
            </a:r>
          </a:p>
          <a:p xmlns:a="http://schemas.openxmlformats.org/drawingml/2006/main">
            <a:r>
              <a:t>已有人工分析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保留来源与信息缺口：同步获取与集中查看</a:t>
            </a:r>
          </a:p>
          <a:p xmlns:a="http://schemas.openxmlformats.org/drawingml/2006/main">
            <a:r>
              <a:t>筛选并确定分析范围</a:t>
            </a:r>
          </a:p>
          <a:p xmlns:a="http://schemas.openxmlformats.org/drawingml/2006/main">
            <a:r>
              <a:t>人工或 AI 辅助归纳</a:t>
            </a:r>
          </a:p>
          <a:p xmlns:a="http://schemas.openxmlformats.org/drawingml/2006/main">
            <a:r>
              <a:t>人员审核、修正</a:t>
            </a:r>
          </a:p>
          <a:p xmlns:a="http://schemas.openxmlformats.org/drawingml/2006/main">
            <a:r>
              <a:t>保存记录与专题导出：经审核的分析记录</a:t>
            </a:r>
          </a:p>
          <a:p xmlns:a="http://schemas.openxmlformats.org/drawingml/2006/main">
            <a:r>
              <a:t>问题判断与依据</a:t>
            </a:r>
          </a:p>
          <a:p xmlns:a="http://schemas.openxmlformats.org/drawingml/2006/main">
            <a:r>
              <a:t>关键配置与信息缺口</a:t>
            </a:r>
          </a:p>
          <a:p xmlns:a="http://schemas.openxmlformats.org/drawingml/2006/main">
            <a:r>
              <a:t>后续验证或跟进建议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为复现提供准备材料：测试人员</a:t>
            </a:r>
          </a:p>
          <a:p xmlns:a="http://schemas.openxmlformats.org/drawingml/2006/main">
            <a:r>
              <a:t>开发与问题负责人</a:t>
            </a:r>
          </a:p>
          <a:p xmlns:a="http://schemas.openxmlformats.org/drawingml/2006/main">
            <a:r>
              <a:t>评审和交接人员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据此判断下一步工作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把社区反馈的供应方、输入、处理过程、输出和使用方放在同一流程中。使用方需要的是可继续使用的分析记录，因此建议将形成审核合格记录的平均人工投入作为主指标。分子为固定样本所有参与人员的实际人工分钟之和，多人并行要相加，返工及 AI 失败后的人工处理都计入，不能只计算生成成功项。分母为预先选定并逐条完成分析的样本数量。若有未完成项，披露数量和原因，待完成后形成完整批次结果，不排除困难样本来降低均值。该指标不是模型接口耗时或缺陷自动复现率。没有实测数据时不填当前值与改善比例。质量审核是使用指标的前提，不能通过减少核对、遗漏信息或降低交付标准换取更低耗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根因分析：社区反馈转化为测试输入的障碍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从信息获取、分析方法、环境配置、人员协作、工作流程和知识沉淀六个方面展开原因。</a:t>
            </a:r>
          </a:p>
          <a:p xmlns:a="http://schemas.openxmlformats.org/drawingml/2006/main">
            <a:r>
              <a:t>鱼骨图列出可能因素，后续需要用流程走查、样本检查和对照验证确认主要原因。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目标设定：明确希望改善什么、如何验收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整体目标是持续跟踪社区问题，减少重复整理，帮助人员选择重点验证对象，并积累可继续使用的分析材料。</a:t>
            </a:r>
          </a:p>
          <a:p xmlns:a="http://schemas.openxmlformats.org/drawingml/2006/main">
            <a:r>
              <a:t>目标描述的是希望取得的改进，是否达成需要结合实际使用数据和测试人员反馈判断。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目标：具体含义与项目解决方式：验收依据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提高跟踪可靠性：集中维护问题列表，持续同步新增和历史更新。</a:t>
            </a:r>
          </a:p>
          <a:p xmlns:a="http://schemas.openxmlformats.org/drawingml/2006/main">
            <a:r>
              <a:t>统一仓库、时间和状态口径，支持全量核对。</a:t>
            </a:r>
          </a:p>
          <a:p xmlns:a="http://schemas.openxmlformats.org/drawingml/2006/main">
            <a:r>
              <a:t>社区字段更新时保留本地人工分析。：同口径核对问题数量并抽查具体条目。</a:t>
            </a:r>
          </a:p>
          <a:p xmlns:a="http://schemas.openxmlformats.org/drawingml/2006/main">
            <a:r>
              <a:t>检查历史更新是否跟进。</a:t>
            </a:r>
          </a:p>
          <a:p xmlns:a="http://schemas.openxmlformats.org/drawingml/2006/main">
            <a:r>
              <a:t>确认人工结论未被同步覆盖。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减少人工整理投入：集中展示原文与评论，减少跨页面查找。</a:t>
            </a:r>
          </a:p>
          <a:p xmlns:a="http://schemas.openxmlformats.org/drawingml/2006/main">
            <a:r>
              <a:t>AI 辅助归纳摘要与补测建议，支持批量处理。</a:t>
            </a:r>
          </a:p>
          <a:p xmlns:a="http://schemas.openxmlformats.org/drawingml/2006/main">
            <a:r>
              <a:t>人员核对和修正后使用结果。：对比单条 Issue 分析平均人工耗时。</a:t>
            </a:r>
          </a:p>
          <a:p xmlns:a="http://schemas.openxmlformats.org/drawingml/2006/main">
            <a:r>
              <a:t>包括查找、阅读、审核与修正。</a:t>
            </a:r>
          </a:p>
          <a:p xmlns:a="http://schemas.openxmlformats.org/drawingml/2006/main">
            <a:r>
              <a:t>质量标准一致，计入错误与返工。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提高重点筛选效率：按时间、状态、标签和版本收敛范围。</a:t>
            </a:r>
          </a:p>
          <a:p xmlns:a="http://schemas.openxmlformats.org/drawingml/2006/main">
            <a:r>
              <a:t>结合价值与复现条件形成优先处理候选。</a:t>
            </a:r>
          </a:p>
          <a:p xmlns:a="http://schemas.openxmlformats.org/drawingml/2006/main">
            <a:r>
              <a:t>保留完整列表，人工复查重要遗漏。：人工评审候选是否值得投入测试。</a:t>
            </a:r>
          </a:p>
          <a:p xmlns:a="http://schemas.openxmlformats.org/drawingml/2006/main">
            <a:r>
              <a:t>抽查筛选结果之外的重要问题。</a:t>
            </a:r>
          </a:p>
          <a:p xmlns:a="http://schemas.openxmlformats.org/drawingml/2006/main">
            <a:r>
              <a:t>观察筛选准备时间与判断分歧。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提高复现材料</a:t>
            </a:r>
          </a:p>
          <a:p xmlns:a="http://schemas.openxmlformats.org/drawingml/2006/main">
            <a:r>
              <a:t>完整性：辅助提取模型配置、硬件环境和软件版本。</a:t>
            </a:r>
          </a:p>
          <a:p xmlns:a="http://schemas.openxmlformats.org/drawingml/2006/main">
            <a:r>
              <a:t>整理触发条件、预期结果和已知错误现象。</a:t>
            </a:r>
          </a:p>
          <a:p xmlns:a="http://schemas.openxmlformats.org/drawingml/2006/main">
            <a:r>
              <a:t>明确缺失信息，实际复现仍由测试人员执行。：检查关键参数与待确认项是否清楚。</a:t>
            </a:r>
          </a:p>
          <a:p xmlns:a="http://schemas.openxmlformats.org/drawingml/2006/main">
            <a:r>
              <a:t>由测试人员评估材料能否用于验证。</a:t>
            </a:r>
          </a:p>
          <a:p xmlns:a="http://schemas.openxmlformats.org/drawingml/2006/main">
            <a:r>
              <a:t>不能将材料生成等同于复现成功。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提高分析材料</a:t>
            </a:r>
          </a:p>
          <a:p xmlns:a="http://schemas.openxmlformats.org/drawingml/2006/main">
            <a:r>
              <a:t>复用能力：将人工结论、补测建议和进展保存在台账。</a:t>
            </a:r>
          </a:p>
          <a:p xmlns:a="http://schemas.openxmlformats.org/drawingml/2006/main">
            <a:r>
              <a:t>支持按专题整理与导出，便于评审交接。</a:t>
            </a:r>
          </a:p>
          <a:p xmlns:a="http://schemas.openxmlformats.org/drawingml/2006/main">
            <a:r>
              <a:t>关联来源问题，积累典型测试场景。：检查接手者能否继续分析而非重做。</a:t>
            </a:r>
          </a:p>
          <a:p xmlns:a="http://schemas.openxmlformats.org/drawingml/2006/main">
            <a:r>
              <a:t>记录材料在同类问题中的实际使用。</a:t>
            </a:r>
          </a:p>
          <a:p xmlns:a="http://schemas.openxmlformats.org/drawingml/2006/main">
            <a:r>
              <a:t>跟踪与测试验证记录的关联。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根因确认：初步因果关联矩阵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强、中、弱表示现有材料下的关联假设，用于选择优先核验的原因。</a:t>
            </a:r>
          </a:p>
          <a:p xmlns:a="http://schemas.openxmlformats.org/drawingml/2006/main">
            <a:r>
              <a:t>此矩阵没有使用实测权重，不能直接作为根因已确认或改进效果已达成的证明。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原因候选：持续跟踪：人工投入：重点筛选：复现材料：经验复用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缺少持续同步与统一入口：强：中：弱：弱：中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正文评论归纳依赖人工：弱：强：中：中：中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缺少统一评价筛选口径：弱：中：强：中：弱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缺少结构化复现材料模板：弱：中：中：强：中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分析结论分散存放：中：中：弱：中：强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根因确认：主因候选及其验证办法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将原因归并为三组主因候选，分别检查它们如何造成重复工作、材料缺失或筛选分歧。</a:t>
            </a:r>
          </a:p>
          <a:p xmlns:a="http://schemas.openxmlformats.org/drawingml/2006/main">
            <a:r>
              <a:t>确认主因需要过程记录及针对性调整后的证据，目前保留为待验证假设。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主因候选：影响机制：验证办法与需要保留的证据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统一载体不足：问题获取、状态跟踪和分析结论缺少统一入口。</a:t>
            </a:r>
          </a:p>
          <a:p xmlns:a="http://schemas.openxmlformats.org/drawingml/2006/main">
            <a:r>
              <a:t>人员在不同页面或材料间切换，重复收集信息。</a:t>
            </a:r>
          </a:p>
          <a:p xmlns:a="http://schemas.openxmlformats.org/drawingml/2006/main">
            <a:r>
              <a:t>交接时难以查找此前结论及其依据。：走查一次专项分析和交接的完整过程。</a:t>
            </a:r>
          </a:p>
          <a:p xmlns:a="http://schemas.openxmlformats.org/drawingml/2006/main">
            <a:r>
              <a:t>记录查找入口、重复收集步骤和结论查找时间。</a:t>
            </a:r>
          </a:p>
          <a:p xmlns:a="http://schemas.openxmlformats.org/drawingml/2006/main">
            <a:r>
              <a:t>比较采用统一台账前后的工作方式与遗漏情况。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人工归纳与</a:t>
            </a:r>
          </a:p>
          <a:p xmlns:a="http://schemas.openxmlformats.org/drawingml/2006/main">
            <a:r>
              <a:t>配置提取依赖：长正文和多轮评论需要人工逐条整理。</a:t>
            </a:r>
          </a:p>
          <a:p xmlns:a="http://schemas.openxmlformats.org/drawingml/2006/main">
            <a:r>
              <a:t>缺少固定的复现材料检查项，关键参数容易遗漏。</a:t>
            </a:r>
          </a:p>
          <a:p xmlns:a="http://schemas.openxmlformats.org/drawingml/2006/main">
            <a:r>
              <a:t>同类问题仍需重复阅读、摘录与补采。：选取相近复杂度、信息完整度不同的样本。</a:t>
            </a:r>
          </a:p>
          <a:p xmlns:a="http://schemas.openxmlformats.org/drawingml/2006/main">
            <a:r>
              <a:t>记录阅读、提取、审核和修正的分环节耗时。</a:t>
            </a:r>
          </a:p>
          <a:p xmlns:a="http://schemas.openxmlformats.org/drawingml/2006/main">
            <a:r>
              <a:t>检查环境配置、触发条件及缺失项是否完整。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评价筛选口径</a:t>
            </a:r>
          </a:p>
          <a:p xmlns:a="http://schemas.openxmlformats.org/drawingml/2006/main">
            <a:r>
              <a:t>不统一：对价值、版本适用性和复现难度缺少共同标准。</a:t>
            </a:r>
          </a:p>
          <a:p xmlns:a="http://schemas.openxmlformats.org/drawingml/2006/main">
            <a:r>
              <a:t>不同人员可能给出不同的优先级和测试建议。</a:t>
            </a:r>
          </a:p>
          <a:p xmlns:a="http://schemas.openxmlformats.org/drawingml/2006/main">
            <a:r>
              <a:t>重要但信息不足的问题容易过早排除。：多人独立评审同一批问题并记录分歧。</a:t>
            </a:r>
          </a:p>
          <a:p xmlns:a="http://schemas.openxmlformats.org/drawingml/2006/main">
            <a:r>
              <a:t>比较候选有效性，抽查筛选之外的重要问题。</a:t>
            </a:r>
          </a:p>
          <a:p xmlns:a="http://schemas.openxmlformats.org/drawingml/2006/main">
            <a:r>
              <a:t>统一评价口径后，在另一批样本上复评。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拟定对策：针对每项痛点设计解决方案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各项对策共同服务于项目整体目标。AI 主要用于辅助整理，统一台账、筛选和人工记录也能独立提供价值。</a:t>
            </a:r>
          </a:p>
          <a:p xmlns:a="http://schemas.openxmlformats.org/drawingml/2006/main">
            <a:r>
              <a:t>方案是否有效，需要同时考虑人员投入、分析质量及后续测试使用情况。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针对的痛点：解决方案：预期形成的工作材料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持续跟踪困难：全量同步与增量更新结合，提供手动校准入口。</a:t>
            </a:r>
          </a:p>
          <a:p xmlns:a="http://schemas.openxmlformats.org/drawingml/2006/main">
            <a:r>
              <a:t>统一仓库、时间和状态口径，集中查看问题。</a:t>
            </a:r>
          </a:p>
          <a:p xmlns:a="http://schemas.openxmlformats.org/drawingml/2006/main">
            <a:r>
              <a:t>分别维护社区信息与本地人工分析。：持续更新的问题台账。</a:t>
            </a:r>
          </a:p>
          <a:p xmlns:a="http://schemas.openxmlformats.org/drawingml/2006/main">
            <a:r>
              <a:t>可核对的专项清单。</a:t>
            </a:r>
          </a:p>
          <a:p xmlns:a="http://schemas.openxmlformats.org/drawingml/2006/main">
            <a:r>
              <a:t>历史更新与人工分析记录。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人工整理投入大：集中提供正文、评论和已有分析作为上下文。</a:t>
            </a:r>
          </a:p>
          <a:p xmlns:a="http://schemas.openxmlformats.org/drawingml/2006/main">
            <a:r>
              <a:t>AI 辅助归纳，支持选中问题和筛选范围批量处理。</a:t>
            </a:r>
          </a:p>
          <a:p xmlns:a="http://schemas.openxmlformats.org/drawingml/2006/main">
            <a:r>
              <a:t>人员审核、修正并决定是否采纳建议。：待审核的结构化建议。</a:t>
            </a:r>
          </a:p>
          <a:p xmlns:a="http://schemas.openxmlformats.org/drawingml/2006/main">
            <a:r>
              <a:t>批量任务进度与失败项。</a:t>
            </a:r>
          </a:p>
          <a:p xmlns:a="http://schemas.openxmlformats.org/drawingml/2006/main">
            <a:r>
              <a:t>人工审核后的分析结果。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重点问题筛选难：按日期、状态、标签和版本缩小分析范围。</a:t>
            </a:r>
          </a:p>
          <a:p xmlns:a="http://schemas.openxmlformats.org/drawingml/2006/main">
            <a:r>
              <a:t>结合价值与复现条件形成候选排序。</a:t>
            </a:r>
          </a:p>
          <a:p xmlns:a="http://schemas.openxmlformats.org/drawingml/2006/main">
            <a:r>
              <a:t>过滤文档、RFC 等类型时保留完整列表供复查。：重点验证候选及筛选依据。</a:t>
            </a:r>
          </a:p>
          <a:p xmlns:a="http://schemas.openxmlformats.org/drawingml/2006/main">
            <a:r>
              <a:t>人工补充的价值判断。</a:t>
            </a:r>
          </a:p>
          <a:p xmlns:a="http://schemas.openxmlformats.org/drawingml/2006/main">
            <a:r>
              <a:t>重要遗漏的复查记录。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复现材料不完整：按模型、配置、环境和触发场景整理补测材料。</a:t>
            </a:r>
          </a:p>
          <a:p xmlns:a="http://schemas.openxmlformats.org/drawingml/2006/main">
            <a:r>
              <a:t>明确哪些参数来自原文，哪些信息尚未提供。</a:t>
            </a:r>
          </a:p>
          <a:p xmlns:a="http://schemas.openxmlformats.org/drawingml/2006/main">
            <a:r>
              <a:t>测试人员补齐条件后执行验证并记录结果。：模型与软硬件配置清单。</a:t>
            </a:r>
          </a:p>
          <a:p xmlns:a="http://schemas.openxmlformats.org/drawingml/2006/main">
            <a:r>
              <a:t>复现场景及缺失参数。</a:t>
            </a:r>
          </a:p>
          <a:p xmlns:a="http://schemas.openxmlformats.org/drawingml/2006/main">
            <a:r>
              <a:t>后续验证动作与结果记录。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分析经验难复用：集中保存分析结论、补测建议与处理进展。</a:t>
            </a:r>
          </a:p>
          <a:p xmlns:a="http://schemas.openxmlformats.org/drawingml/2006/main">
            <a:r>
              <a:t>支持按专题整理、导出和交接。</a:t>
            </a:r>
          </a:p>
          <a:p xmlns:a="http://schemas.openxmlformats.org/drawingml/2006/main">
            <a:r>
              <a:t>在测试材料中保留来源 Issue 及判断依据。：可接续的分析台账。</a:t>
            </a:r>
          </a:p>
          <a:p xmlns:a="http://schemas.openxmlformats.org/drawingml/2006/main">
            <a:r>
              <a:t>专题评审与交接材料。</a:t>
            </a:r>
          </a:p>
          <a:p xmlns:a="http://schemas.openxmlformats.org/drawingml/2006/main">
            <a:r>
              <a:t>典型场景及其来源记录。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对策实施：持续同步与统一台账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解决“持续跟踪困难”：把分散的问题信息收敛到统一入口，支持持续更新、专项筛选和完整性核对。</a:t>
            </a:r>
          </a:p>
          <a:p xmlns:a="http://schemas.openxmlformats.org/drawingml/2006/main">
            <a:r>
              <a:t>统计时需要统一仓库、时间、状态以及是否包含 PR，避免把统计口径差异误判为数据遗漏。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明确同步与核对范围：统一仓库、日期和状态条件。</a:t>
            </a:r>
          </a:p>
          <a:p xmlns:a="http://schemas.openxmlformats.org/drawingml/2006/main">
            <a:r>
              <a:t>对照同一口径的问题数量与具体条目，</a:t>
            </a:r>
          </a:p>
          <a:p xmlns:a="http://schemas.openxmlformats.org/drawingml/2006/main">
            <a:r>
              <a:t>同时检查新增问题和历史更新。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持续维护问题台账：全量获取用于建立和校准台账，</a:t>
            </a:r>
          </a:p>
          <a:p xmlns:a="http://schemas.openxmlformats.org/drawingml/2006/main">
            <a:r>
              <a:t>增量同步用于日常跟进。</a:t>
            </a:r>
          </a:p>
          <a:p xmlns:a="http://schemas.openxmlformats.org/drawingml/2006/main">
            <a:r>
              <a:t>同步完成后仍需关注异常与漏项。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保护本地人工分析：社区字段与人工结论分开维护。</a:t>
            </a:r>
          </a:p>
          <a:p xmlns:a="http://schemas.openxmlformats.org/drawingml/2006/main">
            <a:r>
              <a:t>更新标题、正文和状态时，</a:t>
            </a:r>
          </a:p>
          <a:p xmlns:a="http://schemas.openxmlformats.org/drawingml/2006/main">
            <a:r>
              <a:t>保留已有分析、备注与补测建议。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形成可检查的专项清单：按时间、状态、标签等收敛范围。</a:t>
            </a:r>
          </a:p>
          <a:p xmlns:a="http://schemas.openxmlformats.org/drawingml/2006/main">
            <a:r>
              <a:t>通过清单逐项核对更新与遗漏，</a:t>
            </a:r>
          </a:p>
          <a:p xmlns:a="http://schemas.openxmlformats.org/drawingml/2006/main">
            <a:r>
              <a:t>减少反复打开社区页面查找。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对策实施：AI 辅助分析与批量任务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解决“人工整理投入大”：由模型先整理材料，人员再核对证据、修正结论并决定是否采纳。</a:t>
            </a:r>
          </a:p>
          <a:p xmlns:a="http://schemas.openxmlformats.org/drawingml/2006/main">
            <a:r>
              <a:t>AI 模块仍需持续评估，效率收益应包含审核、修正和失败重试成本，不能仅看生成建议数量。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准备可靠的分析上下文：结合正文、评论和已有分析。</a:t>
            </a:r>
          </a:p>
          <a:p xmlns:a="http://schemas.openxmlformats.org/drawingml/2006/main">
            <a:r>
              <a:t>明确材料来源与缺失部分，</a:t>
            </a:r>
          </a:p>
          <a:p xmlns:a="http://schemas.openxmlformats.org/drawingml/2006/main">
            <a:r>
              <a:t>避免模型把推测当成已确认事实。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生成待审核的结构化建议：归纳问题摘要、现象和补测建议。</a:t>
            </a:r>
          </a:p>
          <a:p xmlns:a="http://schemas.openxmlformats.org/drawingml/2006/main">
            <a:r>
              <a:t>区分事实、可能原因与待确认参数，</a:t>
            </a:r>
          </a:p>
          <a:p xmlns:a="http://schemas.openxmlformats.org/drawingml/2006/main">
            <a:r>
              <a:t>漏测原因结合实际测试覆盖人工判断。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批量处理与异常跟进：支持勾选问题或按筛选范围执行。</a:t>
            </a:r>
          </a:p>
          <a:p xmlns:a="http://schemas.openxmlformats.org/drawingml/2006/main">
            <a:r>
              <a:t>通过并发任务处理多条问题，</a:t>
            </a:r>
          </a:p>
          <a:p xmlns:a="http://schemas.openxmlformats.org/drawingml/2006/main">
            <a:r>
              <a:t>查看进度及失败项并跟进重试。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人工核对后保存结果：对照原文检查版本、配置和判断。</a:t>
            </a:r>
          </a:p>
          <a:p xmlns:a="http://schemas.openxmlformats.org/drawingml/2006/main">
            <a:r>
              <a:t>修正后决定是否采纳并保存，</a:t>
            </a:r>
          </a:p>
          <a:p xmlns:a="http://schemas.openxmlformats.org/drawingml/2006/main">
            <a:r>
              <a:t>保留已有人工内容及必要说明。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对策实施：重点筛选与复现材料整理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解决“筛选难、复现材料不完整”：先选择值得投入的问题，再整理开展验证所需的配置与条件。</a:t>
            </a:r>
          </a:p>
          <a:p xmlns:a="http://schemas.openxmlformats.org/drawingml/2006/main">
            <a:r>
              <a:t>系统辅助完成复现前的材料准备，不能代替测试人员部署环境、执行请求或确认根因。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筛选值得验证的候选问题：按时间、版本、类型等缩小范围。</a:t>
            </a:r>
          </a:p>
          <a:p xmlns:a="http://schemas.openxmlformats.org/drawingml/2006/main">
            <a:r>
              <a:t>结合价值与复现条件排序，</a:t>
            </a:r>
          </a:p>
          <a:p xmlns:a="http://schemas.openxmlformats.org/drawingml/2006/main">
            <a:r>
              <a:t>保留完整列表复查重要问题遗漏。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提取模型与环境配置：整理模型名称、量化与并行配置。</a:t>
            </a:r>
          </a:p>
          <a:p xmlns:a="http://schemas.openxmlformats.org/drawingml/2006/main">
            <a:r>
              <a:t>提取 A2/A3/A5 硬件及软件版本，</a:t>
            </a:r>
          </a:p>
          <a:p xmlns:a="http://schemas.openxmlformats.org/drawingml/2006/main">
            <a:r>
              <a:t>没有来源支持的参数标为待确认。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梳理触发条件与错误现象：整理启动命令、请求和执行阶段。</a:t>
            </a:r>
          </a:p>
          <a:p xmlns:a="http://schemas.openxmlformats.org/drawingml/2006/main">
            <a:r>
              <a:t>关注并发、输入长度与异常日志，</a:t>
            </a:r>
          </a:p>
          <a:p xmlns:a="http://schemas.openxmlformats.org/drawingml/2006/main">
            <a:r>
              <a:t>写清预期结果和实际差异。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由测试人员补齐并验证：列出缺失参数和需要追问的信息。</a:t>
            </a:r>
          </a:p>
          <a:p xmlns:a="http://schemas.openxmlformats.org/drawingml/2006/main">
            <a:r>
              <a:t>人员准备环境并执行验证，</a:t>
            </a:r>
          </a:p>
          <a:p xmlns:a="http://schemas.openxmlformats.org/drawingml/2006/main">
            <a:r>
              <a:t>将复现是否成功及结果补回记录。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对策实施：分析记录、评审交接与材料复用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解决“分析经验难复用”：将结论、依据、补测建议和处理进展保留在统一台账，便于接手者继续工作。</a:t>
            </a:r>
          </a:p>
          <a:p xmlns:a="http://schemas.openxmlformats.org/drawingml/2006/main">
            <a:r>
              <a:t>典型问题转化为测试场景时，还需要人员补充实际执行结果，并保留来源问题与验证记录的关联。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统一维护人工分析记录：保存问题识别、结论与补测建议。</a:t>
            </a:r>
          </a:p>
          <a:p xmlns:a="http://schemas.openxmlformats.org/drawingml/2006/main">
            <a:r>
              <a:t>持续补充版本支持和处理进展，</a:t>
            </a:r>
          </a:p>
          <a:p xmlns:a="http://schemas.openxmlformats.org/drawingml/2006/main">
            <a:r>
              <a:t>让后续人员了解当前判断与待办。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按专题组织评审材料：利用筛选结果形成专项清单。</a:t>
            </a:r>
          </a:p>
          <a:p xmlns:a="http://schemas.openxmlformats.org/drawingml/2006/main">
            <a:r>
              <a:t>导出后结合原文与已有结论评审，</a:t>
            </a:r>
          </a:p>
          <a:p xmlns:a="http://schemas.openxmlformats.org/drawingml/2006/main">
            <a:r>
              <a:t>保留判断依据与尚未解决的信息缺口。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减少交接中的重复工作：接手者先查看已有分析和验证情况。</a:t>
            </a:r>
          </a:p>
          <a:p xmlns:a="http://schemas.openxmlformats.org/drawingml/2006/main">
            <a:r>
              <a:t>在此前记录上补充、修正和跟进，</a:t>
            </a:r>
          </a:p>
          <a:p xmlns:a="http://schemas.openxmlformats.org/drawingml/2006/main">
            <a:r>
              <a:t>减少重新阅读和重复收集材料。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积累可追溯的典型场景：整理配置、触发条件与验证结果。</a:t>
            </a:r>
          </a:p>
          <a:p xmlns:a="http://schemas.openxmlformats.org/drawingml/2006/main">
            <a:r>
              <a:t>转化测试材料时关联来源 Issue，</a:t>
            </a:r>
          </a:p>
          <a:p xmlns:a="http://schemas.openxmlformats.org/drawingml/2006/main">
            <a:r>
              <a:t>通过再次使用判断材料是否有价值。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实施示例：从复杂反馈整理出验证准备材料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以前述 Kimi decode 崩溃反馈为例，说明系统如何辅助整理信息，以及测试人员还需要完成哪些工作。</a:t>
            </a:r>
          </a:p>
          <a:p xmlns:a="http://schemas.openxmlformats.org/drawingml/2006/main">
            <a:r>
              <a:t>本例不代表问题已成功复现，也不代表已确认 CANN 侧根因。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材料类别：已有信息与后续处理方式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报告者提供的环境：Atlas 800I A3、CANN 9.2.0，模型为 Kimi-K3 W4A8，使用 TP16 加 EP。</a:t>
            </a:r>
          </a:p>
          <a:p xmlns:a="http://schemas.openxmlformats.org/drawingml/2006/main">
            <a:r>
              <a:t>将这些配置保留为报告者提供的信息，核对具体软件版本和完整启动参数。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触发场景与错误现象：报告者描述 prefill 正常，decode 阶段出现 keyRope 视图偏移非法错误。</a:t>
            </a:r>
          </a:p>
          <a:p xmlns:a="http://schemas.openxmlformats.org/drawingml/2006/main">
            <a:r>
              <a:t>整理日志、执行模式及对照结果，帮助测试人员确定优先验证的阶段。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仍需补齐的复现条件：核对模型来源、完整启动命令、请求内容、并发和输入长度等材料是否齐全。</a:t>
            </a:r>
          </a:p>
          <a:p xmlns:a="http://schemas.openxmlformats.org/drawingml/2006/main">
            <a:r>
              <a:t>Issue 未提供的参数明确标为待确认，不能让模型自行补造。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测试人员执行的验证：在可用的对应环境中执行请求，记录是否复现、报错位置及环境差异。</a:t>
            </a:r>
          </a:p>
          <a:p xmlns:a="http://schemas.openxmlformats.org/drawingml/2006/main">
            <a:r>
              <a:t>必要时对照 eager、图模式和不同软件环境，并记录每次实际结果。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结论与使用边界：偏移溢出属于待确认假设，需要可靠资料、算子检查或对照实验支持。</a:t>
            </a:r>
          </a:p>
          <a:p xmlns:a="http://schemas.openxmlformats.org/drawingml/2006/main">
            <a:r>
              <a:t>系统提供整理后的验证输入，实际复现、根因确认和用例转化依赖后续工作。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效果确认：逐项目标检查是否取得实际改善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截图可以展示功能与使用过程，但不能单独证明节省了多少人工或提高了多少质量。</a:t>
            </a:r>
          </a:p>
          <a:p xmlns:a="http://schemas.openxmlformats.org/drawingml/2006/main">
            <a:r>
              <a:t>以下列出需要补充的效果证据，当前没有前后对比数据的项目均保留“待确认”。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目标：效果确认方法：当前结论与所需材料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提高跟踪可靠性：同口径核对数量并抽查具体问题。</a:t>
            </a:r>
          </a:p>
          <a:p xmlns:a="http://schemas.openxmlformats.org/drawingml/2006/main">
            <a:r>
              <a:t>检查新增获取、历史更新和人工分析保留情况。：待确认。</a:t>
            </a:r>
          </a:p>
          <a:p xmlns:a="http://schemas.openxmlformats.org/drawingml/2006/main">
            <a:r>
              <a:t>补充核对清单、漏项抽查</a:t>
            </a:r>
          </a:p>
          <a:p xmlns:a="http://schemas.openxmlformats.org/drawingml/2006/main">
            <a:r>
              <a:t>和历史更新检查记录。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减少人工整理投入：比较单条 Issue 分析平均人工耗时。</a:t>
            </a:r>
          </a:p>
          <a:p xmlns:a="http://schemas.openxmlformats.org/drawingml/2006/main">
            <a:r>
              <a:t>按 SIPOC 页口径计入审核、返工与人工接续。：待确认。</a:t>
            </a:r>
          </a:p>
          <a:p xmlns:a="http://schemas.openxmlformats.org/drawingml/2006/main">
            <a:r>
              <a:t>补充纯人工基线与辅助流程工时，</a:t>
            </a:r>
          </a:p>
          <a:p xmlns:a="http://schemas.openxmlformats.org/drawingml/2006/main">
            <a:r>
              <a:t>在同一质量标准下比较。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提高重点筛选效率：人工评审候选是否值得投入测试。</a:t>
            </a:r>
          </a:p>
          <a:p xmlns:a="http://schemas.openxmlformats.org/drawingml/2006/main">
            <a:r>
              <a:t>抽查被筛问题中的重要遗漏和评审分歧。：待确认。</a:t>
            </a:r>
          </a:p>
          <a:p xmlns:a="http://schemas.openxmlformats.org/drawingml/2006/main">
            <a:r>
              <a:t>补充候选评审、遗漏复查</a:t>
            </a:r>
          </a:p>
          <a:p xmlns:a="http://schemas.openxmlformats.org/drawingml/2006/main">
            <a:r>
              <a:t>和筛选准备耗时记录。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提高复现材料</a:t>
            </a:r>
          </a:p>
          <a:p xmlns:a="http://schemas.openxmlformats.org/drawingml/2006/main">
            <a:r>
              <a:t>完整性：检查模型配置、环境、触发条件和缺失信息。</a:t>
            </a:r>
          </a:p>
          <a:p xmlns:a="http://schemas.openxmlformats.org/drawingml/2006/main">
            <a:r>
              <a:t>由测试人员反馈材料是否支持开展验证。：待确认。</a:t>
            </a:r>
          </a:p>
          <a:p xmlns:a="http://schemas.openxmlformats.org/drawingml/2006/main">
            <a:r>
              <a:t>补充参数完整性检查，</a:t>
            </a:r>
          </a:p>
          <a:p xmlns:a="http://schemas.openxmlformats.org/drawingml/2006/main">
            <a:r>
              <a:t>记录补采情况及实际执行反馈。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提高材料复用能力：检查分析能否接续、交接是否减少重复工作。</a:t>
            </a:r>
          </a:p>
          <a:p xmlns:a="http://schemas.openxmlformats.org/drawingml/2006/main">
            <a:r>
              <a:t>跟踪典型材料在其他问题或测试中的实际使用。：待确认。</a:t>
            </a:r>
          </a:p>
          <a:p xmlns:a="http://schemas.openxmlformats.org/drawingml/2006/main">
            <a:r>
              <a:t>补充交接使用、重复工作变化</a:t>
            </a:r>
          </a:p>
          <a:p xmlns:a="http://schemas.openxmlformats.org/drawingml/2006/main">
            <a:r>
              <a:t>和材料复用关联记录。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效果确认：建立可重复的基线与对照评价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采用一致的样本范围和评价口径，避免只展示容易处理的问题或只统计模型输出。</a:t>
            </a:r>
          </a:p>
          <a:p xmlns:a="http://schemas.openxmlformats.org/drawingml/2006/main">
            <a:r>
              <a:t>具体比例阈值在第一轮基线后评审确定，后续用新样本验证规则调整是否有效。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评价环节：具体实施方式：需要保留的证据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选取代表性样本：覆盖缺陷、文档、咨询及不同信息完整度。</a:t>
            </a:r>
          </a:p>
          <a:p xmlns:a="http://schemas.openxmlformats.org/drawingml/2006/main">
            <a:r>
              <a:t>统一仓库、时间范围和样本复杂度，</a:t>
            </a:r>
          </a:p>
          <a:p xmlns:a="http://schemas.openxmlformats.org/drawingml/2006/main">
            <a:r>
              <a:t>避免只选择短正文或容易判断的问题。：样本清单、数量和选取规则。</a:t>
            </a:r>
          </a:p>
          <a:p xmlns:a="http://schemas.openxmlformats.org/drawingml/2006/main">
            <a:r>
              <a:t>参与人员与执行时间。</a:t>
            </a:r>
          </a:p>
          <a:p xmlns:a="http://schemas.openxmlformats.org/drawingml/2006/main">
            <a:r>
              <a:t>问题类型和材料复杂度说明。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记录纯人工基线：按原有方式完成查找、阅读与资料整理。</a:t>
            </a:r>
          </a:p>
          <a:p xmlns:a="http://schemas.openxmlformats.org/drawingml/2006/main">
            <a:r>
              <a:t>分别记录各环节耗时及缺失参数，</a:t>
            </a:r>
          </a:p>
          <a:p xmlns:a="http://schemas.openxmlformats.org/drawingml/2006/main">
            <a:r>
              <a:t>检查原有交接是否需要重复收集信息。：分环节工时。</a:t>
            </a:r>
          </a:p>
          <a:p xmlns:a="http://schemas.openxmlformats.org/drawingml/2006/main">
            <a:r>
              <a:t>配置与触发条件检查结果。</a:t>
            </a:r>
          </a:p>
          <a:p xmlns:a="http://schemas.openxmlformats.org/drawingml/2006/main">
            <a:r>
              <a:t>原有交接过程和重复工作记录。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执行辅助流程并审核：通过台账、筛选与 AI 建议辅助处理。</a:t>
            </a:r>
          </a:p>
          <a:p xmlns:a="http://schemas.openxmlformats.org/drawingml/2006/main">
            <a:r>
              <a:t>人员核对、修正并补齐材料，</a:t>
            </a:r>
          </a:p>
          <a:p xmlns:a="http://schemas.openxmlformats.org/drawingml/2006/main">
            <a:r>
              <a:t>同时抽查候选和筛选之外的重要问题。：人工总耗时与审核修正情况。</a:t>
            </a:r>
          </a:p>
          <a:p xmlns:a="http://schemas.openxmlformats.org/drawingml/2006/main">
            <a:r>
              <a:t>候选有效性和重要遗漏。</a:t>
            </a:r>
          </a:p>
          <a:p xmlns:a="http://schemas.openxmlformats.org/drawingml/2006/main">
            <a:r>
              <a:t>失败重试、补采和实际使用反馈。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判断达成情况并复评：按各项目标比较基线与对照结果。</a:t>
            </a:r>
          </a:p>
          <a:p xmlns:a="http://schemas.openxmlformats.org/drawingml/2006/main">
            <a:r>
              <a:t>未改善时回看材料、规则或使用方式，</a:t>
            </a:r>
          </a:p>
          <a:p xmlns:a="http://schemas.openxmlformats.org/drawingml/2006/main">
            <a:r>
              <a:t>调整后用另一批样本再次评价。：目标达成结论及其依据。</a:t>
            </a:r>
          </a:p>
          <a:p xmlns:a="http://schemas.openxmlformats.org/drawingml/2006/main">
            <a:r>
              <a:t>尚未解决的问题与改进措施。</a:t>
            </a:r>
          </a:p>
          <a:p xmlns:a="http://schemas.openxmlformats.org/drawingml/2006/main">
            <a:r>
              <a:t>新一轮样本的复评结果。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总结：项目价值与后续优化重点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issue-tracker 将社区问题获取、筛选、分析和材料保存集中到同一工作入口，支持测试人员持续开展分析。</a:t>
            </a:r>
          </a:p>
          <a:p xmlns:a="http://schemas.openxmlformats.org/drawingml/2006/main">
            <a:r>
              <a:t>项目价值需要结合实际使用、人工投入变化和测试验证贡献持续确认。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统一台账提供基础价值：持续跟进新增与历史更新，保留本地人工分析，减少跨页面查找、重复核对和交接中的资料分散。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辅助降低重复整理工作：帮助人员阅读、归纳和提取材料，支持批量处理。人员负责证据核对和结论把关，持续评估审核后的实际收益。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筛选与材料整理支撑测试准备：形成重点候选，整理模型、环境与触发条件，明确缺失信息。实际复现和根因确认仍需人员与实验环境完成。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后续优化以证据为依据：补充完整性核对、人工工时、候选有效性和材料复用记录。根据错误与返工情况优化提示词、筛选规则和分析流程。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48eecf7e33404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565ef957814d8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b0a398feca42d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bdacc499b74c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0b4c4c8cb04c8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659f42a16840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787BE1-127E-4160-AFDA-21A0ACB250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1B68BDA-F8C6-4AD1-AA3B-0BB490A4E1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EB2ABB-D5BA-4F53-992C-B20FA7CE41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C7121D-C305-4E2A-BC94-CADA64807E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C9E6A16-2D90-49F3-B3C2-ACF8D34E56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80EAB0-C13F-4D4C-88CB-CD1612E4CD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807F3E-51DA-40FF-B377-A0FE2028F4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E369D3-A98A-4A77-AC5F-7F2F70E2A77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C04562-169F-4440-B3E4-7F4AC1E38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E7511E-08DC-424C-B022-1A6D3714AB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f94b4de3434615" /><Relationship Type="http://schemas.openxmlformats.org/officeDocument/2006/relationships/slideLayout" Target="/ppt/slideLayouts/slideLayout1.xml" Id="R64461834d77b49f6" /><Relationship Type="http://schemas.openxmlformats.org/officeDocument/2006/relationships/slideLayout" Target="/ppt/slideLayouts/slideLayout2.xml" Id="Rc7686f2e73c44bc7" /><Relationship Type="http://schemas.openxmlformats.org/officeDocument/2006/relationships/slideLayout" Target="/ppt/slideLayouts/slideLayout3.xml" Id="R7903e84634e04b2c" /><Relationship Type="http://schemas.openxmlformats.org/officeDocument/2006/relationships/slideLayout" Target="/ppt/slideLayouts/slideLayout4.xml" Id="R3f9d47fd4f964c0e" /><Relationship Type="http://schemas.openxmlformats.org/officeDocument/2006/relationships/slideLayout" Target="/ppt/slideLayouts/slideLayout5.xml" Id="R9b3552ddedbe41ea" /><Relationship Type="http://schemas.openxmlformats.org/officeDocument/2006/relationships/slideLayout" Target="/ppt/slideLayouts/slideLayout6.xml" Id="Rab4b763d53934d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461834d77b49f6"/>
    <p:sldLayoutId xmlns:r="http://schemas.openxmlformats.org/officeDocument/2006/relationships" id="2147483650" r:id="Rc7686f2e73c44bc7"/>
    <p:sldLayoutId xmlns:r="http://schemas.openxmlformats.org/officeDocument/2006/relationships" id="2147483651" r:id="R7903e84634e04b2c"/>
    <p:sldLayoutId xmlns:r="http://schemas.openxmlformats.org/officeDocument/2006/relationships" id="2147483652" r:id="R3f9d47fd4f964c0e"/>
    <p:sldLayoutId xmlns:r="http://schemas.openxmlformats.org/officeDocument/2006/relationships" id="2147483653" r:id="R9b3552ddedbe41ea"/>
    <p:sldLayoutId xmlns:r="http://schemas.openxmlformats.org/officeDocument/2006/relationships" id="2147483654" r:id="Rab4b763d53934d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6cd81045f149a2" /><Relationship Type="http://schemas.openxmlformats.org/officeDocument/2006/relationships/notesSlide" Target="/ppt/notesSlides/notesSlide1.xml" Id="Rbcae233ff68846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bdefe73a17483f" /><Relationship Type="http://schemas.openxmlformats.org/officeDocument/2006/relationships/notesSlide" Target="/ppt/notesSlides/notesSlide2.xml" Id="Rbf886997198948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126b63e9d3432b" /><Relationship Type="http://schemas.openxmlformats.org/officeDocument/2006/relationships/notesSlide" Target="/ppt/notesSlides/notesSlide3.xml" Id="Rcd37dc1880e242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dc162144c041a2" /><Relationship Type="http://schemas.openxmlformats.org/officeDocument/2006/relationships/image" Target="/ppt/media/image.png" Id="R2eb2f5ac74024396" /><Relationship Type="http://schemas.openxmlformats.org/officeDocument/2006/relationships/image" Target="/ppt/media/image.svg" Id="R93b31a00734f4c55" /><Relationship Type="http://schemas.openxmlformats.org/officeDocument/2006/relationships/notesSlide" Target="/ppt/notesSlides/notesSlide4.xml" Id="R78ff6f06ad5444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6716af28324acb" /><Relationship Type="http://schemas.openxmlformats.org/officeDocument/2006/relationships/notesSlide" Target="/ppt/notesSlides/notesSlide5.xml" Id="R6e54a79f9f7048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0afa25fe07495c" /><Relationship Type="http://schemas.openxmlformats.org/officeDocument/2006/relationships/notesSlide" Target="/ppt/notesSlides/notesSlide6.xml" Id="R2932ef5a39054f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881c5782574955" /><Relationship Type="http://schemas.openxmlformats.org/officeDocument/2006/relationships/notesSlide" Target="/ppt/notesSlides/notesSlide7.xml" Id="Rd5881cb1d34346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cabd87016844d2" /><Relationship Type="http://schemas.openxmlformats.org/officeDocument/2006/relationships/notesSlide" Target="/ppt/notesSlides/notesSlide8.xml" Id="Rabc59d098fa54a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8cbd0a5baf410e" /><Relationship Type="http://schemas.openxmlformats.org/officeDocument/2006/relationships/notesSlide" Target="/ppt/notesSlides/notesSlide9.xml" Id="R79a4de49c54746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fbcf1d734947f7" /><Relationship Type="http://schemas.openxmlformats.org/officeDocument/2006/relationships/notesSlide" Target="/ppt/notesSlides/notesSlide10.xml" Id="Rbf1d0f925d1344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33190de46b4792" /><Relationship Type="http://schemas.openxmlformats.org/officeDocument/2006/relationships/notesSlide" Target="/ppt/notesSlides/notesSlide11.xml" Id="R4cc3a50a819b4e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f8239b50214572" /><Relationship Type="http://schemas.openxmlformats.org/officeDocument/2006/relationships/notesSlide" Target="/ppt/notesSlides/notesSlide12.xml" Id="R1fa76e8ae1f44d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c3f0c52be14140" /><Relationship Type="http://schemas.openxmlformats.org/officeDocument/2006/relationships/notesSlide" Target="/ppt/notesSlides/notesSlide13.xml" Id="R18b1a678d57e44c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552a92a75d44a5" /><Relationship Type="http://schemas.openxmlformats.org/officeDocument/2006/relationships/notesSlide" Target="/ppt/notesSlides/notesSlide14.xml" Id="R460f3e7916af430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50293bc0734c0b" /><Relationship Type="http://schemas.openxmlformats.org/officeDocument/2006/relationships/notesSlide" Target="/ppt/notesSlides/notesSlide15.xml" Id="R2e7acac9b371411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7094b80ab947a2" /><Relationship Type="http://schemas.openxmlformats.org/officeDocument/2006/relationships/notesSlide" Target="/ppt/notesSlides/notesSlide16.xml" Id="R5589a72c4ca942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D7973E-B679-4079-A772-126CDE2C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issue-tracker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D378397A-E729-4E54-98B6-19144FA2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社区问题管理与测试分析</a:t>
            </a:r>
          </a:p>
        </p:txBody>
      </p:sp>
      <p:sp>
        <p:nvSpPr>
          <p:cNvPr id="4" name="cover-subject">
            <a:extLst xmlns:a="http://schemas.openxmlformats.org/drawingml/2006/main">
              <a:ext uri="{FF2B5EF4-FFF2-40B4-BE49-F238E27FC236}">
                <a16:creationId xmlns:a16="http://schemas.microsoft.com/office/drawing/2014/main" id="{5A6679F6-6800-477E-8968-85DCA329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6125"/>
            <a:ext cx="1590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项目改进汇报</a:t>
            </a:r>
          </a:p>
        </p:txBody>
      </p:sp>
      <p:sp>
        <p:nvSpPr>
          <p:cNvPr id="5" name="cover-body">
            <a:extLst xmlns:a="http://schemas.openxmlformats.org/drawingml/2006/main">
              <a:ext uri="{FF2B5EF4-FFF2-40B4-BE49-F238E27FC236}">
                <a16:creationId xmlns:a16="http://schemas.microsoft.com/office/drawing/2014/main" id="{24B3110A-99D4-4319-9755-51EA9EE9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86375"/>
            <a:ext cx="15525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现状调查、根因分析、目标设定</a:t>
            </a:r>
          </a:p>
          <a:p xmlns:a="http://schemas.openxmlformats.org/drawingml/2006/main">
            <a: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对策实施与效果确认</a:t>
            </a:r>
          </a:p>
        </p:txBody>
      </p:sp>
      <p:sp>
        <p:nvSpPr>
          <p:cNvPr id="6" name="cover-date">
            <a:extLst xmlns:a="http://schemas.openxmlformats.org/drawingml/2006/main">
              <a:ext uri="{FF2B5EF4-FFF2-40B4-BE49-F238E27FC236}">
                <a16:creationId xmlns:a16="http://schemas.microsoft.com/office/drawing/2014/main" id="{B8A56BE5-08A9-43E6-A0E9-ED30A1F6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096250"/>
            <a:ext cx="1428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2026 年 10 月</a:t>
            </a:r>
          </a:p>
        </p:txBody>
      </p:sp>
    </p:spTree>
    <p:extLst>
      <p:ext uri="{BB962C8B-B14F-4D97-AF65-F5344CB8AC3E}">
        <p14:creationId xmlns:p14="http://schemas.microsoft.com/office/powerpoint/2010/main" val="1404070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6BDFAB-AE56-4C26-B2A5-E713041D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现状调查：社区 Issue 管理的五项痛点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1EF01672-C1A5-4264-91A7-5AC0280C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社区反馈持续增加，正文、评论和处理进展分散。测试人员需要先收集、阅读和判断，再准备验证材料。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以下痛点来自项目需求与使用反馈，具体耗时和遗漏比例仍需建立统计基线。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9F3EE-99FE-4C03-8409-BEE77A906D84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10500"/>
                <a:gridCol w="53340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痛点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具体表现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对测试工作的影响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持续跟踪困难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新增问题、历史更新和维护者回复需要反复查看。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正文、评论与状态变化缺少统一的跟踪入口。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容易重复查找与核对。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重要更新可能未能及时跟进。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人工整理投入大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逐条阅读长正文、多轮评论和错误日志。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重复提取问题现象、环境配置与处理进展。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资料准备占用分析精力。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集中梳理大量问题时耗时明显。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重点问题筛选难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缺陷、文档、咨询和 RFC 混杂在完整列表中。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价值、版本适用性和复现条件需要分别判断。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测试资源难以确定投入顺序。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重要缺陷可能被低相关反馈淹没。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复现材料不完整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模型、量化、并行方式与软硬件版本组合复杂。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启动参数、触发请求或复现步骤可能缺失。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需要重新翻阅正文与评论补齐参数。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难以判断是否具备开展验证的条件。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分析经验难复用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分析结论、补测建议与处理进展分散保存。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交接时缺少可直接接续的材料和判断依据。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接手者重复阅读与分析。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典型问题难以积累为后续测试输入。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55595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0D7B20-4318-4426-8CAF-88975966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SIPOC：流程范围与关键指标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5408B8D0-689C-4DD6-B374-4319727E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使用方需要有依据、可接续的分析记录，项目通过统一台账、筛选和辅助整理减少形成这些材料的人工投入。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据此提出主指标“单条 Issue 分析平均人工耗时”，在输出质量满足要求的前提下比较改进前后变化。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DE885-7290-4BA7-B5D7-7F678947524B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333750"/>
                <a:gridCol w="3429000"/>
                <a:gridCol w="3524250"/>
                <a:gridCol w="295275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 供应方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 输入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 处理过程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 输出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使用方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2619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Issue 提交者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社区维护者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参与讨论的用户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提供问题与后续反馈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正文、评论与日志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标签、状态与版本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模型、环境配置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已有人工分析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保留来源与信息缺口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同步获取与集中查看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筛选并确定分析范围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人工或 AI 辅助归纳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人员审核、修正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保存记录与专题导出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经审核的分析记录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问题判断与依据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关键配置与信息缺口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后续验证或跟进建议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为复现提供准备材料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测试人员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开发与问题负责人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评审和交接人员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据此判断下一步工作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主指标名称">
            <a:extLst xmlns:a="http://schemas.openxmlformats.org/drawingml/2006/main">
              <a:ext uri="{FF2B5EF4-FFF2-40B4-BE49-F238E27FC236}">
                <a16:creationId xmlns:a16="http://schemas.microsoft.com/office/drawing/2014/main" id="{887309E3-831A-4381-A165-4B02065E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34125"/>
            <a:ext cx="1609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关键指标：单条 Issue 分析平均人工耗时（分钟／条）</a:t>
            </a:r>
          </a:p>
        </p:txBody>
      </p:sp>
      <p:sp>
        <p:nvSpPr>
          <p:cNvPr id="6" name="主指标公式">
            <a:extLst xmlns:a="http://schemas.openxmlformats.org/drawingml/2006/main">
              <a:ext uri="{FF2B5EF4-FFF2-40B4-BE49-F238E27FC236}">
                <a16:creationId xmlns:a16="http://schemas.microsoft.com/office/drawing/2014/main" id="{971E105D-7A60-4881-843C-AEB5B843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019925"/>
            <a:ext cx="1609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计算公式：样本全部参与人员的分析总工时（分钟） ÷ 样本 Issue 数量</a:t>
            </a:r>
          </a:p>
        </p:txBody>
      </p:sp>
      <p:sp>
        <p:nvSpPr>
          <p:cNvPr id="7" name="指标计量边界">
            <a:extLst xmlns:a="http://schemas.openxmlformats.org/drawingml/2006/main">
              <a:ext uri="{FF2B5EF4-FFF2-40B4-BE49-F238E27FC236}">
                <a16:creationId xmlns:a16="http://schemas.microsoft.com/office/drawing/2014/main" id="{75A531B2-9E76-4C4E-A4E2-A7348CDA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715250"/>
            <a:ext cx="1609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统计口径：从收集信息到审核保存分析记录，累计查找、阅读、提取、审核、修正及返工的人工时间。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固定样本清单，逐条完成记录；AI 失败后的人工接续照计，不只统计成功项，无人值守等待不计人工工时。</a:t>
            </a:r>
          </a:p>
        </p:txBody>
      </p:sp>
      <p:sp>
        <p:nvSpPr>
          <p:cNvPr id="8" name="指标对照和质量要求">
            <a:extLst xmlns:a="http://schemas.openxmlformats.org/drawingml/2006/main">
              <a:ext uri="{FF2B5EF4-FFF2-40B4-BE49-F238E27FC236}">
                <a16:creationId xmlns:a16="http://schemas.microsoft.com/office/drawing/2014/main" id="{D82B49C5-AF59-4C62-8B94-134B9E3C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1609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对照要求：使用相近类型与复杂度的样本，统一完成标准，比较纯人工与辅助流程。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质量前提：结论可追溯、信息缺口明确、材料经使用方审核。当前基线待采集，目标值在首轮统计后确定。</a:t>
            </a:r>
          </a:p>
        </p:txBody>
      </p:sp>
    </p:spTree>
    <p:extLst>
      <p:ext uri="{BB962C8B-B14F-4D97-AF65-F5344CB8AC3E}">
        <p14:creationId xmlns:p14="http://schemas.microsoft.com/office/powerpoint/2010/main" val="5282734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98B2E3-62ED-474B-AE1C-89105F5F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根因分析：社区反馈转化为测试输入的障碍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E78FB4E2-8C0A-4D8F-9315-B05BC259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从信息获取、分析方法、环境配置、人员协作、工作流程和知识沉淀六个方面展开原因。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鱼骨图列出可能因素，后续需要用流程走查、样本检查和对照验证确认主要原因。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A8D08-9F8F-44D3-BAFD-A77A9EBAAC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2f5ac74024396">
            <a:extLst>
              <a:ext uri="{96DAC541-7B7A-43D3-8B79-37D633B846F1}">
                <asvg:svgBlip xmlns:asvg="http://schemas.microsoft.com/office/drawing/2016/SVG/main" r:embed="R93b31a00734f4c55"/>
              </a:ext>
            </a:extLst>
          </a:blip>
          <a:srcRect xmlns:a="http://schemas.openxmlformats.org/drawingml/2006/main" l="0" t="17000" r="0" b="10000"/>
          <a:stretch xmlns:a="http://schemas.openxmlformats.org/drawingml/2006/main"/>
        </p:blipFill>
        <p:spPr>
          <a:xfrm xmlns:a="http://schemas.openxmlformats.org/drawingml/2006/main">
            <a:off x="476250" y="2714625"/>
            <a:ext cx="17335500" cy="6762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6931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F1A0BB-73BA-4C45-ADD3-3C4AF467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目标设定：明确希望改善什么、如何验收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7D19CC24-5F95-484B-A608-9C06E027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整体目标是持续跟踪社区问题，减少重复整理，帮助人员选择重点验证对象，并积累可继续使用的分析材料。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目标描述的是希望取得的改进，是否达成需要结合实际使用数据和测试人员反馈判断。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EE213-4DD3-4B98-88D2-71D5F5269E1C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334250"/>
                <a:gridCol w="581025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具体含义与项目解决方式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验收依据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提高跟踪可靠性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集中维护问题列表，持续同步新增和历史更新。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统一仓库、时间和状态口径，支持全量核对。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社区字段更新时保留本地人工分析。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同口径核对问题数量并抽查具体条目。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检查历史更新是否跟进。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确认人工结论未被同步覆盖。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减少人工整理投入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集中展示原文与评论，减少跨页面查找。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辅助归纳摘要与补测建议，支持批量处理。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人员核对和修正后使用结果。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对比单条 Issue 分析平均人工耗时。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包括查找、阅读、审核与修正。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质量标准一致，计入错误与返工。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提高重点筛选效率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按时间、状态、标签和版本收敛范围。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结合价值与复现条件形成优先处理候选。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保留完整列表，人工复查重要遗漏。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人工评审候选是否值得投入测试。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抽查筛选结果之外的重要问题。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观察筛选准备时间与判断分歧。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提高复现材料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辅助提取模型配置、硬件环境和软件版本。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整理触发条件、预期结果和已知错误现象。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明确缺失信息，实际复现仍由测试人员执行。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检查关键参数与待确认项是否清楚。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由测试人员评估材料能否用于验证。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不能将材料生成等同于复现成功。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提高分析材料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复用能力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将人工结论、补测建议和进展保存在台账。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支持按专题整理与导出，便于评审交接。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关联来源问题，积累典型测试场景。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检查接手者能否继续分析而非重做。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记录材料在同类问题中的实际使用。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跟踪与测试验证记录的关联。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15391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C118FE-E338-4718-A20D-96449B6A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根因确认：初步因果关联矩阵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DAC8EB81-2282-4B1D-A5CD-675B70A9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强、中、弱表示现有材料下的关联假设，用于选择优先核验的原因。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此矩阵没有使用实测权重，不能直接作为根因已确认或改进效果已达成的证明。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769F0-C54C-4B93-A856-4BA26F02BAFB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810250"/>
                <a:gridCol w="2095500"/>
                <a:gridCol w="2095500"/>
                <a:gridCol w="2095500"/>
                <a:gridCol w="2095500"/>
                <a:gridCol w="20955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原因候选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持续跟踪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人工投入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重点筛选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复现材料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经验复用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缺少持续同步与统一入口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BF0F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正文评论归纳依赖人工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BF0F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缺少统一评价筛选口径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BF0F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缺少结构化复现材料模板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BF0F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分析结论分散存放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BF0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72393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01C695-7AD0-42EF-95A7-2C713738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根因确认：主因候选及其验证办法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D79CB00E-CFE1-4F37-BF0E-10ED02BE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将原因归并为三组主因候选，分别检查它们如何造成重复工作、材料缺失或筛选分歧。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确认主因需要过程记录及针对性调整后的证据，目前保留为待验证假设。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26734-626E-49E8-858C-0E2DF9F86F33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6477000"/>
                <a:gridCol w="64770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主因候选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影响机制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验证办法与需要保留的证据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203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统一载体不足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问题获取、状态跟踪和分析结论缺少统一入口。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人员在不同页面或材料间切换，重复收集信息。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交接时难以查找此前结论及其依据。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走查一次专项分析和交接的完整过程。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记录查找入口、重复收集步骤和结论查找时间。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比较采用统一台账前后的工作方式与遗漏情况。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3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人工归纳与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配置提取依赖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长正文和多轮评论需要人工逐条整理。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缺少固定的复现材料检查项，关键参数容易遗漏。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同类问题仍需重复阅读、摘录与补采。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选取相近复杂度、信息完整度不同的样本。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记录阅读、提取、审核和修正的分环节耗时。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检查环境配置、触发条件及缺失项是否完整。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3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评价筛选口径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不统一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对价值、版本适用性和复现难度缺少共同标准。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不同人员可能给出不同的优先级和测试建议。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重要但信息不足的问题容易过早排除。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多人独立评审同一批问题并记录分歧。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比较候选有效性，抽查筛选之外的重要问题。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统一评价口径后，在另一批样本上复评。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6889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7BAD15-82FA-4AE0-ADFC-333A0C3D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拟定对策：针对每项痛点设计解决方案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B29E89B4-FBAF-4AB9-88DB-BD7392D7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各项对策共同服务于项目整体目标。AI 主要用于辅助整理，统一台账、筛选和人工记录也能独立提供价值。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方案是否有效，需要同时考虑人员投入、分析质量及后续测试使用情况。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82A62-1645-4EE5-B8F0-F08E8350686A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10500"/>
                <a:gridCol w="53340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针对的痛点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解决方案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预期形成的工作材料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持续跟踪困难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全量同步与增量更新结合，提供手动校准入口。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统一仓库、时间和状态口径，集中查看问题。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分别维护社区信息与本地人工分析。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持续更新的问题台账。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可核对的专项清单。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历史更新与人工分析记录。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人工整理投入大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集中提供正文、评论和已有分析作为上下文。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辅助归纳，支持选中问题和筛选范围批量处理。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人员审核、修正并决定是否采纳建议。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待审核的结构化建议。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批量任务进度与失败项。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人工审核后的分析结果。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重点问题筛选难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按日期、状态、标签和版本缩小分析范围。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结合价值与复现条件形成候选排序。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过滤文档、RFC 等类型时保留完整列表供复查。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重点验证候选及筛选依据。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人工补充的价值判断。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重要遗漏的复查记录。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复现材料不完整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按模型、配置、环境和触发场景整理补测材料。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明确哪些参数来自原文，哪些信息尚未提供。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测试人员补齐条件后执行验证并记录结果。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模型与软硬件配置清单。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复现场景及缺失参数。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后续验证动作与结果记录。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分析经验难复用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集中保存分析结论、补测建议与处理进展。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支持按专题整理、导出和交接。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在测试材料中保留来源 Issue 及判断依据。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可接续的分析台账。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专题评审与交接材料。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典型场景及其来源记录。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30232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D405E7-19D4-4FAA-8851-B473033D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对策实施：持续同步与统一台账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9A8737DD-784D-41F6-88C2-4891C921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解决“持续跟踪困难”：把分散的问题信息收敛到统一入口，支持持续更新、专项筛选和完整性核对。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统计时需要统一仓库、时间、状态以及是否包含 PR，避免把统计口径差异误判为数据遗漏。</a:t>
            </a:r>
          </a:p>
        </p:txBody>
      </p:sp>
      <p:sp>
        <p:nvSpPr>
          <p:cNvPr id="4" name="实施小标题-0">
            <a:extLst xmlns:a="http://schemas.openxmlformats.org/drawingml/2006/main">
              <a:ext uri="{FF2B5EF4-FFF2-40B4-BE49-F238E27FC236}">
                <a16:creationId xmlns:a16="http://schemas.microsoft.com/office/drawing/2014/main" id="{553BF08A-D472-4D1B-9CE2-FF685945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明确同步与核对范围</a:t>
            </a:r>
          </a:p>
        </p:txBody>
      </p:sp>
      <p:sp>
        <p:nvSpPr>
          <p:cNvPr id="5" name="实施说明-0">
            <a:extLst xmlns:a="http://schemas.openxmlformats.org/drawingml/2006/main">
              <a:ext uri="{FF2B5EF4-FFF2-40B4-BE49-F238E27FC236}">
                <a16:creationId xmlns:a16="http://schemas.microsoft.com/office/drawing/2014/main" id="{F1F5281D-D342-4C83-946A-87E90A46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统一仓库、日期和状态条件。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对照同一口径的问题数量与具体条目，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同时检查新增问题和历史更新。</a:t>
            </a:r>
          </a:p>
        </p:txBody>
      </p:sp>
      <p:sp>
        <p:nvSpPr>
          <p:cNvPr id="6" name="实施小标题-1">
            <a:extLst xmlns:a="http://schemas.openxmlformats.org/drawingml/2006/main">
              <a:ext uri="{FF2B5EF4-FFF2-40B4-BE49-F238E27FC236}">
                <a16:creationId xmlns:a16="http://schemas.microsoft.com/office/drawing/2014/main" id="{F812297D-2C2A-4211-9C31-5A9D06C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持续维护问题台账</a:t>
            </a:r>
          </a:p>
        </p:txBody>
      </p:sp>
      <p:sp>
        <p:nvSpPr>
          <p:cNvPr id="7" name="实施说明-1">
            <a:extLst xmlns:a="http://schemas.openxmlformats.org/drawingml/2006/main">
              <a:ext uri="{FF2B5EF4-FFF2-40B4-BE49-F238E27FC236}">
                <a16:creationId xmlns:a16="http://schemas.microsoft.com/office/drawing/2014/main" id="{FF9D4322-B675-402B-8D19-5895A566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全量获取用于建立和校准台账，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增量同步用于日常跟进。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同步完成后仍需关注异常与漏项。</a:t>
            </a:r>
          </a:p>
        </p:txBody>
      </p:sp>
      <p:sp>
        <p:nvSpPr>
          <p:cNvPr id="8" name="实施小标题-2">
            <a:extLst xmlns:a="http://schemas.openxmlformats.org/drawingml/2006/main">
              <a:ext uri="{FF2B5EF4-FFF2-40B4-BE49-F238E27FC236}">
                <a16:creationId xmlns:a16="http://schemas.microsoft.com/office/drawing/2014/main" id="{D600DF0D-E93B-46F8-A90D-394E7FF1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341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保护本地人工分析</a:t>
            </a:r>
          </a:p>
        </p:txBody>
      </p:sp>
      <p:sp>
        <p:nvSpPr>
          <p:cNvPr id="9" name="实施说明-2">
            <a:extLst xmlns:a="http://schemas.openxmlformats.org/drawingml/2006/main">
              <a:ext uri="{FF2B5EF4-FFF2-40B4-BE49-F238E27FC236}">
                <a16:creationId xmlns:a16="http://schemas.microsoft.com/office/drawing/2014/main" id="{15D1F921-8EFD-4D5C-A006-3B946F37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484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社区字段与人工结论分开维护。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更新标题、正文和状态时，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保留已有分析、备注与补测建议。</a:t>
            </a:r>
          </a:p>
        </p:txBody>
      </p:sp>
      <p:sp>
        <p:nvSpPr>
          <p:cNvPr id="10" name="实施小标题-3">
            <a:extLst xmlns:a="http://schemas.openxmlformats.org/drawingml/2006/main">
              <a:ext uri="{FF2B5EF4-FFF2-40B4-BE49-F238E27FC236}">
                <a16:creationId xmlns:a16="http://schemas.microsoft.com/office/drawing/2014/main" id="{ADEC1EC9-9376-4116-921A-CCE239D0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2002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形成可检查的专项清单</a:t>
            </a:r>
          </a:p>
        </p:txBody>
      </p:sp>
      <p:sp>
        <p:nvSpPr>
          <p:cNvPr id="11" name="实施说明-3">
            <a:extLst xmlns:a="http://schemas.openxmlformats.org/drawingml/2006/main">
              <a:ext uri="{FF2B5EF4-FFF2-40B4-BE49-F238E27FC236}">
                <a16:creationId xmlns:a16="http://schemas.microsoft.com/office/drawing/2014/main" id="{DD3147EF-4B72-46F4-8CBE-72381255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3437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按时间、状态、标签等收敛范围。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通过清单逐项核对更新与遗漏，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减少反复打开社区页面查找。</a:t>
            </a:r>
          </a:p>
        </p:txBody>
      </p:sp>
      <p:sp>
        <p:nvSpPr>
          <p:cNvPr id="12" name="截图主题">
            <a:extLst xmlns:a="http://schemas.openxmlformats.org/drawingml/2006/main">
              <a:ext uri="{FF2B5EF4-FFF2-40B4-BE49-F238E27FC236}">
                <a16:creationId xmlns:a16="http://schemas.microsoft.com/office/drawing/2014/main" id="{C8C27BB9-9A0A-43F8-8188-1A96CCE1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实际界面：问题列表与同步状态</a:t>
            </a:r>
          </a:p>
        </p:txBody>
      </p:sp>
      <p:sp>
        <p:nvSpPr>
          <p:cNvPr id="13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1AB9D454-E253-4E0A-B38E-E2B17AE0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4" name="截图提示">
            <a:extLst xmlns:a="http://schemas.openxmlformats.org/drawingml/2006/main">
              <a:ext uri="{FF2B5EF4-FFF2-40B4-BE49-F238E27FC236}">
                <a16:creationId xmlns:a16="http://schemas.microsoft.com/office/drawing/2014/main" id="{C4557238-6DD5-49DE-B632-3F251505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5" name="截图建议">
            <a:extLst xmlns:a="http://schemas.openxmlformats.org/drawingml/2006/main">
              <a:ext uri="{FF2B5EF4-FFF2-40B4-BE49-F238E27FC236}">
                <a16:creationId xmlns:a16="http://schemas.microsoft.com/office/drawing/2014/main" id="{98456A22-EC2B-4D6A-979F-ACBFE25E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00750"/>
            <a:ext cx="847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建议粘贴问题列表、同步状态</a:t>
            </a:r>
          </a:p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或同口径数量核对截图</a:t>
            </a:r>
          </a:p>
        </p:txBody>
      </p:sp>
    </p:spTree>
    <p:extLst>
      <p:ext uri="{BB962C8B-B14F-4D97-AF65-F5344CB8AC3E}">
        <p14:creationId xmlns:p14="http://schemas.microsoft.com/office/powerpoint/2010/main" val="14251874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C472EA-A27F-4244-A578-FC694292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对策实施：AI 辅助分析与批量任务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6CDA0E55-BE50-42BA-B1A6-11772592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解决“人工整理投入大”：由模型先整理材料，人员再核对证据、修正结论并决定是否采纳。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AI 模块仍需持续评估，效率收益应包含审核、修正和失败重试成本，不能仅看生成建议数量。</a:t>
            </a:r>
          </a:p>
        </p:txBody>
      </p:sp>
      <p:sp>
        <p:nvSpPr>
          <p:cNvPr id="4" name="实施小标题-0">
            <a:extLst xmlns:a="http://schemas.openxmlformats.org/drawingml/2006/main">
              <a:ext uri="{FF2B5EF4-FFF2-40B4-BE49-F238E27FC236}">
                <a16:creationId xmlns:a16="http://schemas.microsoft.com/office/drawing/2014/main" id="{C7718704-29CA-4C15-A15B-CCA4663C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准备可靠的分析上下文</a:t>
            </a:r>
          </a:p>
        </p:txBody>
      </p:sp>
      <p:sp>
        <p:nvSpPr>
          <p:cNvPr id="5" name="实施说明-0">
            <a:extLst xmlns:a="http://schemas.openxmlformats.org/drawingml/2006/main">
              <a:ext uri="{FF2B5EF4-FFF2-40B4-BE49-F238E27FC236}">
                <a16:creationId xmlns:a16="http://schemas.microsoft.com/office/drawing/2014/main" id="{A0BA6261-472D-43F1-BE40-93553DB6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结合正文、评论和已有分析。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明确材料来源与缺失部分，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避免模型把推测当成已确认事实。</a:t>
            </a:r>
          </a:p>
        </p:txBody>
      </p:sp>
      <p:sp>
        <p:nvSpPr>
          <p:cNvPr id="6" name="实施小标题-1">
            <a:extLst xmlns:a="http://schemas.openxmlformats.org/drawingml/2006/main">
              <a:ext uri="{FF2B5EF4-FFF2-40B4-BE49-F238E27FC236}">
                <a16:creationId xmlns:a16="http://schemas.microsoft.com/office/drawing/2014/main" id="{08996A52-A24C-4796-9E9F-34B872AE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生成待审核的结构化建议</a:t>
            </a:r>
          </a:p>
        </p:txBody>
      </p:sp>
      <p:sp>
        <p:nvSpPr>
          <p:cNvPr id="7" name="实施说明-1">
            <a:extLst xmlns:a="http://schemas.openxmlformats.org/drawingml/2006/main">
              <a:ext uri="{FF2B5EF4-FFF2-40B4-BE49-F238E27FC236}">
                <a16:creationId xmlns:a16="http://schemas.microsoft.com/office/drawing/2014/main" id="{AD49BD1B-E079-46C2-94EE-6D3A305A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归纳问题摘要、现象和补测建议。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区分事实、可能原因与待确认参数，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漏测原因结合实际测试覆盖人工判断。</a:t>
            </a:r>
          </a:p>
        </p:txBody>
      </p:sp>
      <p:sp>
        <p:nvSpPr>
          <p:cNvPr id="8" name="实施小标题-2">
            <a:extLst xmlns:a="http://schemas.openxmlformats.org/drawingml/2006/main">
              <a:ext uri="{FF2B5EF4-FFF2-40B4-BE49-F238E27FC236}">
                <a16:creationId xmlns:a16="http://schemas.microsoft.com/office/drawing/2014/main" id="{1DA0DE78-3201-45A0-A896-811769AE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341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批量处理与异常跟进</a:t>
            </a:r>
          </a:p>
        </p:txBody>
      </p:sp>
      <p:sp>
        <p:nvSpPr>
          <p:cNvPr id="9" name="实施说明-2">
            <a:extLst xmlns:a="http://schemas.openxmlformats.org/drawingml/2006/main">
              <a:ext uri="{FF2B5EF4-FFF2-40B4-BE49-F238E27FC236}">
                <a16:creationId xmlns:a16="http://schemas.microsoft.com/office/drawing/2014/main" id="{86AC9EC1-08FD-4C5C-861F-DF5403AC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484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支持勾选问题或按筛选范围执行。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通过并发任务处理多条问题，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查看进度及失败项并跟进重试。</a:t>
            </a:r>
          </a:p>
        </p:txBody>
      </p:sp>
      <p:sp>
        <p:nvSpPr>
          <p:cNvPr id="10" name="实施小标题-3">
            <a:extLst xmlns:a="http://schemas.openxmlformats.org/drawingml/2006/main">
              <a:ext uri="{FF2B5EF4-FFF2-40B4-BE49-F238E27FC236}">
                <a16:creationId xmlns:a16="http://schemas.microsoft.com/office/drawing/2014/main" id="{69D1E65E-441D-43F5-93A2-A80D271E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2002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人工核对后保存结果</a:t>
            </a:r>
          </a:p>
        </p:txBody>
      </p:sp>
      <p:sp>
        <p:nvSpPr>
          <p:cNvPr id="11" name="实施说明-3">
            <a:extLst xmlns:a="http://schemas.openxmlformats.org/drawingml/2006/main">
              <a:ext uri="{FF2B5EF4-FFF2-40B4-BE49-F238E27FC236}">
                <a16:creationId xmlns:a16="http://schemas.microsoft.com/office/drawing/2014/main" id="{66C791E6-ED47-4FE0-BA0D-69919AF4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3437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对照原文检查版本、配置和判断。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修正后决定是否采纳并保存，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保留已有人工内容及必要说明。</a:t>
            </a:r>
          </a:p>
        </p:txBody>
      </p:sp>
      <p:sp>
        <p:nvSpPr>
          <p:cNvPr id="12" name="截图主题">
            <a:extLst xmlns:a="http://schemas.openxmlformats.org/drawingml/2006/main">
              <a:ext uri="{FF2B5EF4-FFF2-40B4-BE49-F238E27FC236}">
                <a16:creationId xmlns:a16="http://schemas.microsoft.com/office/drawing/2014/main" id="{EE70B0E1-2178-47EA-8938-5C987DFC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实际界面：分析建议与批量任务</a:t>
            </a:r>
          </a:p>
        </p:txBody>
      </p:sp>
      <p:sp>
        <p:nvSpPr>
          <p:cNvPr id="13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334DEE9A-18C9-4369-B694-09409555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4" name="截图提示">
            <a:extLst xmlns:a="http://schemas.openxmlformats.org/drawingml/2006/main">
              <a:ext uri="{FF2B5EF4-FFF2-40B4-BE49-F238E27FC236}">
                <a16:creationId xmlns:a16="http://schemas.microsoft.com/office/drawing/2014/main" id="{E65D3F20-4397-4C98-A2E6-F19898B5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5" name="截图建议">
            <a:extLst xmlns:a="http://schemas.openxmlformats.org/drawingml/2006/main">
              <a:ext uri="{FF2B5EF4-FFF2-40B4-BE49-F238E27FC236}">
                <a16:creationId xmlns:a16="http://schemas.microsoft.com/office/drawing/2014/main" id="{7B08C311-1C03-40B0-8B29-227C2362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00750"/>
            <a:ext cx="847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 AI 建议、审核采纳界面</a:t>
            </a:r>
          </a:p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或批量分析进度截图</a:t>
            </a:r>
          </a:p>
        </p:txBody>
      </p:sp>
    </p:spTree>
    <p:extLst>
      <p:ext uri="{BB962C8B-B14F-4D97-AF65-F5344CB8AC3E}">
        <p14:creationId xmlns:p14="http://schemas.microsoft.com/office/powerpoint/2010/main" val="20883672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F89090-D802-4D5F-8992-21C063B4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对策实施：重点筛选与复现材料整理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49107FD3-60EC-4939-8AB2-B445A1FE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解决“筛选难、复现材料不完整”：先选择值得投入的问题，再整理开展验证所需的配置与条件。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系统辅助完成复现前的材料准备，不能代替测试人员部署环境、执行请求或确认根因。</a:t>
            </a:r>
          </a:p>
        </p:txBody>
      </p:sp>
      <p:sp>
        <p:nvSpPr>
          <p:cNvPr id="4" name="实施小标题-0">
            <a:extLst xmlns:a="http://schemas.openxmlformats.org/drawingml/2006/main">
              <a:ext uri="{FF2B5EF4-FFF2-40B4-BE49-F238E27FC236}">
                <a16:creationId xmlns:a16="http://schemas.microsoft.com/office/drawing/2014/main" id="{2A6EE838-3D84-4037-8CCE-4F6EC20D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筛选值得验证的候选问题</a:t>
            </a:r>
          </a:p>
        </p:txBody>
      </p:sp>
      <p:sp>
        <p:nvSpPr>
          <p:cNvPr id="5" name="实施说明-0">
            <a:extLst xmlns:a="http://schemas.openxmlformats.org/drawingml/2006/main">
              <a:ext uri="{FF2B5EF4-FFF2-40B4-BE49-F238E27FC236}">
                <a16:creationId xmlns:a16="http://schemas.microsoft.com/office/drawing/2014/main" id="{938CF928-9F3C-4486-8FC7-19B8B486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按时间、版本、类型等缩小范围。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结合价值与复现条件排序，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保留完整列表复查重要问题遗漏。</a:t>
            </a:r>
          </a:p>
        </p:txBody>
      </p:sp>
      <p:sp>
        <p:nvSpPr>
          <p:cNvPr id="6" name="实施小标题-1">
            <a:extLst xmlns:a="http://schemas.openxmlformats.org/drawingml/2006/main">
              <a:ext uri="{FF2B5EF4-FFF2-40B4-BE49-F238E27FC236}">
                <a16:creationId xmlns:a16="http://schemas.microsoft.com/office/drawing/2014/main" id="{F8FD8E59-83DE-4E96-B149-310B3BB8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提取模型与环境配置</a:t>
            </a:r>
          </a:p>
        </p:txBody>
      </p:sp>
      <p:sp>
        <p:nvSpPr>
          <p:cNvPr id="7" name="实施说明-1">
            <a:extLst xmlns:a="http://schemas.openxmlformats.org/drawingml/2006/main">
              <a:ext uri="{FF2B5EF4-FFF2-40B4-BE49-F238E27FC236}">
                <a16:creationId xmlns:a16="http://schemas.microsoft.com/office/drawing/2014/main" id="{6A669479-CE93-4929-B254-D2EE44A8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整理模型名称、量化与并行配置。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提取 A2/A3/A5 硬件及软件版本，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没有来源支持的参数标为待确认。</a:t>
            </a:r>
          </a:p>
        </p:txBody>
      </p:sp>
      <p:sp>
        <p:nvSpPr>
          <p:cNvPr id="8" name="实施小标题-2">
            <a:extLst xmlns:a="http://schemas.openxmlformats.org/drawingml/2006/main">
              <a:ext uri="{FF2B5EF4-FFF2-40B4-BE49-F238E27FC236}">
                <a16:creationId xmlns:a16="http://schemas.microsoft.com/office/drawing/2014/main" id="{663EEF01-7559-4B7A-BCF0-DB04C205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341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梳理触发条件与错误现象</a:t>
            </a:r>
          </a:p>
        </p:txBody>
      </p:sp>
      <p:sp>
        <p:nvSpPr>
          <p:cNvPr id="9" name="实施说明-2">
            <a:extLst xmlns:a="http://schemas.openxmlformats.org/drawingml/2006/main">
              <a:ext uri="{FF2B5EF4-FFF2-40B4-BE49-F238E27FC236}">
                <a16:creationId xmlns:a16="http://schemas.microsoft.com/office/drawing/2014/main" id="{6C7BC433-A913-42D7-97A8-8F5C624D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484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整理启动命令、请求和执行阶段。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关注并发、输入长度与异常日志，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写清预期结果和实际差异。</a:t>
            </a:r>
          </a:p>
        </p:txBody>
      </p:sp>
      <p:sp>
        <p:nvSpPr>
          <p:cNvPr id="10" name="实施小标题-3">
            <a:extLst xmlns:a="http://schemas.openxmlformats.org/drawingml/2006/main">
              <a:ext uri="{FF2B5EF4-FFF2-40B4-BE49-F238E27FC236}">
                <a16:creationId xmlns:a16="http://schemas.microsoft.com/office/drawing/2014/main" id="{805B97B6-B802-42F8-B283-BC9D21D0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2002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由测试人员补齐并验证</a:t>
            </a:r>
          </a:p>
        </p:txBody>
      </p:sp>
      <p:sp>
        <p:nvSpPr>
          <p:cNvPr id="11" name="实施说明-3">
            <a:extLst xmlns:a="http://schemas.openxmlformats.org/drawingml/2006/main">
              <a:ext uri="{FF2B5EF4-FFF2-40B4-BE49-F238E27FC236}">
                <a16:creationId xmlns:a16="http://schemas.microsoft.com/office/drawing/2014/main" id="{FCA4946D-DF97-42A1-83C8-3DFF0BDF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3437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列出缺失参数和需要追问的信息。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人员准备环境并执行验证，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将复现是否成功及结果补回记录。</a:t>
            </a:r>
          </a:p>
        </p:txBody>
      </p:sp>
      <p:sp>
        <p:nvSpPr>
          <p:cNvPr id="12" name="截图主题">
            <a:extLst xmlns:a="http://schemas.openxmlformats.org/drawingml/2006/main">
              <a:ext uri="{FF2B5EF4-FFF2-40B4-BE49-F238E27FC236}">
                <a16:creationId xmlns:a16="http://schemas.microsoft.com/office/drawing/2014/main" id="{9C3EE8BB-5EEE-439A-A8B8-3DF2F833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实际界面：候选清单与配置材料</a:t>
            </a:r>
          </a:p>
        </p:txBody>
      </p:sp>
      <p:sp>
        <p:nvSpPr>
          <p:cNvPr id="13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DAD8FA66-081C-4AF9-B827-E4B72DC3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4" name="截图提示">
            <a:extLst xmlns:a="http://schemas.openxmlformats.org/drawingml/2006/main">
              <a:ext uri="{FF2B5EF4-FFF2-40B4-BE49-F238E27FC236}">
                <a16:creationId xmlns:a16="http://schemas.microsoft.com/office/drawing/2014/main" id="{2EAE6330-C967-4738-956F-9BE1F16B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5" name="截图建议">
            <a:extLst xmlns:a="http://schemas.openxmlformats.org/drawingml/2006/main">
              <a:ext uri="{FF2B5EF4-FFF2-40B4-BE49-F238E27FC236}">
                <a16:creationId xmlns:a16="http://schemas.microsoft.com/office/drawing/2014/main" id="{968B906B-67EF-498C-965E-AD7DEC8D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00750"/>
            <a:ext cx="847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建议粘贴重点候选列表</a:t>
            </a:r>
          </a:p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或模型、环境、复现场景分析截图</a:t>
            </a:r>
          </a:p>
        </p:txBody>
      </p:sp>
    </p:spTree>
    <p:extLst>
      <p:ext uri="{BB962C8B-B14F-4D97-AF65-F5344CB8AC3E}">
        <p14:creationId xmlns:p14="http://schemas.microsoft.com/office/powerpoint/2010/main" val="17631758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35B42A-E9D6-4D61-B943-241F5A84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对策实施：分析记录、评审交接与材料复用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CB74FE18-4D69-43B9-8835-C0B49E83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解决“分析经验难复用”：将结论、依据、补测建议和处理进展保留在统一台账，便于接手者继续工作。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典型问题转化为测试场景时，还需要人员补充实际执行结果，并保留来源问题与验证记录的关联。</a:t>
            </a:r>
          </a:p>
        </p:txBody>
      </p:sp>
      <p:sp>
        <p:nvSpPr>
          <p:cNvPr id="4" name="实施小标题-0">
            <a:extLst xmlns:a="http://schemas.openxmlformats.org/drawingml/2006/main">
              <a:ext uri="{FF2B5EF4-FFF2-40B4-BE49-F238E27FC236}">
                <a16:creationId xmlns:a16="http://schemas.microsoft.com/office/drawing/2014/main" id="{53FB96A5-ADD9-41F6-AECA-BE3E06E2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统一维护人工分析记录</a:t>
            </a:r>
          </a:p>
        </p:txBody>
      </p:sp>
      <p:sp>
        <p:nvSpPr>
          <p:cNvPr id="5" name="实施说明-0">
            <a:extLst xmlns:a="http://schemas.openxmlformats.org/drawingml/2006/main">
              <a:ext uri="{FF2B5EF4-FFF2-40B4-BE49-F238E27FC236}">
                <a16:creationId xmlns:a16="http://schemas.microsoft.com/office/drawing/2014/main" id="{257D0D69-1754-4E6E-981B-EE9E1EC7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保存问题识别、结论与补测建议。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持续补充版本支持和处理进展，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让后续人员了解当前判断与待办。</a:t>
            </a:r>
          </a:p>
        </p:txBody>
      </p:sp>
      <p:sp>
        <p:nvSpPr>
          <p:cNvPr id="6" name="实施小标题-1">
            <a:extLst xmlns:a="http://schemas.openxmlformats.org/drawingml/2006/main">
              <a:ext uri="{FF2B5EF4-FFF2-40B4-BE49-F238E27FC236}">
                <a16:creationId xmlns:a16="http://schemas.microsoft.com/office/drawing/2014/main" id="{7076C3E4-054B-4674-8388-DB7FB6CA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按专题组织评审材料</a:t>
            </a:r>
          </a:p>
        </p:txBody>
      </p:sp>
      <p:sp>
        <p:nvSpPr>
          <p:cNvPr id="7" name="实施说明-1">
            <a:extLst xmlns:a="http://schemas.openxmlformats.org/drawingml/2006/main">
              <a:ext uri="{FF2B5EF4-FFF2-40B4-BE49-F238E27FC236}">
                <a16:creationId xmlns:a16="http://schemas.microsoft.com/office/drawing/2014/main" id="{69719326-5CDC-410C-B1DC-E3508B14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利用筛选结果形成专项清单。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导出后结合原文与已有结论评审，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保留判断依据与尚未解决的信息缺口。</a:t>
            </a:r>
          </a:p>
        </p:txBody>
      </p:sp>
      <p:sp>
        <p:nvSpPr>
          <p:cNvPr id="8" name="实施小标题-2">
            <a:extLst xmlns:a="http://schemas.openxmlformats.org/drawingml/2006/main">
              <a:ext uri="{FF2B5EF4-FFF2-40B4-BE49-F238E27FC236}">
                <a16:creationId xmlns:a16="http://schemas.microsoft.com/office/drawing/2014/main" id="{487F736D-A41E-469E-9E72-8D4C2EE6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341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减少交接中的重复工作</a:t>
            </a:r>
          </a:p>
        </p:txBody>
      </p:sp>
      <p:sp>
        <p:nvSpPr>
          <p:cNvPr id="9" name="实施说明-2">
            <a:extLst xmlns:a="http://schemas.openxmlformats.org/drawingml/2006/main">
              <a:ext uri="{FF2B5EF4-FFF2-40B4-BE49-F238E27FC236}">
                <a16:creationId xmlns:a16="http://schemas.microsoft.com/office/drawing/2014/main" id="{8D93C577-09CE-4C1E-A4A6-F1C93397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484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接手者先查看已有分析和验证情况。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在此前记录上补充、修正和跟进，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减少重新阅读和重复收集材料。</a:t>
            </a:r>
          </a:p>
        </p:txBody>
      </p:sp>
      <p:sp>
        <p:nvSpPr>
          <p:cNvPr id="10" name="实施小标题-3">
            <a:extLst xmlns:a="http://schemas.openxmlformats.org/drawingml/2006/main">
              <a:ext uri="{FF2B5EF4-FFF2-40B4-BE49-F238E27FC236}">
                <a16:creationId xmlns:a16="http://schemas.microsoft.com/office/drawing/2014/main" id="{828C1785-CF06-4780-A9E9-C8012145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2002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积累可追溯的典型场景</a:t>
            </a:r>
          </a:p>
        </p:txBody>
      </p:sp>
      <p:sp>
        <p:nvSpPr>
          <p:cNvPr id="11" name="实施说明-3">
            <a:extLst xmlns:a="http://schemas.openxmlformats.org/drawingml/2006/main">
              <a:ext uri="{FF2B5EF4-FFF2-40B4-BE49-F238E27FC236}">
                <a16:creationId xmlns:a16="http://schemas.microsoft.com/office/drawing/2014/main" id="{FA6621D5-F777-4004-B832-4B3713C5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3437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整理配置、触发条件与验证结果。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转化测试材料时关联来源 Issue，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通过再次使用判断材料是否有价值。</a:t>
            </a:r>
          </a:p>
        </p:txBody>
      </p:sp>
      <p:sp>
        <p:nvSpPr>
          <p:cNvPr id="12" name="截图主题">
            <a:extLst xmlns:a="http://schemas.openxmlformats.org/drawingml/2006/main">
              <a:ext uri="{FF2B5EF4-FFF2-40B4-BE49-F238E27FC236}">
                <a16:creationId xmlns:a16="http://schemas.microsoft.com/office/drawing/2014/main" id="{30F8868B-6FD7-4253-AFFC-425269AA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实际界面：分析记录与评审导出</a:t>
            </a:r>
          </a:p>
        </p:txBody>
      </p:sp>
      <p:sp>
        <p:nvSpPr>
          <p:cNvPr id="13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67CE0941-D816-4233-8DE2-B02AAFAA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4" name="截图提示">
            <a:extLst xmlns:a="http://schemas.openxmlformats.org/drawingml/2006/main">
              <a:ext uri="{FF2B5EF4-FFF2-40B4-BE49-F238E27FC236}">
                <a16:creationId xmlns:a16="http://schemas.microsoft.com/office/drawing/2014/main" id="{B2C0104C-D4B0-4E3A-BD8D-5DADE52D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5" name="截图建议">
            <a:extLst xmlns:a="http://schemas.openxmlformats.org/drawingml/2006/main">
              <a:ext uri="{FF2B5EF4-FFF2-40B4-BE49-F238E27FC236}">
                <a16:creationId xmlns:a16="http://schemas.microsoft.com/office/drawing/2014/main" id="{F2378947-1285-4408-BA3F-E11BCC88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00750"/>
            <a:ext cx="847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建议粘贴人工分析、处理进展</a:t>
            </a:r>
          </a:p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或专题清单导出结果截图</a:t>
            </a:r>
          </a:p>
        </p:txBody>
      </p:sp>
    </p:spTree>
    <p:extLst>
      <p:ext uri="{BB962C8B-B14F-4D97-AF65-F5344CB8AC3E}">
        <p14:creationId xmlns:p14="http://schemas.microsoft.com/office/powerpoint/2010/main" val="19176467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1AD2ED-0D6B-4D0D-AC19-60C13E6E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实施示例：从复杂反馈整理出验证准备材料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FB7B8FEE-3590-4CFE-819C-F6F72179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以前述 Kimi decode 崩溃反馈为例，说明系统如何辅助整理信息，以及测试人员还需要完成哪些工作。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本例不代表问题已成功复现，也不代表已确认 CANN 侧根因。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7D497-3154-4B61-9BE0-C422DDB7923B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125730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材料类别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已有信息与后续处理方式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报告者提供的环境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Atlas 800I A3、CANN 9.2.0，模型为 Kimi-K3 W4A8，使用 TP16 加 EP。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将这些配置保留为报告者提供的信息，核对具体软件版本和完整启动参数。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触发场景与错误现象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报告者描述 prefill 正常，decode 阶段出现 keyRope 视图偏移非法错误。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整理日志、执行模式及对照结果，帮助测试人员确定优先验证的阶段。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仍需补齐的复现条件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核对模型来源、完整启动命令、请求内容、并发和输入长度等材料是否齐全。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Issue 未提供的参数明确标为待确认，不能让模型自行补造。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测试人员执行的验证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在可用的对应环境中执行请求，记录是否复现、报错位置及环境差异。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必要时对照 eager、图模式和不同软件环境，并记录每次实际结果。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结论与使用边界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偏移溢出属于待确认假设，需要可靠资料、算子检查或对照实验支持。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系统提供整理后的验证输入，实际复现、根因确认和用例转化依赖后续工作。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8705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ECFFD7-19BB-48CC-B77E-72400D26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效果确认：逐项目标检查是否取得实际改善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97DD0BA4-5793-46B5-BE75-3B4834C3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截图可以展示功能与使用过程，但不能单独证明节省了多少人工或提高了多少质量。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以下列出需要补充的效果证据，当前没有前后对比数据的项目均保留“待确认”。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39251-A4BC-45AD-A703-3538F035CC6B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810500"/>
                <a:gridCol w="51435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效果确认方法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当前结论与所需材料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提高跟踪可靠性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同口径核对数量并抽查具体问题。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检查新增获取、历史更新和人工分析保留情况。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补充核对清单、漏项抽查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和历史更新检查记录。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减少人工整理投入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比较单条 Issue 分析平均人工耗时。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SIPOC 页口径计入审核、返工与人工接续。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补充纯人工基线与辅助流程工时，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在同一质量标准下比较。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提高重点筛选效率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人工评审候选是否值得投入测试。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抽查被筛问题中的重要遗漏和评审分歧。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补充候选评审、遗漏复查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和筛选准备耗时记录。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提高复现材料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检查模型配置、环境、触发条件和缺失信息。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由测试人员反馈材料是否支持开展验证。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补充参数完整性检查，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记录补采情况及实际执行反馈。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提高材料复用能力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检查分析能否接续、交接是否减少重复工作。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跟踪典型材料在其他问题或测试中的实际使用。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补充交接使用、重复工作变化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和材料复用关联记录。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52495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43D612-C6A3-4A3B-8B4A-A7A75887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效果确认：建立可重复的基线与对照评价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4AE94485-73E5-4918-9D8E-BABA367A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采用一致的样本范围和评价口径，避免只展示容易处理的问题或只统计模型输出。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具体比例阈值在第一轮基线后评审确定，后续用新样本验证规则调整是否有效。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21A1C-DB26-494E-B2C3-542A84404CF7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715250"/>
                <a:gridCol w="542925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评价环节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具体实施方式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需要保留的证据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524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选取代表性样本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覆盖缺陷、文档、咨询及不同信息完整度。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统一仓库、时间范围和样本复杂度，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避免只选择短正文或容易判断的问题。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样本清单、数量和选取规则。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参与人员与执行时间。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问题类型和材料复杂度说明。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记录纯人工基线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按原有方式完成查找、阅读与资料整理。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分别记录各环节耗时及缺失参数，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检查原有交接是否需要重复收集信息。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分环节工时。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配置与触发条件检查结果。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原有交接过程和重复工作记录。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执行辅助流程并审核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通过台账、筛选与 AI 建议辅助处理。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人员核对、修正并补齐材料，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同时抽查候选和筛选之外的重要问题。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人工总耗时与审核修正情况。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候选有效性和重要遗漏。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失败重试、补采和实际使用反馈。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判断达成情况并复评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按各项目标比较基线与对照结果。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未改善时回看材料、规则或使用方式，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调整后用另一批样本再次评价。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目标达成结论及其依据。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尚未解决的问题与改进措施。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新一轮样本的复评结果。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21913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FE5F17-D10F-4D6B-9D05-DB0CFA72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总结：项目价值与后续优化重点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081D3F30-D456-46F7-8AB3-D6156021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issue-tracker 将社区问题获取、筛选、分析和材料保存集中到同一工作入口，支持测试人员持续开展分析。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项目价值需要结合实际使用、人工投入变化和测试验证贡献持续确认。</a:t>
            </a:r>
          </a:p>
        </p:txBody>
      </p:sp>
      <p:sp>
        <p:nvSpPr>
          <p:cNvPr id="4" name="总结标题-0">
            <a:extLst xmlns:a="http://schemas.openxmlformats.org/drawingml/2006/main">
              <a:ext uri="{FF2B5EF4-FFF2-40B4-BE49-F238E27FC236}">
                <a16:creationId xmlns:a16="http://schemas.microsoft.com/office/drawing/2014/main" id="{E5BBB30A-E234-4527-BCBE-96597E69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1614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统一台账提供基础价值</a:t>
            </a:r>
          </a:p>
        </p:txBody>
      </p:sp>
      <p:sp>
        <p:nvSpPr>
          <p:cNvPr id="5" name="总结说明-0">
            <a:extLst xmlns:a="http://schemas.openxmlformats.org/drawingml/2006/main">
              <a:ext uri="{FF2B5EF4-FFF2-40B4-BE49-F238E27FC236}">
                <a16:creationId xmlns:a16="http://schemas.microsoft.com/office/drawing/2014/main" id="{AB9196A2-25EB-43B9-92CC-06D36C72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38525"/>
            <a:ext cx="1609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持续跟进新增与历史更新，保留本地人工分析，减少跨页面查找、重复核对和交接中的资料分散。</a:t>
            </a:r>
          </a:p>
        </p:txBody>
      </p:sp>
      <p:sp>
        <p:nvSpPr>
          <p:cNvPr id="6" name="总结标题-1">
            <a:extLst xmlns:a="http://schemas.openxmlformats.org/drawingml/2006/main">
              <a:ext uri="{FF2B5EF4-FFF2-40B4-BE49-F238E27FC236}">
                <a16:creationId xmlns:a16="http://schemas.microsoft.com/office/drawing/2014/main" id="{C7BFB373-E012-4E9C-98DC-A8015FCF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24375"/>
            <a:ext cx="1614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AI 辅助降低重复整理工作</a:t>
            </a:r>
          </a:p>
        </p:txBody>
      </p:sp>
      <p:sp>
        <p:nvSpPr>
          <p:cNvPr id="7" name="总结说明-1">
            <a:extLst xmlns:a="http://schemas.openxmlformats.org/drawingml/2006/main">
              <a:ext uri="{FF2B5EF4-FFF2-40B4-BE49-F238E27FC236}">
                <a16:creationId xmlns:a16="http://schemas.microsoft.com/office/drawing/2014/main" id="{6B393E33-9014-4EA8-A9B4-03EA72BE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05400"/>
            <a:ext cx="1609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帮助人员阅读、归纳和提取材料，支持批量处理。人员负责证据核对和结论把关，持续评估审核后的实际收益。</a:t>
            </a:r>
          </a:p>
        </p:txBody>
      </p:sp>
      <p:sp>
        <p:nvSpPr>
          <p:cNvPr id="8" name="总结标题-2">
            <a:extLst xmlns:a="http://schemas.openxmlformats.org/drawingml/2006/main">
              <a:ext uri="{FF2B5EF4-FFF2-40B4-BE49-F238E27FC236}">
                <a16:creationId xmlns:a16="http://schemas.microsoft.com/office/drawing/2014/main" id="{CEDA87D6-5A22-4E11-97B0-95CBAD27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91250"/>
            <a:ext cx="1614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筛选与材料整理支撑测试准备</a:t>
            </a:r>
          </a:p>
        </p:txBody>
      </p:sp>
      <p:sp>
        <p:nvSpPr>
          <p:cNvPr id="9" name="总结说明-2">
            <a:extLst xmlns:a="http://schemas.openxmlformats.org/drawingml/2006/main">
              <a:ext uri="{FF2B5EF4-FFF2-40B4-BE49-F238E27FC236}">
                <a16:creationId xmlns:a16="http://schemas.microsoft.com/office/drawing/2014/main" id="{2E8747BA-B936-4200-A99B-C14497AD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72275"/>
            <a:ext cx="1609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形成重点候选，整理模型、环境与触发条件，明确缺失信息。实际复现和根因确认仍需人员与实验环境完成。</a:t>
            </a:r>
          </a:p>
        </p:txBody>
      </p:sp>
      <p:sp>
        <p:nvSpPr>
          <p:cNvPr id="10" name="总结标题-3">
            <a:extLst xmlns:a="http://schemas.openxmlformats.org/drawingml/2006/main">
              <a:ext uri="{FF2B5EF4-FFF2-40B4-BE49-F238E27FC236}">
                <a16:creationId xmlns:a16="http://schemas.microsoft.com/office/drawing/2014/main" id="{D15087AD-BB25-4EDC-A707-EFE758D3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58125"/>
            <a:ext cx="1614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后续优化以证据为依据</a:t>
            </a:r>
          </a:p>
        </p:txBody>
      </p:sp>
      <p:sp>
        <p:nvSpPr>
          <p:cNvPr id="11" name="总结说明-3">
            <a:extLst xmlns:a="http://schemas.openxmlformats.org/drawingml/2006/main">
              <a:ext uri="{FF2B5EF4-FFF2-40B4-BE49-F238E27FC236}">
                <a16:creationId xmlns:a16="http://schemas.microsoft.com/office/drawing/2014/main" id="{7FE1C2FB-07CE-479A-9763-EB4BBF70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439150"/>
            <a:ext cx="1609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补充完整性核对、人工工时、候选有效性和材料复用记录。根据错误与返工情况优化提示词、筛选规则和分析流程。</a:t>
            </a:r>
          </a:p>
        </p:txBody>
      </p:sp>
    </p:spTree>
    <p:extLst>
      <p:ext uri="{BB962C8B-B14F-4D97-AF65-F5344CB8AC3E}">
        <p14:creationId xmlns:p14="http://schemas.microsoft.com/office/powerpoint/2010/main" val="3492933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2026-10-28T04:56:15.0710000Z</dcterms:created>
  <dcterms:modified xsi:type="dcterms:W3CDTF">2026-10-28T04:56:15.0710000Z</dcterms:modified>
</coreProperties>
</file>