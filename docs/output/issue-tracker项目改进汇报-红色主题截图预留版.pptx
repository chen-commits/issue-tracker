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58053e13c44d8c" /><Relationship Type="http://schemas.openxmlformats.org/officeDocument/2006/relationships/extended-properties" Target="/docProps/app.xml" Id="Reece8333b6204dfc" /><Relationship Type="http://schemas.openxmlformats.org/officeDocument/2006/relationships/officeDocument" Target="/ppt/presentation.xml" Id="R6c0225c98ae843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978e764c96445e0"/>
  </p:sldMasterIdLst>
  <p:notesMasterIdLst>
    <p:notesMasterId xmlns:r="http://schemas.openxmlformats.org/officeDocument/2006/relationships" r:id="R6cbd981f9f2e4711"/>
  </p:notesMasterIdLst>
  <p:sldIdLst>
    <p:sldId xmlns:r="http://schemas.openxmlformats.org/officeDocument/2006/relationships" id="256" r:id="R0e454ea71e67440d"/>
    <p:sldId xmlns:r="http://schemas.openxmlformats.org/officeDocument/2006/relationships" id="257" r:id="R4a4796868e6140dc"/>
    <p:sldId xmlns:r="http://schemas.openxmlformats.org/officeDocument/2006/relationships" id="258" r:id="Rcc646324210b4d30"/>
    <p:sldId xmlns:r="http://schemas.openxmlformats.org/officeDocument/2006/relationships" id="259" r:id="R272ba794b70444af"/>
    <p:sldId xmlns:r="http://schemas.openxmlformats.org/officeDocument/2006/relationships" id="260" r:id="R4867b7af995e4a87"/>
    <p:sldId xmlns:r="http://schemas.openxmlformats.org/officeDocument/2006/relationships" id="261" r:id="Ra0326da3a21a45e6"/>
    <p:sldId xmlns:r="http://schemas.openxmlformats.org/officeDocument/2006/relationships" id="262" r:id="Re498efaf72884b97"/>
    <p:sldId xmlns:r="http://schemas.openxmlformats.org/officeDocument/2006/relationships" id="263" r:id="R6a64f4c756b547a8"/>
    <p:sldId xmlns:r="http://schemas.openxmlformats.org/officeDocument/2006/relationships" id="264" r:id="R622fe885b2cc4bdd"/>
    <p:sldId xmlns:r="http://schemas.openxmlformats.org/officeDocument/2006/relationships" id="265" r:id="R6733bf131ea84ce7"/>
    <p:sldId xmlns:r="http://schemas.openxmlformats.org/officeDocument/2006/relationships" id="266" r:id="Ra5b199308bda43a5"/>
    <p:sldId xmlns:r="http://schemas.openxmlformats.org/officeDocument/2006/relationships" id="267" r:id="R811839c6b3834505"/>
    <p:sldId xmlns:r="http://schemas.openxmlformats.org/officeDocument/2006/relationships" id="268" r:id="Rc14acd184fd346c9"/>
    <p:sldId xmlns:r="http://schemas.openxmlformats.org/officeDocument/2006/relationships" id="269" r:id="R57cdd7e1e50445f3"/>
    <p:sldId xmlns:r="http://schemas.openxmlformats.org/officeDocument/2006/relationships" id="270" r:id="R338cdd36074f4f0b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b16c33da1d4552" /><Relationship Type="http://schemas.openxmlformats.org/officeDocument/2006/relationships/slideMaster" Target="/ppt/slideMasters/slideMaster1.xml" Id="R2978e764c96445e0" /><Relationship Type="http://schemas.openxmlformats.org/officeDocument/2006/relationships/notesMaster" Target="/ppt/notesMasters/notesMaster1.xml" Id="R6cbd981f9f2e4711" /><Relationship Type="http://schemas.openxmlformats.org/officeDocument/2006/relationships/presProps" Target="/ppt/presProps.xml" Id="R9fae6f0d1c3640ab" /><Relationship Type="http://schemas.openxmlformats.org/officeDocument/2006/relationships/tableStyles" Target="/ppt/tableStyles.xml" Id="R0d3509f62d7d4b51" /><Relationship Type="http://schemas.openxmlformats.org/officeDocument/2006/relationships/slide" Target="/ppt/slides/slide1.xml" Id="R0e454ea71e67440d" /><Relationship Type="http://schemas.openxmlformats.org/officeDocument/2006/relationships/slide" Target="/ppt/slides/slide2.xml" Id="R4a4796868e6140dc" /><Relationship Type="http://schemas.openxmlformats.org/officeDocument/2006/relationships/slide" Target="/ppt/slides/slide3.xml" Id="Rcc646324210b4d30" /><Relationship Type="http://schemas.openxmlformats.org/officeDocument/2006/relationships/slide" Target="/ppt/slides/slide4.xml" Id="R272ba794b70444af" /><Relationship Type="http://schemas.openxmlformats.org/officeDocument/2006/relationships/slide" Target="/ppt/slides/slide5.xml" Id="R4867b7af995e4a87" /><Relationship Type="http://schemas.openxmlformats.org/officeDocument/2006/relationships/slide" Target="/ppt/slides/slide6.xml" Id="Ra0326da3a21a45e6" /><Relationship Type="http://schemas.openxmlformats.org/officeDocument/2006/relationships/slide" Target="/ppt/slides/slide7.xml" Id="Re498efaf72884b97" /><Relationship Type="http://schemas.openxmlformats.org/officeDocument/2006/relationships/slide" Target="/ppt/slides/slide8.xml" Id="R6a64f4c756b547a8" /><Relationship Type="http://schemas.openxmlformats.org/officeDocument/2006/relationships/slide" Target="/ppt/slides/slide9.xml" Id="R622fe885b2cc4bdd" /><Relationship Type="http://schemas.openxmlformats.org/officeDocument/2006/relationships/slide" Target="/ppt/slides/slide10.xml" Id="R6733bf131ea84ce7" /><Relationship Type="http://schemas.openxmlformats.org/officeDocument/2006/relationships/slide" Target="/ppt/slides/slide11.xml" Id="Ra5b199308bda43a5" /><Relationship Type="http://schemas.openxmlformats.org/officeDocument/2006/relationships/slide" Target="/ppt/slides/slide12.xml" Id="R811839c6b3834505" /><Relationship Type="http://schemas.openxmlformats.org/officeDocument/2006/relationships/slide" Target="/ppt/slides/slide13.xml" Id="Rc14acd184fd346c9" /><Relationship Type="http://schemas.openxmlformats.org/officeDocument/2006/relationships/slide" Target="/ppt/slides/slide14.xml" Id="R57cdd7e1e50445f3" /><Relationship Type="http://schemas.openxmlformats.org/officeDocument/2006/relationships/slide" Target="/ppt/slides/slide15.xml" Id="R338cdd36074f4f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c3aa7844098460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6f06fc4d564e7f" /><Relationship Type="http://schemas.openxmlformats.org/officeDocument/2006/relationships/notesMaster" Target="/ppt/notesMasters/notesMaster1.xml" Id="Rccf0194649c94de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2222d2bf84480" /><Relationship Type="http://schemas.openxmlformats.org/officeDocument/2006/relationships/notesMaster" Target="/ppt/notesMasters/notesMaster1.xml" Id="R2dc4940ee44746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c030693d4d24556" /><Relationship Type="http://schemas.openxmlformats.org/officeDocument/2006/relationships/notesMaster" Target="/ppt/notesMasters/notesMaster1.xml" Id="R091eedb603b04f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e9300eb7b44507" /><Relationship Type="http://schemas.openxmlformats.org/officeDocument/2006/relationships/notesMaster" Target="/ppt/notesMasters/notesMaster1.xml" Id="Rd5b4d2ff46a5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d7c83b72464ab7" /><Relationship Type="http://schemas.openxmlformats.org/officeDocument/2006/relationships/notesMaster" Target="/ppt/notesMasters/notesMaster1.xml" Id="Rbd57533ea2ed42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e8bf24a15f4b96" /><Relationship Type="http://schemas.openxmlformats.org/officeDocument/2006/relationships/notesMaster" Target="/ppt/notesMasters/notesMaster1.xml" Id="Reb5e3079ac0c4c6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4d539198b104361" /><Relationship Type="http://schemas.openxmlformats.org/officeDocument/2006/relationships/notesMaster" Target="/ppt/notesMasters/notesMaster1.xml" Id="R670120cdbc0749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d05cfbae25741df" /><Relationship Type="http://schemas.openxmlformats.org/officeDocument/2006/relationships/notesMaster" Target="/ppt/notesMasters/notesMaster1.xml" Id="Rf617161b03e84b6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56058a52b549dd" /><Relationship Type="http://schemas.openxmlformats.org/officeDocument/2006/relationships/notesMaster" Target="/ppt/notesMasters/notesMaster1.xml" Id="R0fc4b250e8a146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a35eb3cac943b5" /><Relationship Type="http://schemas.openxmlformats.org/officeDocument/2006/relationships/notesMaster" Target="/ppt/notesMasters/notesMaster1.xml" Id="Rf5413ff7ad194f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81107005304ee3" /><Relationship Type="http://schemas.openxmlformats.org/officeDocument/2006/relationships/notesMaster" Target="/ppt/notesMasters/notesMaster1.xml" Id="R9d2bd8050f7249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3bb92e325bf4c9c" /><Relationship Type="http://schemas.openxmlformats.org/officeDocument/2006/relationships/notesMaster" Target="/ppt/notesMasters/notesMaster1.xml" Id="R34f7681443c54a1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40ce786c6964da3" /><Relationship Type="http://schemas.openxmlformats.org/officeDocument/2006/relationships/notesMaster" Target="/ppt/notesMasters/notesMaster1.xml" Id="R629efd5cc88b4e3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18208d44c9649af" /><Relationship Type="http://schemas.openxmlformats.org/officeDocument/2006/relationships/notesMaster" Target="/ppt/notesMasters/notesMaster1.xml" Id="Rde141cf0aec6486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9d8ad2dc4f4cc7" /><Relationship Type="http://schemas.openxmlformats.org/officeDocument/2006/relationships/notesMaster" Target="/ppt/notesMasters/notesMaster1.xml" Id="Ra6d2a98e26254e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项目改进汇报（25 秒）</a:t>
            </a:r>
          </a:p>
          <a:p xmlns:a="http://schemas.openxmlformats.org/drawingml/2006/main">
            <a:r>
              <a:t>各位好，今天汇报 issue-tracker 项目围绕社区问题管理和测试分析所做的改进设计。我们按照七个环节展开：先调查现状与痛点，再分析可能原因、设定目标和确认主因，然后拟定对策、安排实施，最后检查是否达到目标。整份汇报始终围绕一个问题：怎样让社区反馈更高效地进入分析与测试工作，并让分析经验持续积累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现状调查：五项主要痛点（70 秒）</a:t>
            </a:r>
          </a:p>
          <a:p xmlns:a="http://schemas.openxmlformats.org/drawingml/2006/main">
            <a:r>
              <a:t>结合项目需求和此前使用反馈，我们把现状归纳为五项痛点。</a:t>
            </a:r>
          </a:p>
          <a:p xmlns:a="http://schemas.openxmlformats.org/drawingml/2006/main">
            <a:r>
              <a:t>是持续跟踪困难。问题不断新增和更新，历史评论、状态变化和关键材料分散，人工跟进容易反复查找。</a:t>
            </a:r>
          </a:p>
          <a:p xmlns:a="http://schemas.openxmlformats.org/drawingml/2006/main">
            <a:r>
              <a:t>是人工整理投入大。长篇正文、英文内容和多轮评论需要逐条阅读，分析人员花了较多精力提取环境、现象和处理进展。</a:t>
            </a:r>
          </a:p>
          <a:p xmlns:a="http://schemas.openxmlformats.org/drawingml/2006/main">
            <a:r>
              <a:t>是重点问题筛选难。缺陷、文档、咨询和 RFC 混在一起，问题价值及复现条件需要分别判断，影响测试资源分配。</a:t>
            </a:r>
          </a:p>
          <a:p xmlns:a="http://schemas.openxmlformats.org/drawingml/2006/main">
            <a:r>
              <a:t>是复现材料不完整。模型、量化、并行、硬件和版本等参数复杂，缺失项不明确时，准备测试仍需重新整理。</a:t>
            </a:r>
          </a:p>
          <a:p xmlns:a="http://schemas.openxmlformats.org/drawingml/2006/main">
            <a:r>
              <a:t>是分析经验难复用。结论和补测建议分散，团队交接与同类问题分析容易重复投入。</a:t>
            </a:r>
          </a:p>
          <a:p xmlns:a="http://schemas.openxmlformats.org/drawingml/2006/main">
            <a:r>
              <a:t>这些是目前需要验证的主要现状，后续还要补充数量、耗时和缺失项等基线数据。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根因分析：鱼骨图展开潜在因素（50 秒）</a:t>
            </a:r>
          </a:p>
          <a:p xmlns:a="http://schemas.openxmlformats.org/drawingml/2006/main">
            <a:r>
              <a:t>鱼骨图把影响因素分为信息获取、分析方法、环境配置、人员协作、工作流程和知识沉淀六个方面。例如，信息获取涉及人工跟进和正文评论分散，分析方法涉及统一标准和重复整理，环境配置涉及模型与软硬件组合。协作、流程和沉淀则影响交接、批量处理和经验复用。</a:t>
            </a:r>
          </a:p>
          <a:p xmlns:a="http://schemas.openxmlformats.org/drawingml/2006/main">
            <a:r>
              <a:t>鱼骨图的作用是完整展开可能原因，帮助后续选取重点。图中每个分支都是原因假设，需要继续核查，不能仅凭分类就认定根因。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目标设定：让每项痛点都有验收依据（55 秒）</a:t>
            </a:r>
          </a:p>
          <a:p xmlns:a="http://schemas.openxmlformats.org/drawingml/2006/main">
            <a:r>
              <a:t>针对五项痛点，分别设定目标。</a:t>
            </a:r>
          </a:p>
          <a:p xmlns:a="http://schemas.openxmlformats.org/drawingml/2006/main">
            <a:r>
              <a:t>对应持续跟踪：在相同仓库、相同时间和筛选范围下，问题数量核对一致，抽查不出现漏项。</a:t>
            </a:r>
          </a:p>
          <a:p xmlns:a="http://schemas.openxmlformats.org/drawingml/2006/main">
            <a:r>
              <a:t>对应人工投入：在相近复杂度样本上，辅助分析后的人工总耗时低于纯人工基线，时间包含审核与修正。</a:t>
            </a:r>
          </a:p>
          <a:p xmlns:a="http://schemas.openxmlformats.org/drawingml/2006/main">
            <a:r>
              <a:t>对应重点筛选：提高候选清单的有效性，同时抽查被筛掉的问题，关注重要问题遗漏。</a:t>
            </a:r>
          </a:p>
          <a:p xmlns:a="http://schemas.openxmlformats.org/drawingml/2006/main">
            <a:r>
              <a:t>对应复现准备：统一列出关键配置、触发条件和信息缺口，使测试人员能够判断是否具备验证条件。</a:t>
            </a:r>
          </a:p>
          <a:p xmlns:a="http://schemas.openxmlformats.org/drawingml/2006/main">
            <a:r>
              <a:t>对应经验复用：保留分析结论与处理进展，支持接续分析和典型测试场景复用。</a:t>
            </a:r>
          </a:p>
          <a:p xmlns:a="http://schemas.openxmlformats.org/drawingml/2006/main">
            <a:r>
              <a:t>这里给出的是目标和验收口径。具体比例阈值，需要在取得第一轮基线后评审确定。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根因确认：初步因果关联矩阵（70 秒）</a:t>
            </a:r>
          </a:p>
          <a:p xmlns:a="http://schemas.openxmlformats.org/drawingml/2006/main">
            <a:r>
              <a:t>鱼骨图展开因素之后，我们用因果矩阵把原因和痛点联系起来。</a:t>
            </a:r>
          </a:p>
          <a:p xmlns:a="http://schemas.openxmlformats.org/drawingml/2006/main">
            <a:r>
              <a:t>矩阵中的五个原因分别是：缺少持续同步与统一入口、正文评论归纳依赖人工、缺少统一筛选评价口径、缺少结构化复现材料模板，以及分析结论分散存放。</a:t>
            </a:r>
          </a:p>
          <a:p xmlns:a="http://schemas.openxmlformats.org/drawingml/2006/main">
            <a:r>
              <a:t>列方向对应  到 经验复用，单元格用强、中、弱表示初步关联判断。例如，人工归纳与  人工投入大的关联最直接，复现模板缺失与  材料不完整的关联最直接，结论分散与  经验难复用的关联最直接。</a:t>
            </a:r>
          </a:p>
          <a:p xmlns:a="http://schemas.openxmlformats.org/drawingml/2006/main">
            <a:r>
              <a:t>这张矩阵目前不使用人为编造的权重、打分或完成率。它帮助确定优先验证的方向，仍需用工作流程走查、样本检查和工时记录检验判断。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根因确认：三项主因候选与验证办法（60 秒）</a:t>
            </a:r>
          </a:p>
          <a:p xmlns:a="http://schemas.openxmlformats.org/drawingml/2006/main">
            <a:r>
              <a:t>基于矩阵，我们将重点确认的主因归为三组。</a:t>
            </a:r>
          </a:p>
          <a:p xmlns:a="http://schemas.openxmlformats.org/drawingml/2006/main">
            <a:r>
              <a:t>是信息管理和结论沉淀缺少统一载体，对应跟踪和复用问题。验证时，抽查一次专项分析和交接，记录查找入口、重复收集以及结论定位的情况。</a:t>
            </a:r>
          </a:p>
          <a:p xmlns:a="http://schemas.openxmlformats.org/drawingml/2006/main">
            <a:r>
              <a:t>是内容归纳和复现材料提取依赖人工，对应人工投入和测试准备问题。验证时，选取相近复杂度的 Issue，分别记录阅读、提取、审核和修正耗时，并检查关键参数缺失项。</a:t>
            </a:r>
          </a:p>
          <a:p xmlns:a="http://schemas.openxmlformats.org/drawingml/2006/main">
            <a:r>
              <a:t>是价值与复现性评价缺少统一口径，对应重点筛选问题。验证时，由分析人员独立评审同一批样本，比较候选有效性和分歧，再检查筛选规则的影响。</a:t>
            </a:r>
          </a:p>
          <a:p xmlns:a="http://schemas.openxmlformats.org/drawingml/2006/main">
            <a:r>
              <a:t>只有观察到相应机制，并且针对性调整后结果发生改善，才能进一步支持主因判断。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拟定对策：五项痛点分别对应措施（80 秒）</a:t>
            </a:r>
          </a:p>
          <a:p xmlns:a="http://schemas.openxmlformats.org/drawingml/2006/main">
            <a:r>
              <a:t>围绕五项痛点，提出五组对策。</a:t>
            </a:r>
          </a:p>
          <a:p xmlns:a="http://schemas.openxmlformats.org/drawingml/2006/main">
            <a:r>
              <a:t>用全量和增量同步、手动校准以及统一台账，应对持续跟踪困难，解决反复查找和核对的问题。</a:t>
            </a:r>
          </a:p>
          <a:p xmlns:a="http://schemas.openxmlformats.org/drawingml/2006/main">
            <a:r>
              <a:t>用 AI 归纳和可批量执行的分析任务，应对人工整理投入大。AI 提取摘要、现象、配置和建议，人员审核后采纳。对策是否有效，要看包含审核修正在内的人工总投入。</a:t>
            </a:r>
          </a:p>
          <a:p xmlns:a="http://schemas.openxmlformats.org/drawingml/2006/main">
            <a:r>
              <a:t>用多维筛选、统一价值与复现性口径、候选排序及人工复查，应对重点问题筛选难，帮助集中验证资源。</a:t>
            </a:r>
          </a:p>
          <a:p xmlns:a="http://schemas.openxmlformats.org/drawingml/2006/main">
            <a:r>
              <a:t>用模型、软硬件、触发场景和断言等结构化材料，以及待确认参数清单，应对复现材料不完整。</a:t>
            </a:r>
          </a:p>
          <a:p xmlns:a="http://schemas.openxmlformats.org/drawingml/2006/main">
            <a:r>
              <a:t>用人工分析记录、处理状态、评审导出和典型场景积累，应对经验难复用，支持交接与后续测试工作。</a:t>
            </a:r>
          </a:p>
          <a:p xmlns:a="http://schemas.openxmlformats.org/drawingml/2006/main">
            <a:r>
              <a:t>这些措施分别有明确的服务对象，也能够逐项检查效果。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对策实施：持续同步与统一台账（70 秒）</a:t>
            </a:r>
          </a:p>
          <a:p xmlns:a="http://schemas.openxmlformats.org/drawingml/2006/main">
            <a:r>
              <a:t>的实施围绕数据和使用入口展开。</a:t>
            </a:r>
          </a:p>
          <a:p xmlns:a="http://schemas.openxmlformats.org/drawingml/2006/main">
            <a:r>
              <a:t>先明确统计范围，核对仓库、时间、状态及是否排除 PR，避免不同口径导致数量不一致。随后用首次全量同步获取问题，日常通过默认每 15 分钟的增量同步跟进变化，并用手动全量校准核对历史数据。</a:t>
            </a:r>
          </a:p>
          <a:p xmlns:a="http://schemas.openxmlformats.org/drawingml/2006/main">
            <a:r>
              <a:t>社区侧字段与本地人工分析分别维护，使信息更新后仍能保留分析积累。使用中通过日期、标签、版本和分析字段收敛专项范围，并导出需要评审的问题清单。</a:t>
            </a:r>
          </a:p>
          <a:p xmlns:a="http://schemas.openxmlformats.org/drawingml/2006/main">
            <a:r>
              <a:t>实施产出包括可持续维护的问题台账、专项清单和核对记录。效果确认关注抽查漏项、更新及时性以及人工资料整理投入，而不是仅看同步任务是否结束。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对策实施：AI 与批量任务减少人工整理（75 秒）</a:t>
            </a:r>
          </a:p>
          <a:p xmlns:a="http://schemas.openxmlformats.org/drawingml/2006/main">
            <a:r>
              <a:t>的直接出发点是人工阅读和资料提取投入较大。</a:t>
            </a:r>
          </a:p>
          <a:p xmlns:a="http://schemas.openxmlformats.org/drawingml/2006/main">
            <a:r>
              <a:t>实施时先提供正文、评论和已有分析作为上下文，要求模型按统一字段整理摘要、价值、现象、可能根因和补充测试，区分事实、推测与缺失信息。</a:t>
            </a:r>
          </a:p>
          <a:p xmlns:a="http://schemas.openxmlformats.org/drawingml/2006/main">
            <a:r>
              <a:t>对于一批问题，可以选中指定 Issue，也可以按筛选结果创建任务，结合并发、进度、失败重试和恢复支持集中处理。</a:t>
            </a:r>
          </a:p>
          <a:p xmlns:a="http://schemas.openxmlformats.org/drawingml/2006/main">
            <a:r>
              <a:t>建议生成后，由人员核对重要参数和原文证据，决定采纳或修正。漏测原因结合实际测试覆盖由人工判断。AI 目前仍需持续评估，不能仅因模型有输出，就认定减少了人工投入。</a:t>
            </a:r>
          </a:p>
          <a:p xmlns:a="http://schemas.openxmlformats.org/drawingml/2006/main">
            <a:r>
              <a:t>因此，效果统计要记录从阅读到审核修正的总耗时，同时记录建议采纳质量和错误类型。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对策实施：重点筛选与复现材料整理（65 秒）</a:t>
            </a:r>
          </a:p>
          <a:p xmlns:a="http://schemas.openxmlformats.org/drawingml/2006/main">
            <a:r>
              <a:t>和  联合服务于测试资源选择与准备。</a:t>
            </a:r>
          </a:p>
          <a:p xmlns:a="http://schemas.openxmlformats.org/drawingml/2006/main">
            <a:r>
              <a:t>筛选时先按日期、状态、标签和版本确定范围，再结合价值和复现性形成候选清单。优先处理视图保留复现性与价值为高或中的问题，并排除文档、RFC 等类型。高价值但信息不足的问题仍需回到完整列表复查。</a:t>
            </a:r>
          </a:p>
          <a:p xmlns:a="http://schemas.openxmlformats.org/drawingml/2006/main">
            <a:r>
              <a:t>准备复现时，按模板整理模型、量化、TP/PP/EP、A2/A3/A5 环境、软件版本和触发请求，再明确预期结果和断言。原文没有提供的内容标为待确认，不能补造参数。</a:t>
            </a:r>
          </a:p>
          <a:p xmlns:a="http://schemas.openxmlformats.org/drawingml/2006/main">
            <a:r>
              <a:t>实施产出是重点候选、复现材料和待补信息清单，最终由人员和实际环境验证可执行性。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对策实施：记录沉淀与协作复用（55 秒）</a:t>
            </a:r>
          </a:p>
          <a:p xmlns:a="http://schemas.openxmlformats.org/drawingml/2006/main">
            <a:r>
              <a:t>针对结论分散和交接重复投入。</a:t>
            </a:r>
          </a:p>
          <a:p xmlns:a="http://schemas.openxmlformats.org/drawingml/2006/main">
            <a:r>
              <a:t>实施时统一记录问题识别、分析结论、补测建议、版本支持和处理进展。分析人员可以查看已有结论，按需要继续补充，并通过筛选导出支持专项评审和团队交接。</a:t>
            </a:r>
          </a:p>
          <a:p xmlns:a="http://schemas.openxmlformats.org/drawingml/2006/main">
            <a:r>
              <a:t>对于有代表性的问题，再整理典型配置、复现条件和验证结果。需要形成回归测试时，关联来源 Issue、最小用例及评审记录，便于后续追溯和复用。</a:t>
            </a:r>
          </a:p>
          <a:p xmlns:a="http://schemas.openxmlformats.org/drawingml/2006/main">
            <a:r>
              <a:t>效果既要看是否记录，也要看记录能否帮助接手者继续工作，以及是否被同类问题分析或测试用例再次使用。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实施示例：复杂反馈怎样形成验证材料（50 秒）</a:t>
            </a:r>
          </a:p>
          <a:p xmlns:a="http://schemas.openxmlformats.org/drawingml/2006/main">
            <a:r>
              <a:t>以此前提供的 Kimi 模型 decode 崩溃反馈为例。报告者提供了 A3、CANN 9.2.0、Kimi-K3 W4A8 和 TP16 加 EP 等条件，并描述 prefill 正常、decode 出现 keyRope 偏移错误。</a:t>
            </a:r>
          </a:p>
          <a:p xmlns:a="http://schemas.openxmlformats.org/drawingml/2006/main">
            <a:r>
              <a:t>对策实施需要把环境配置、观察现象和验证动作分别整理出来。报告者提出的整数溢出属于待核实假设，不能写成已经确认的根因。随后补齐参数，在相应环境中进行 decode 与执行模式对照验证。</a:t>
            </a:r>
          </a:p>
          <a:p xmlns:a="http://schemas.openxmlformats.org/drawingml/2006/main">
            <a:r>
              <a:t>这个例子展示的是材料整理和人工审核的作用，实际复现、根因确认和回归用例结果仍需实验记录支持。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效果确认：逐项检查目标是否达成（75 秒）</a:t>
            </a:r>
          </a:p>
          <a:p xmlns:a="http://schemas.openxmlformats.org/drawingml/2006/main">
            <a:r>
              <a:t>效果确认必须回到  到 支持复用，而不是只列功能。</a:t>
            </a:r>
          </a:p>
          <a:p xmlns:a="http://schemas.openxmlformats.org/drawingml/2006/main">
            <a:r>
              <a:t>用同口径数量核对和漏项抽查检查持续跟踪。 用相近复杂度样本，对比纯人工与辅助后的总处理耗时。 同时评审候选有效性和被筛问题中的重要遗漏。 检查关键参数完整性、缺口识别及测试人员实际执行反馈。 检查记录完整性、交接使用和典型材料复用情况。</a:t>
            </a:r>
          </a:p>
          <a:p xmlns:a="http://schemas.openxmlformats.org/drawingml/2006/main">
            <a:r>
              <a:t>当前材料没有提供统一的前后对比统计，因此这些业务目标的达成情况应写为待确认。我们可以展示解决方案和操作记录，但暂不能用它们替代实际收益结论。</a:t>
            </a:r>
          </a:p>
          <a:p xmlns:a="http://schemas.openxmlformats.org/drawingml/2006/main">
            <a:r>
              <a:t>这一页要回答的是：每个目标需要什么证据，证据是否齐全，以及下一轮如何得到可以下结论的结果。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效果确认：建立可重复的评价过程（40 秒）</a:t>
            </a:r>
          </a:p>
          <a:p xmlns:a="http://schemas.openxmlformats.org/drawingml/2006/main">
            <a:r>
              <a:t>建议选择一组代表样本，先记录人工基线，再用相近复杂度样本执行辅助流程，最后由人员审核并统计结果。样本需要覆盖缺陷、咨询、文档以及信息充分和不足的情况，避免只选择容易处理的案例。</a:t>
            </a:r>
          </a:p>
          <a:p xmlns:a="http://schemas.openxmlformats.org/drawingml/2006/main">
            <a:r>
              <a:t>同时记录审核修正耗时、失败和重试成本。对未达到目标的环节，回看材料、规则和实施方式，再进行调整和复评，使效果确认能够重复开展。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总结（30 秒）</a:t>
            </a:r>
          </a:p>
          <a:p xmlns:a="http://schemas.openxmlformats.org/drawingml/2006/main">
            <a:r>
              <a:t>本次改进以五项痛点为起点，通过鱼骨图和因果矩阵形成主因候选，再用五组对策分别应对。AI 分析服务于降低人工整理投入，统一台账、重点筛选、复现模板和记录沉淀则共同支撑问题管理与测试工作。</a:t>
            </a:r>
          </a:p>
          <a:p xmlns:a="http://schemas.openxmlformats.org/drawingml/2006/main">
            <a:r>
              <a:t>项目效果最终通过目标达成证据确认。我们将持续跟踪、分析质量和测试材料复用放在同一条改进链条中，用实际工作结果指导方案优化。谢谢大家。</a:t>
            </a:r>
          </a:p>
          <a:p xmlns:a="http://schemas.openxmlformats.org/drawingml/2006/main">
            <a:r>
              <a:t>来源：项目需求与使用反馈。因果矩阵为定性假设，效果需实际统计确认。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c6917956264bc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aa623e17d498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921e67507845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be3f145ee491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8328404b30447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bf3889b01b49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787BE1-127E-4160-AFDA-21A0ACB250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1B68BDA-F8C6-4AD1-AA3B-0BB490A4E1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2EB2ABB-D5BA-4F53-992C-B20FA7CE41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C7121D-C305-4E2A-BC94-CADA64807E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C9E6A16-2D90-49F3-B3C2-ACF8D34E56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580EAB0-C13F-4D4C-88CB-CD1612E4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6807F3E-51DA-40FF-B377-A0FE2028F44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AE369D3-A98A-4A77-AC5F-7F2F70E2A77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9C04562-169F-4440-B3E4-7F4AC1E38D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2E7511E-08DC-424C-B022-1A6D3714AB7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2f96454d644d02" /><Relationship Type="http://schemas.openxmlformats.org/officeDocument/2006/relationships/slideLayout" Target="/ppt/slideLayouts/slideLayout1.xml" Id="R9b72a3e211ae4429" /><Relationship Type="http://schemas.openxmlformats.org/officeDocument/2006/relationships/slideLayout" Target="/ppt/slideLayouts/slideLayout2.xml" Id="R1c20e111ce1944a4" /><Relationship Type="http://schemas.openxmlformats.org/officeDocument/2006/relationships/slideLayout" Target="/ppt/slideLayouts/slideLayout3.xml" Id="Rc64c833845dd4fee" /><Relationship Type="http://schemas.openxmlformats.org/officeDocument/2006/relationships/slideLayout" Target="/ppt/slideLayouts/slideLayout4.xml" Id="Ra53fa0956a5d4bf6" /><Relationship Type="http://schemas.openxmlformats.org/officeDocument/2006/relationships/slideLayout" Target="/ppt/slideLayouts/slideLayout5.xml" Id="R00cc308cc0b44549" /><Relationship Type="http://schemas.openxmlformats.org/officeDocument/2006/relationships/slideLayout" Target="/ppt/slideLayouts/slideLayout6.xml" Id="R133d69a123b14c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72a3e211ae4429"/>
    <p:sldLayoutId xmlns:r="http://schemas.openxmlformats.org/officeDocument/2006/relationships" id="2147483650" r:id="R1c20e111ce1944a4"/>
    <p:sldLayoutId xmlns:r="http://schemas.openxmlformats.org/officeDocument/2006/relationships" id="2147483651" r:id="Rc64c833845dd4fee"/>
    <p:sldLayoutId xmlns:r="http://schemas.openxmlformats.org/officeDocument/2006/relationships" id="2147483652" r:id="Ra53fa0956a5d4bf6"/>
    <p:sldLayoutId xmlns:r="http://schemas.openxmlformats.org/officeDocument/2006/relationships" id="2147483653" r:id="R00cc308cc0b44549"/>
    <p:sldLayoutId xmlns:r="http://schemas.openxmlformats.org/officeDocument/2006/relationships" id="2147483654" r:id="R133d69a123b14c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db51c9b7704c8b" /><Relationship Type="http://schemas.openxmlformats.org/officeDocument/2006/relationships/notesSlide" Target="/ppt/notesSlides/notesSlide1.xml" Id="R27a5ff7bbd9f45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365bd6ba7745c8" /><Relationship Type="http://schemas.openxmlformats.org/officeDocument/2006/relationships/notesSlide" Target="/ppt/notesSlides/notesSlide2.xml" Id="Rf6878517485145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1fe95ffa934f4f" /><Relationship Type="http://schemas.openxmlformats.org/officeDocument/2006/relationships/image" Target="/ppt/media/image.png" Id="R9956a0f6ae654b5d" /><Relationship Type="http://schemas.openxmlformats.org/officeDocument/2006/relationships/image" Target="/ppt/media/image.svg" Id="Rd0ed3e3255fc430a" /><Relationship Type="http://schemas.openxmlformats.org/officeDocument/2006/relationships/notesSlide" Target="/ppt/notesSlides/notesSlide3.xml" Id="R128f9034fc74485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ccf222a8e54d28" /><Relationship Type="http://schemas.openxmlformats.org/officeDocument/2006/relationships/notesSlide" Target="/ppt/notesSlides/notesSlide4.xml" Id="R603ab8f94cea4aa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56f09476bd4d86" /><Relationship Type="http://schemas.openxmlformats.org/officeDocument/2006/relationships/notesSlide" Target="/ppt/notesSlides/notesSlide5.xml" Id="R8500f4d4565e431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c7ce7061147c6" /><Relationship Type="http://schemas.openxmlformats.org/officeDocument/2006/relationships/notesSlide" Target="/ppt/notesSlides/notesSlide6.xml" Id="Ra6d43978639645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c4fa52a1964b82" /><Relationship Type="http://schemas.openxmlformats.org/officeDocument/2006/relationships/notesSlide" Target="/ppt/notesSlides/notesSlide7.xml" Id="R642b95e1304341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aceaa2b4c144e6" /><Relationship Type="http://schemas.openxmlformats.org/officeDocument/2006/relationships/notesSlide" Target="/ppt/notesSlides/notesSlide8.xml" Id="Rcc61001555e64e8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5ffe4b7e634f65" /><Relationship Type="http://schemas.openxmlformats.org/officeDocument/2006/relationships/notesSlide" Target="/ppt/notesSlides/notesSlide9.xml" Id="R32fdfc0730144f5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a4f96ed334435" /><Relationship Type="http://schemas.openxmlformats.org/officeDocument/2006/relationships/notesSlide" Target="/ppt/notesSlides/notesSlide10.xml" Id="R9662942891bd43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849662d0cd460e" /><Relationship Type="http://schemas.openxmlformats.org/officeDocument/2006/relationships/notesSlide" Target="/ppt/notesSlides/notesSlide11.xml" Id="Re32059688f364e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71279c8efb4caa" /><Relationship Type="http://schemas.openxmlformats.org/officeDocument/2006/relationships/notesSlide" Target="/ppt/notesSlides/notesSlide12.xml" Id="R1aca10586ff54b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853109d4ee41e4" /><Relationship Type="http://schemas.openxmlformats.org/officeDocument/2006/relationships/notesSlide" Target="/ppt/notesSlides/notesSlide13.xml" Id="Rd9cc47f3b9d84f4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d4ebbb66984a90" /><Relationship Type="http://schemas.openxmlformats.org/officeDocument/2006/relationships/notesSlide" Target="/ppt/notesSlides/notesSlide14.xml" Id="R1393e18ef82544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8387cb03b843e2" /><Relationship Type="http://schemas.openxmlformats.org/officeDocument/2006/relationships/notesSlide" Target="/ppt/notesSlides/notesSlide15.xml" Id="R5b7ef68e2e5d41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681CA8-DDCF-4200-8710-A4168891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issue-tracker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712D089-AE24-42C1-9A23-5B4EA701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社区问题管理与测试分析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DE5992-B36B-4EB4-A502-1D7E60462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F65D59E-ACEC-4E63-B8BC-9BC195BB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72F7DB-117A-4794-8A09-AFFC4C3C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cover-subject">
            <a:extLst xmlns:a="http://schemas.openxmlformats.org/drawingml/2006/main">
              <a:ext uri="{FF2B5EF4-FFF2-40B4-BE49-F238E27FC236}">
                <a16:creationId xmlns:a16="http://schemas.microsoft.com/office/drawing/2014/main" id="{74F1CD09-9E82-4F34-B45F-A07E1A8F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38500"/>
            <a:ext cx="15811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项目改进汇报</a:t>
            </a:r>
          </a:p>
        </p:txBody>
      </p:sp>
      <p:sp>
        <p:nvSpPr>
          <p:cNvPr id="8" name="cover-narrative">
            <a:extLst xmlns:a="http://schemas.openxmlformats.org/drawingml/2006/main">
              <a:ext uri="{FF2B5EF4-FFF2-40B4-BE49-F238E27FC236}">
                <a16:creationId xmlns:a16="http://schemas.microsoft.com/office/drawing/2014/main" id="{6354D3C4-6CF6-4843-B4D9-56A1C5A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38750"/>
            <a:ext cx="1581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现状调查、原因分析、目标与对策效果验证</a:t>
            </a:r>
          </a:p>
        </p:txBody>
      </p:sp>
      <p:sp>
        <p:nvSpPr>
          <p:cNvPr id="9" name="cover-date">
            <a:extLst xmlns:a="http://schemas.openxmlformats.org/drawingml/2006/main">
              <a:ext uri="{FF2B5EF4-FFF2-40B4-BE49-F238E27FC236}">
                <a16:creationId xmlns:a16="http://schemas.microsoft.com/office/drawing/2014/main" id="{FB7F249C-3263-409F-9843-4D2130637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934325"/>
            <a:ext cx="1428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2026 年 10 月</a:t>
            </a:r>
          </a:p>
        </p:txBody>
      </p:sp>
    </p:spTree>
    <p:extLst>
      <p:ext uri="{BB962C8B-B14F-4D97-AF65-F5344CB8AC3E}">
        <p14:creationId xmlns:p14="http://schemas.microsoft.com/office/powerpoint/2010/main" val="13573667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0C7B08-0979-452B-AC91-E87B0796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现状调查：五项主要痛点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DCBBA08-F327-4950-B0CB-285BAA35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来自项目需求与此前使用反馈，定量基线需要补充调查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BC3FB-DCA8-4E6F-BCA5-84429B8F5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2121EC-11DE-4281-B864-AF40EE09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B0BC4A-77D8-466E-A297-AAC34930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EB954-A4C0-4928-B7FE-BE54B34F7567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7858125"/>
                <a:gridCol w="5143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具体表现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对工作的影响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新增和历史更新需要持续查看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关键材料、评论与状态变化分散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反复查找与核对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存在跟踪遗漏风险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长正文和多轮评论依赖人工阅读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需要逐条提取现象、环境与进展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资料准备占用分析精力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集中梳理耗时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缺陷、文档、咨询与 RFC 混杂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价值和复现条件需要分别判断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测试资源投入难选择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重要问题容易被淹没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模型、量化、并行、硬件和版本复杂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缺失参数和触发条件不明确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复现准备需要重新整理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难判断是否具备执行条件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结论、补测和处理进展分散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团队交接缺少统一查看入口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重复阅读与重复分析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典型测试场景难积累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BD16743C-9C05-4EEB-AA63-43DDE122D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调查补充：记录样本范围、查找与阅读耗时、配置缺失项和交接重复工作。</a:t>
            </a:r>
          </a:p>
        </p:txBody>
      </p:sp>
    </p:spTree>
    <p:extLst>
      <p:ext uri="{BB962C8B-B14F-4D97-AF65-F5344CB8AC3E}">
        <p14:creationId xmlns:p14="http://schemas.microsoft.com/office/powerpoint/2010/main" val="13576504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74FF2C-4385-44F6-A7D8-6C90575A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根因分析：鱼骨图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AC6AE8B-5528-4272-9CD2-72AC0C848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从六个方面展开可能原因，为主因确认提供候选因素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737B7-3E6F-4AE4-8AA8-F40AD072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F5516F79-85B4-444D-B18F-B1302E7D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E7DC8E8-5F1A-44BA-82C3-F7C9C47B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571EC-1E36-426D-A5B8-7B586CB64B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56a0f6ae654b5d">
            <a:extLst>
              <a:ext uri="{96DAC541-7B7A-43D3-8B79-37D633B846F1}">
                <asvg:svgBlip xmlns:asvg="http://schemas.microsoft.com/office/drawing/2016/SVG/main" r:embed="Rd0ed3e3255fc430a"/>
              </a:ext>
            </a:extLst>
          </a:blip>
          <a:srcRect xmlns:a="http://schemas.openxmlformats.org/drawingml/2006/main" l="0" t="17000" r="0" b="10000"/>
          <a:stretch xmlns:a="http://schemas.openxmlformats.org/drawingml/2006/main"/>
        </p:blipFill>
        <p:spPr>
          <a:xfrm xmlns:a="http://schemas.openxmlformats.org/drawingml/2006/main">
            <a:off x="476250" y="2476500"/>
            <a:ext cx="17335500" cy="6191250"/>
          </a:xfrm>
          <a:prstGeom xmlns:a="http://schemas.openxmlformats.org/drawingml/2006/main" prst="rect">
            <a:avLst/>
          </a:prstGeom>
        </p:spPr>
      </p:pic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52BF3AC6-9613-4030-92AB-DB6313D0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鱼骨图展开原因假设，不能替代流程走查、样本核验和实验确认。</a:t>
            </a:r>
          </a:p>
        </p:txBody>
      </p:sp>
    </p:spTree>
    <p:extLst>
      <p:ext uri="{BB962C8B-B14F-4D97-AF65-F5344CB8AC3E}">
        <p14:creationId xmlns:p14="http://schemas.microsoft.com/office/powerpoint/2010/main" val="3661886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E8B6A22-C102-45CF-883B-4A8FE2B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目标设定：痛点对应验收依据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CBF20AB-EB3B-472B-A8A6-FA8A0C1E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整体目标：持续跟踪社区问题，降低整理投入，支撑测试分析与经验复用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29D51E-CEFB-49FE-BE6E-6FA60193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AD1A765-BFA1-43A8-BA0F-2A3BD528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B93742-5CCB-4334-BF2E-4AE29823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09D68-2330-4D2E-B0CD-20D9861EAE91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86125"/>
                <a:gridCol w="6572250"/>
                <a:gridCol w="6429375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对应目标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目标要求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验收口径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跟踪可靠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问题获取与更新有统一范围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支持完整性核对和历史校准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同仓库、同时间、同筛选口径核对一致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抽查无漏项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降低投入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相近复杂度下减少人工整理投入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审核与修正计入人工总耗时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对比纯人工基线与辅助流程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人工总耗时低于基线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聚焦重点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候选清单支持测试投入选择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同时关注重要问题遗漏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评审候选有效性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抽查被筛问题中的重要遗漏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支持复现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关键配置与触发条件清楚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信息缺口可识别、可补采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按模板检查参数和待确认项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由测试人员判断是否具备验证条件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分析结论和进展可接续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典型材料可以再次使用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检查交接使用和材料复用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关联来源 Issue 与测试验证记录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6CFB811F-D594-4264-A0D1-BF82E88D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具体比例阈值在取得第一轮基线后评审确定，此处列出目标与验收口径。</a:t>
            </a:r>
          </a:p>
        </p:txBody>
      </p:sp>
    </p:spTree>
    <p:extLst>
      <p:ext uri="{BB962C8B-B14F-4D97-AF65-F5344CB8AC3E}">
        <p14:creationId xmlns:p14="http://schemas.microsoft.com/office/powerpoint/2010/main" val="1693371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712AA2E-FFB7-442E-874E-F5EA92239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根因确认：初步因果关联矩阵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A8C37F-C83D-467B-9B58-C91562735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矩阵为现有材料下的定性判断，强、中、弱表示关联假设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5E4EB-9B08-47AD-96A9-D35F94D5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E3AFF605-BD62-4F37-8365-40615F0A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5900429-FE01-44C0-8E22-8448DA14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3C400-9BC5-4F31-8AFA-2EE790C3BC5F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2095500"/>
                <a:gridCol w="2095500"/>
                <a:gridCol w="2095500"/>
                <a:gridCol w="2095500"/>
                <a:gridCol w="2095500"/>
              </a:tblGrid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原因候选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人工投入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重点筛选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经验复用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缺少持续同步与统一入口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正文评论归纳依赖人工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缺少统一评价筛选口径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缺少结构化复现材料模板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715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分析结论分散存放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/>
                      <a:r>
                        <a:rPr sz="2250" b="1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BF0F1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71BE9F80-701A-4A50-89CE-387BFA1B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rPr>
              <a:t>不将矩阵当作正式评分或根因证据，优先核验与目标关联直接的因素。</a:t>
            </a:r>
          </a:p>
        </p:txBody>
      </p:sp>
    </p:spTree>
    <p:extLst>
      <p:ext uri="{BB962C8B-B14F-4D97-AF65-F5344CB8AC3E}">
        <p14:creationId xmlns:p14="http://schemas.microsoft.com/office/powerpoint/2010/main" val="4290472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0E5F61-7167-4055-A908-63EB809E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根因确认：主因候选与验证办法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2D5DF8-5464-4EFA-A97E-0AD8B3FF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将五项原因候选归并为三组主因，逐项检查作用机制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B75700-A948-4C05-9065-D447AB3D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529CFFC-517E-47EC-BAB2-956319FA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D0D1C1-D303-48A7-9191-56B8CD6A0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87750-302A-4987-A4EC-F25F6EE2B87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5572125"/>
                <a:gridCol w="7000875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主因候选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对应原因与痛点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验证办法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统一载体不足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持续同步与入口不足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分析结论分散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主要对应 持续跟踪、经验复用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走查专项分析与交接过程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记录入口、重复收集和结论查找情况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比较统一台账前后的工作方式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人工归纳与提取依赖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正文评论依赖人工归纳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复现材料缺少模板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主要对应 人工投入、复现材料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选取相近复杂度的 Issue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记录阅读、提取、审核和修正耗时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检查关键配置与信息缺口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663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评价口径不统一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价值与复现性评价口径不足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主要对应 重点筛选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同时影响复现准备的判断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多人独立评审同一批样本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比较候选有效性和分歧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抽查筛选遗漏，复评规则调整效果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07C65F2F-DE50-4B78-8A0A-21B2AA8D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rPr>
              <a:t>当前为主因假设，需结合过程证据和针对性调整后的结果确认。</a:t>
            </a:r>
          </a:p>
        </p:txBody>
      </p:sp>
    </p:spTree>
    <p:extLst>
      <p:ext uri="{BB962C8B-B14F-4D97-AF65-F5344CB8AC3E}">
        <p14:creationId xmlns:p14="http://schemas.microsoft.com/office/powerpoint/2010/main" val="2403476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AC5DD4-4658-4B1F-A420-8A84E407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拟定对策：每项痛点对应一组措施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BBD44DA-DAA0-47E0-B7A6-0E1F8D33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用明确的痛点、主因候选和目标组织解决方案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4F2C9-2715-4D4A-9A03-7A8D3E7EF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1FA2FA24-B30A-43D6-8E04-AB8B4AEB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3949580-8EE3-4554-99B7-3F472185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402F7-5743-40C0-9FB4-53A93D674B2D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7810500"/>
                <a:gridCol w="4381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痛点与主因候选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拟定对策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直接产出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持续跟踪困难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统一载体不足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全量、增量同步与手动校准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建立统一台账，明确统计与核对范围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持续维护的问题台账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专项清单与核对记录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人工整理投入大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人工归纳与提取依赖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AI 辅助归纳与批量任务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人员核对原文、修正并采纳建议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待审核的结构化分析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批量任务与审核记录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重点问题筛选难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评价口径不统一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多维筛选与统一评价口径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候选排序结合完整列表人工复查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重点验证候选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筛选依据与复查结果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复现材料不完整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人工提取与评价口径共同影响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结构化整理复现材料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列出配置、触发场景、断言及信息缺口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复现材料模板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待确认参数清单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分析经验难复用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统一载体不足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分析记录、处理状态与评审导出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整理典型问题及测试验证材料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可接续的分析台账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典型场景与复用材料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37C1D368-FE47-48EC-A7EB-CAA590CD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AI 分析直接服务于降低人工整理投入，其他对策分别改善跟踪、筛选、复现与复用。</a:t>
            </a:r>
          </a:p>
        </p:txBody>
      </p:sp>
    </p:spTree>
    <p:extLst>
      <p:ext uri="{BB962C8B-B14F-4D97-AF65-F5344CB8AC3E}">
        <p14:creationId xmlns:p14="http://schemas.microsoft.com/office/powerpoint/2010/main" val="10719355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C53EB30-3079-4325-A8FD-481D83A4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对策实施：持续同步与统一台账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3BF125A-4380-407D-87CC-C810698B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对应持续跟踪困难，服务跟踪可靠目标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B66490-445D-4D0B-A195-236A1BC00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7735B6EA-D35D-403E-A950-0927F2B2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015900A-D256-4ED7-BFF9-080BE0C8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7" name="implementation-heading-0">
            <a:extLst xmlns:a="http://schemas.openxmlformats.org/drawingml/2006/main">
              <a:ext uri="{FF2B5EF4-FFF2-40B4-BE49-F238E27FC236}">
                <a16:creationId xmlns:a16="http://schemas.microsoft.com/office/drawing/2014/main" id="{94403AEE-783A-485A-AD74-5F5DB38F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统一同步范围</a:t>
            </a:r>
          </a:p>
        </p:txBody>
      </p:sp>
      <p:sp>
        <p:nvSpPr>
          <p:cNvPr id="8" name="implementation-body-0">
            <a:extLst xmlns:a="http://schemas.openxmlformats.org/drawingml/2006/main">
              <a:ext uri="{FF2B5EF4-FFF2-40B4-BE49-F238E27FC236}">
                <a16:creationId xmlns:a16="http://schemas.microsoft.com/office/drawing/2014/main" id="{2C5FFF5E-1896-4C78-B49C-ABD2563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明确仓库、时间和状态口径，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支持数量核对。</a:t>
            </a:r>
          </a:p>
        </p:txBody>
      </p:sp>
      <p:sp>
        <p:nvSpPr>
          <p:cNvPr id="9" name="implementation-heading-1">
            <a:extLst xmlns:a="http://schemas.openxmlformats.org/drawingml/2006/main">
              <a:ext uri="{FF2B5EF4-FFF2-40B4-BE49-F238E27FC236}">
                <a16:creationId xmlns:a16="http://schemas.microsoft.com/office/drawing/2014/main" id="{5A2A3C1E-8AA6-4179-908A-5C638208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持续跟进更新</a:t>
            </a:r>
          </a:p>
        </p:txBody>
      </p:sp>
      <p:sp>
        <p:nvSpPr>
          <p:cNvPr id="10" name="implementation-body-1">
            <a:extLst xmlns:a="http://schemas.openxmlformats.org/drawingml/2006/main">
              <a:ext uri="{FF2B5EF4-FFF2-40B4-BE49-F238E27FC236}">
                <a16:creationId xmlns:a16="http://schemas.microsoft.com/office/drawing/2014/main" id="{FF2A231D-52BF-48E6-9B79-1D7C76C9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全量获取与日常增量同步结合，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手动校准历史数据。</a:t>
            </a:r>
          </a:p>
        </p:txBody>
      </p:sp>
      <p:sp>
        <p:nvSpPr>
          <p:cNvPr id="11" name="implementation-heading-2">
            <a:extLst xmlns:a="http://schemas.openxmlformats.org/drawingml/2006/main">
              <a:ext uri="{FF2B5EF4-FFF2-40B4-BE49-F238E27FC236}">
                <a16:creationId xmlns:a16="http://schemas.microsoft.com/office/drawing/2014/main" id="{A35106A3-1DBC-4672-A57F-A6C211FEB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保留人工积累</a:t>
            </a:r>
          </a:p>
        </p:txBody>
      </p:sp>
      <p:sp>
        <p:nvSpPr>
          <p:cNvPr id="12" name="implementation-body-2">
            <a:extLst xmlns:a="http://schemas.openxmlformats.org/drawingml/2006/main">
              <a:ext uri="{FF2B5EF4-FFF2-40B4-BE49-F238E27FC236}">
                <a16:creationId xmlns:a16="http://schemas.microsoft.com/office/drawing/2014/main" id="{4D636E5E-610E-4E33-BA0E-40FC057A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817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社区信息与本地分析分开维护，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更新时保留人工内容。</a:t>
            </a:r>
          </a:p>
        </p:txBody>
      </p:sp>
      <p:sp>
        <p:nvSpPr>
          <p:cNvPr id="13" name="implementation-heading-3">
            <a:extLst xmlns:a="http://schemas.openxmlformats.org/drawingml/2006/main">
              <a:ext uri="{FF2B5EF4-FFF2-40B4-BE49-F238E27FC236}">
                <a16:creationId xmlns:a16="http://schemas.microsoft.com/office/drawing/2014/main" id="{C321276E-7F8A-4A73-BEA7-8691A5E1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342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形成专项清单</a:t>
            </a:r>
          </a:p>
        </p:txBody>
      </p:sp>
      <p:sp>
        <p:nvSpPr>
          <p:cNvPr id="14" name="implementation-body-3">
            <a:extLst xmlns:a="http://schemas.openxmlformats.org/drawingml/2006/main">
              <a:ext uri="{FF2B5EF4-FFF2-40B4-BE49-F238E27FC236}">
                <a16:creationId xmlns:a16="http://schemas.microsoft.com/office/drawing/2014/main" id="{C3D2081D-2FC5-449A-8323-EACFBA89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390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按日期、状态和标签筛选，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抽查缺漏和更新情况。</a:t>
            </a:r>
          </a:p>
        </p:txBody>
      </p:sp>
      <p:sp>
        <p:nvSpPr>
          <p:cNvPr id="15" name="screenshot-label">
            <a:extLst xmlns:a="http://schemas.openxmlformats.org/drawingml/2006/main">
              <a:ext uri="{FF2B5EF4-FFF2-40B4-BE49-F238E27FC236}">
                <a16:creationId xmlns:a16="http://schemas.microsoft.com/office/drawing/2014/main" id="{CEEC10A9-3B28-4359-80D0-AB05B886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实际效果：同步台账与状态</a:t>
            </a:r>
          </a:p>
        </p:txBody>
      </p:sp>
      <p:sp>
        <p:nvSpPr>
          <p:cNvPr id="16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A6AD7DBB-3C2A-424A-8AF3-4EE63AB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7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D41A4433-87C8-4487-AD76-2A3725DC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8" name="screenshot-hint">
            <a:extLst xmlns:a="http://schemas.openxmlformats.org/drawingml/2006/main">
              <a:ext uri="{FF2B5EF4-FFF2-40B4-BE49-F238E27FC236}">
                <a16:creationId xmlns:a16="http://schemas.microsoft.com/office/drawing/2014/main" id="{8A763D5C-B58C-4348-86E7-F6AB04A3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57875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建议粘贴问题列表、同步状态和数量核对截图</a:t>
            </a:r>
          </a:p>
        </p:txBody>
      </p:sp>
      <p:sp>
        <p:nvSpPr>
          <p:cNvPr id="19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B746DCC0-47A8-4C98-A241-1E5C555B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评价重点是同口径核对、漏项抽查和更新及时性，任务结束不能替代效果确认。</a:t>
            </a:r>
          </a:p>
        </p:txBody>
      </p:sp>
    </p:spTree>
    <p:extLst>
      <p:ext uri="{BB962C8B-B14F-4D97-AF65-F5344CB8AC3E}">
        <p14:creationId xmlns:p14="http://schemas.microsoft.com/office/powerpoint/2010/main" val="6567590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25ACCC-54A5-4DA8-91D3-0D1F88DC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对策实施：AI 与批量任务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82B0B0-2DE6-42B3-9C41-DCB7D471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对应人工整理投入大，服务降低人工总投入目标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7917BF-74C7-409F-ABCD-992AAA58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84480722-B0DD-4094-8AC7-9ED1014F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6F2A71-1A2D-4B88-B3E9-4BAFFD49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7" name="implementation-heading-0">
            <a:extLst xmlns:a="http://schemas.openxmlformats.org/drawingml/2006/main">
              <a:ext uri="{FF2B5EF4-FFF2-40B4-BE49-F238E27FC236}">
                <a16:creationId xmlns:a16="http://schemas.microsoft.com/office/drawing/2014/main" id="{570A1F5B-9CAE-4E9D-ADDF-5481FDA26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准备分析材料</a:t>
            </a:r>
          </a:p>
        </p:txBody>
      </p:sp>
      <p:sp>
        <p:nvSpPr>
          <p:cNvPr id="8" name="implementation-body-0">
            <a:extLst xmlns:a="http://schemas.openxmlformats.org/drawingml/2006/main">
              <a:ext uri="{FF2B5EF4-FFF2-40B4-BE49-F238E27FC236}">
                <a16:creationId xmlns:a16="http://schemas.microsoft.com/office/drawing/2014/main" id="{6CA5F1CF-98A9-48BB-B22B-C31B09D79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结合正文、评论与已有分析，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明确来源和信息缺口。</a:t>
            </a:r>
          </a:p>
        </p:txBody>
      </p:sp>
      <p:sp>
        <p:nvSpPr>
          <p:cNvPr id="9" name="implementation-heading-1">
            <a:extLst xmlns:a="http://schemas.openxmlformats.org/drawingml/2006/main">
              <a:ext uri="{FF2B5EF4-FFF2-40B4-BE49-F238E27FC236}">
                <a16:creationId xmlns:a16="http://schemas.microsoft.com/office/drawing/2014/main" id="{23A64F19-F54B-43B8-AEF7-A56AA093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辅助结构化归纳</a:t>
            </a:r>
          </a:p>
        </p:txBody>
      </p:sp>
      <p:sp>
        <p:nvSpPr>
          <p:cNvPr id="10" name="implementation-body-1">
            <a:extLst xmlns:a="http://schemas.openxmlformats.org/drawingml/2006/main">
              <a:ext uri="{FF2B5EF4-FFF2-40B4-BE49-F238E27FC236}">
                <a16:creationId xmlns:a16="http://schemas.microsoft.com/office/drawing/2014/main" id="{DC6038E3-2E7A-4F27-B08C-0B61BEF13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整理摘要与补测建议，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区分事实、推测和待确认项。</a:t>
            </a:r>
          </a:p>
        </p:txBody>
      </p:sp>
      <p:sp>
        <p:nvSpPr>
          <p:cNvPr id="11" name="implementation-heading-2">
            <a:extLst xmlns:a="http://schemas.openxmlformats.org/drawingml/2006/main">
              <a:ext uri="{FF2B5EF4-FFF2-40B4-BE49-F238E27FC236}">
                <a16:creationId xmlns:a16="http://schemas.microsoft.com/office/drawing/2014/main" id="{E22A3BDB-E073-464E-A28B-1D05EBE6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批量执行任务</a:t>
            </a:r>
          </a:p>
        </p:txBody>
      </p:sp>
      <p:sp>
        <p:nvSpPr>
          <p:cNvPr id="12" name="implementation-body-2">
            <a:extLst xmlns:a="http://schemas.openxmlformats.org/drawingml/2006/main">
              <a:ext uri="{FF2B5EF4-FFF2-40B4-BE49-F238E27FC236}">
                <a16:creationId xmlns:a16="http://schemas.microsoft.com/office/drawing/2014/main" id="{6379BC85-A61C-4457-9E15-6A5587C79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817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勾选问题或按筛选范围执行，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查看并发进度和失败项。</a:t>
            </a:r>
          </a:p>
        </p:txBody>
      </p:sp>
      <p:sp>
        <p:nvSpPr>
          <p:cNvPr id="13" name="implementation-heading-3">
            <a:extLst xmlns:a="http://schemas.openxmlformats.org/drawingml/2006/main">
              <a:ext uri="{FF2B5EF4-FFF2-40B4-BE49-F238E27FC236}">
                <a16:creationId xmlns:a16="http://schemas.microsoft.com/office/drawing/2014/main" id="{70E1EE80-7191-4A2B-B587-5BF77299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342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人工审核采纳</a:t>
            </a:r>
          </a:p>
        </p:txBody>
      </p:sp>
      <p:sp>
        <p:nvSpPr>
          <p:cNvPr id="14" name="implementation-body-3">
            <a:extLst xmlns:a="http://schemas.openxmlformats.org/drawingml/2006/main">
              <a:ext uri="{FF2B5EF4-FFF2-40B4-BE49-F238E27FC236}">
                <a16:creationId xmlns:a16="http://schemas.microsoft.com/office/drawing/2014/main" id="{E755E713-63F2-486B-ABBA-9BBB5F84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390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核对原文并修正建议，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将审核时间计入总投入。</a:t>
            </a:r>
          </a:p>
        </p:txBody>
      </p:sp>
      <p:sp>
        <p:nvSpPr>
          <p:cNvPr id="15" name="screenshot-label">
            <a:extLst xmlns:a="http://schemas.openxmlformats.org/drawingml/2006/main">
              <a:ext uri="{FF2B5EF4-FFF2-40B4-BE49-F238E27FC236}">
                <a16:creationId xmlns:a16="http://schemas.microsoft.com/office/drawing/2014/main" id="{F82829D4-831D-4966-A4F2-E47A3943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实际效果：AI 分析与批量任务</a:t>
            </a:r>
          </a:p>
        </p:txBody>
      </p:sp>
      <p:sp>
        <p:nvSpPr>
          <p:cNvPr id="16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D53AA01D-21F3-4971-BFBC-5241C7DD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7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88B36C54-A100-46A1-A763-D2282147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8" name="screenshot-hint">
            <a:extLst xmlns:a="http://schemas.openxmlformats.org/drawingml/2006/main">
              <a:ext uri="{FF2B5EF4-FFF2-40B4-BE49-F238E27FC236}">
                <a16:creationId xmlns:a16="http://schemas.microsoft.com/office/drawing/2014/main" id="{3B3DEF92-0B35-4269-977A-771C92EA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57875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建议粘贴分析建议、审核采纳或批量任务进度截图</a:t>
            </a:r>
          </a:p>
        </p:txBody>
      </p:sp>
      <p:sp>
        <p:nvSpPr>
          <p:cNvPr id="19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06412191-0BEB-4053-9BA2-F356E5EA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rPr>
              <a:t>AI 分析仍需评估，效果统计包含人工审核与修正，不能以生成建议数量代替效率收益。</a:t>
            </a:r>
          </a:p>
        </p:txBody>
      </p:sp>
    </p:spTree>
    <p:extLst>
      <p:ext uri="{BB962C8B-B14F-4D97-AF65-F5344CB8AC3E}">
        <p14:creationId xmlns:p14="http://schemas.microsoft.com/office/powerpoint/2010/main" val="16643432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099A878-577E-442F-B72E-9B0DEADD0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对策实施：重点筛选与复现材料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F6B73C8-118F-4782-868E-061FC8951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对应重点筛选、复现材料，服务重点投入和测试准备目标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41AC9-2F12-48A9-AE51-8E751613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AD162342-6451-4CF7-8855-069574276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33A876-BDE5-4A0D-A1EB-2964A38A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7" name="implementation-heading-0">
            <a:extLst xmlns:a="http://schemas.openxmlformats.org/drawingml/2006/main">
              <a:ext uri="{FF2B5EF4-FFF2-40B4-BE49-F238E27FC236}">
                <a16:creationId xmlns:a16="http://schemas.microsoft.com/office/drawing/2014/main" id="{78A9403E-8FDB-46D8-8420-8E0A7483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筛选验证候选</a:t>
            </a:r>
          </a:p>
        </p:txBody>
      </p:sp>
      <p:sp>
        <p:nvSpPr>
          <p:cNvPr id="8" name="implementation-body-0">
            <a:extLst xmlns:a="http://schemas.openxmlformats.org/drawingml/2006/main">
              <a:ext uri="{FF2B5EF4-FFF2-40B4-BE49-F238E27FC236}">
                <a16:creationId xmlns:a16="http://schemas.microsoft.com/office/drawing/2014/main" id="{DED19D09-7680-43C0-B37B-7BCA35BB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结合日期、版本、价值和复现条件收敛问题范围。</a:t>
            </a:r>
          </a:p>
        </p:txBody>
      </p:sp>
      <p:sp>
        <p:nvSpPr>
          <p:cNvPr id="9" name="implementation-heading-1">
            <a:extLst xmlns:a="http://schemas.openxmlformats.org/drawingml/2006/main">
              <a:ext uri="{FF2B5EF4-FFF2-40B4-BE49-F238E27FC236}">
                <a16:creationId xmlns:a16="http://schemas.microsoft.com/office/drawing/2014/main" id="{6C96021D-65FF-42B9-8519-757C2B91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保留人工复查</a:t>
            </a:r>
          </a:p>
        </p:txBody>
      </p:sp>
      <p:sp>
        <p:nvSpPr>
          <p:cNvPr id="10" name="implementation-body-1">
            <a:extLst xmlns:a="http://schemas.openxmlformats.org/drawingml/2006/main">
              <a:ext uri="{FF2B5EF4-FFF2-40B4-BE49-F238E27FC236}">
                <a16:creationId xmlns:a16="http://schemas.microsoft.com/office/drawing/2014/main" id="{518B3DEA-538E-4981-A770-99539A102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过滤文档、RFC 等类型，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同时复查重要问题遗漏。</a:t>
            </a:r>
          </a:p>
        </p:txBody>
      </p:sp>
      <p:sp>
        <p:nvSpPr>
          <p:cNvPr id="11" name="implementation-heading-2">
            <a:extLst xmlns:a="http://schemas.openxmlformats.org/drawingml/2006/main">
              <a:ext uri="{FF2B5EF4-FFF2-40B4-BE49-F238E27FC236}">
                <a16:creationId xmlns:a16="http://schemas.microsoft.com/office/drawing/2014/main" id="{B28B4297-05D6-4BF8-A08D-A5098F66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整理关键配置</a:t>
            </a:r>
          </a:p>
        </p:txBody>
      </p:sp>
      <p:sp>
        <p:nvSpPr>
          <p:cNvPr id="12" name="implementation-body-2">
            <a:extLst xmlns:a="http://schemas.openxmlformats.org/drawingml/2006/main">
              <a:ext uri="{FF2B5EF4-FFF2-40B4-BE49-F238E27FC236}">
                <a16:creationId xmlns:a16="http://schemas.microsoft.com/office/drawing/2014/main" id="{B61512D9-75B0-41D2-828A-E75A974C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817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提取模型、量化与并行配置，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明确 A2/A3/A5 环境和软件版本。</a:t>
            </a:r>
          </a:p>
        </p:txBody>
      </p:sp>
      <p:sp>
        <p:nvSpPr>
          <p:cNvPr id="13" name="implementation-heading-3">
            <a:extLst xmlns:a="http://schemas.openxmlformats.org/drawingml/2006/main">
              <a:ext uri="{FF2B5EF4-FFF2-40B4-BE49-F238E27FC236}">
                <a16:creationId xmlns:a16="http://schemas.microsoft.com/office/drawing/2014/main" id="{20199110-C90D-4749-A165-6391AA0F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342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明确复现场景</a:t>
            </a:r>
          </a:p>
        </p:txBody>
      </p:sp>
      <p:sp>
        <p:nvSpPr>
          <p:cNvPr id="14" name="implementation-body-3">
            <a:extLst xmlns:a="http://schemas.openxmlformats.org/drawingml/2006/main">
              <a:ext uri="{FF2B5EF4-FFF2-40B4-BE49-F238E27FC236}">
                <a16:creationId xmlns:a16="http://schemas.microsoft.com/office/drawing/2014/main" id="{92ADEEB2-751B-44B2-AD17-FACEB27E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390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整理请求与触发条件，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缺失参数明确标为待确认。</a:t>
            </a:r>
          </a:p>
        </p:txBody>
      </p:sp>
      <p:sp>
        <p:nvSpPr>
          <p:cNvPr id="15" name="screenshot-label">
            <a:extLst xmlns:a="http://schemas.openxmlformats.org/drawingml/2006/main">
              <a:ext uri="{FF2B5EF4-FFF2-40B4-BE49-F238E27FC236}">
                <a16:creationId xmlns:a16="http://schemas.microsoft.com/office/drawing/2014/main" id="{9CF2A363-41E0-4AAC-85FA-66342A76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实际效果：筛选与复现材料</a:t>
            </a:r>
          </a:p>
        </p:txBody>
      </p:sp>
      <p:sp>
        <p:nvSpPr>
          <p:cNvPr id="16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D89423B6-49C9-4ECF-8F32-B5CA5D08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7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EBFA57A1-377C-43E1-A4D7-91728258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8" name="screenshot-hint">
            <a:extLst xmlns:a="http://schemas.openxmlformats.org/drawingml/2006/main">
              <a:ext uri="{FF2B5EF4-FFF2-40B4-BE49-F238E27FC236}">
                <a16:creationId xmlns:a16="http://schemas.microsoft.com/office/drawing/2014/main" id="{DC301F25-CF0B-4E88-B6FD-11FBBC3B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57875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建议粘贴重点候选列表或模型、环境配置分析截图</a:t>
            </a:r>
          </a:p>
        </p:txBody>
      </p:sp>
      <p:sp>
        <p:nvSpPr>
          <p:cNvPr id="19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98570F75-0A5E-44C9-99DD-BCEEEA6B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只能提取来源中明确提供的配置，版本与根因结论需要可靠资料或实验支持。</a:t>
            </a:r>
          </a:p>
        </p:txBody>
      </p:sp>
    </p:spTree>
    <p:extLst>
      <p:ext uri="{BB962C8B-B14F-4D97-AF65-F5344CB8AC3E}">
        <p14:creationId xmlns:p14="http://schemas.microsoft.com/office/powerpoint/2010/main" val="30626193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D12293-2EA2-487B-81A3-4493338C6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对策实施：分析沉淀与协作复用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DC2C9F9-DBC5-462C-97D1-C15A63F6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对应经验难复用，服务接续分析与材料复用目标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A8CB4-6FA3-4CB2-9E94-9CDD403C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93189384-16DC-47A1-ADCA-3C93222B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F8B10C8-457E-452E-9201-5D2734B3F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7" name="implementation-heading-0">
            <a:extLst xmlns:a="http://schemas.openxmlformats.org/drawingml/2006/main">
              <a:ext uri="{FF2B5EF4-FFF2-40B4-BE49-F238E27FC236}">
                <a16:creationId xmlns:a16="http://schemas.microsoft.com/office/drawing/2014/main" id="{A9319678-7D0F-430B-A82F-B1166F61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统一维护记录</a:t>
            </a:r>
          </a:p>
        </p:txBody>
      </p:sp>
      <p:sp>
        <p:nvSpPr>
          <p:cNvPr id="8" name="implementation-body-0">
            <a:extLst xmlns:a="http://schemas.openxmlformats.org/drawingml/2006/main">
              <a:ext uri="{FF2B5EF4-FFF2-40B4-BE49-F238E27FC236}">
                <a16:creationId xmlns:a16="http://schemas.microsoft.com/office/drawing/2014/main" id="{69F24F57-43F1-49E1-815F-864B023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707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记录识别结果、分析结论、补测建议与处理进展。</a:t>
            </a:r>
          </a:p>
        </p:txBody>
      </p:sp>
      <p:sp>
        <p:nvSpPr>
          <p:cNvPr id="9" name="implementation-heading-1">
            <a:extLst xmlns:a="http://schemas.openxmlformats.org/drawingml/2006/main">
              <a:ext uri="{FF2B5EF4-FFF2-40B4-BE49-F238E27FC236}">
                <a16:creationId xmlns:a16="http://schemas.microsoft.com/office/drawing/2014/main" id="{945CE473-1BED-4D0B-8397-BD42C82A9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1957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支持评审交接</a:t>
            </a:r>
          </a:p>
        </p:txBody>
      </p:sp>
      <p:sp>
        <p:nvSpPr>
          <p:cNvPr id="10" name="implementation-body-1">
            <a:extLst xmlns:a="http://schemas.openxmlformats.org/drawingml/2006/main">
              <a:ext uri="{FF2B5EF4-FFF2-40B4-BE49-F238E27FC236}">
                <a16:creationId xmlns:a16="http://schemas.microsoft.com/office/drawing/2014/main" id="{4CB6454F-FB6E-497A-AAC9-59E463095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按专题筛选与导出，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保留结论依据和待办信息。</a:t>
            </a:r>
          </a:p>
        </p:txBody>
      </p:sp>
      <p:sp>
        <p:nvSpPr>
          <p:cNvPr id="11" name="implementation-heading-2">
            <a:extLst xmlns:a="http://schemas.openxmlformats.org/drawingml/2006/main">
              <a:ext uri="{FF2B5EF4-FFF2-40B4-BE49-F238E27FC236}">
                <a16:creationId xmlns:a16="http://schemas.microsoft.com/office/drawing/2014/main" id="{0D19C668-B29C-40C6-AAE0-048687DE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76900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复用典型场景</a:t>
            </a:r>
          </a:p>
        </p:txBody>
      </p:sp>
      <p:sp>
        <p:nvSpPr>
          <p:cNvPr id="12" name="implementation-body-2">
            <a:extLst xmlns:a="http://schemas.openxmlformats.org/drawingml/2006/main">
              <a:ext uri="{FF2B5EF4-FFF2-40B4-BE49-F238E27FC236}">
                <a16:creationId xmlns:a16="http://schemas.microsoft.com/office/drawing/2014/main" id="{DF4D673F-1D24-47AD-9DA2-021C9E3DD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181725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关联来源 Issue、配置条件与验证结果，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积累测试材料。</a:t>
            </a:r>
          </a:p>
        </p:txBody>
      </p:sp>
      <p:sp>
        <p:nvSpPr>
          <p:cNvPr id="13" name="implementation-heading-3">
            <a:extLst xmlns:a="http://schemas.openxmlformats.org/drawingml/2006/main">
              <a:ext uri="{FF2B5EF4-FFF2-40B4-BE49-F238E27FC236}">
                <a16:creationId xmlns:a16="http://schemas.microsoft.com/office/drawing/2014/main" id="{35D6C40C-D301-4C2C-BEBC-00AD72CE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34225"/>
            <a:ext cx="619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观察实际使用</a:t>
            </a:r>
          </a:p>
        </p:txBody>
      </p:sp>
      <p:sp>
        <p:nvSpPr>
          <p:cNvPr id="14" name="implementation-body-3">
            <a:extLst xmlns:a="http://schemas.openxmlformats.org/drawingml/2006/main">
              <a:ext uri="{FF2B5EF4-FFF2-40B4-BE49-F238E27FC236}">
                <a16:creationId xmlns:a16="http://schemas.microsoft.com/office/drawing/2014/main" id="{FCA8A40B-4464-46DD-96C9-901E0672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3905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确认交接是否减少重复阅读，</a:t>
            </a:r>
          </a:p>
          <a:p xmlns:a="http://schemas.openxmlformats.org/drawingml/2006/main">
            <a:pPr algn="l">
              <a:def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典型材料是否再次使用。</a:t>
            </a:r>
          </a:p>
        </p:txBody>
      </p:sp>
      <p:sp>
        <p:nvSpPr>
          <p:cNvPr id="15" name="screenshot-label">
            <a:extLst xmlns:a="http://schemas.openxmlformats.org/drawingml/2006/main">
              <a:ext uri="{FF2B5EF4-FFF2-40B4-BE49-F238E27FC236}">
                <a16:creationId xmlns:a16="http://schemas.microsoft.com/office/drawing/2014/main" id="{93FDBF40-581F-4852-8B9D-195E36977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86050"/>
            <a:ext cx="942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实际效果：分析记录与评审导出</a:t>
            </a:r>
          </a:p>
        </p:txBody>
      </p:sp>
      <p:sp>
        <p:nvSpPr>
          <p:cNvPr id="16" name="截图预留区">
            <a:extLst xmlns:a="http://schemas.openxmlformats.org/drawingml/2006/main">
              <a:ext uri="{FF2B5EF4-FFF2-40B4-BE49-F238E27FC236}">
                <a16:creationId xmlns:a16="http://schemas.microsoft.com/office/drawing/2014/main" id="{7569C29F-399D-4A2C-8869-1164EBE7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81375"/>
            <a:ext cx="9429750" cy="530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0F1"/>
          </a:solidFill>
          <a:ln xmlns:a="http://schemas.openxmlformats.org/drawingml/2006/main" w="19050">
            <a:solidFill>
              <a:srgbClr val="B3262D"/>
            </a:solidFill>
          </a:ln>
        </p:spPr>
      </p:sp>
      <p:sp>
        <p:nvSpPr>
          <p:cNvPr id="17" name="screenshot-placeholder">
            <a:extLst xmlns:a="http://schemas.openxmlformats.org/drawingml/2006/main">
              <a:ext uri="{FF2B5EF4-FFF2-40B4-BE49-F238E27FC236}">
                <a16:creationId xmlns:a16="http://schemas.microsoft.com/office/drawing/2014/main" id="{FAA00E49-EE1F-4F19-AA85-04A3C30E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53000"/>
            <a:ext cx="885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项目截图预留区</a:t>
            </a:r>
          </a:p>
        </p:txBody>
      </p:sp>
      <p:sp>
        <p:nvSpPr>
          <p:cNvPr id="18" name="screenshot-hint">
            <a:extLst xmlns:a="http://schemas.openxmlformats.org/drawingml/2006/main">
              <a:ext uri="{FF2B5EF4-FFF2-40B4-BE49-F238E27FC236}">
                <a16:creationId xmlns:a16="http://schemas.microsoft.com/office/drawing/2014/main" id="{F83D39BF-EE19-459D-8827-C19055AF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857875"/>
            <a:ext cx="8382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建议粘贴人工分析记录、处理状态或导出结果截图</a:t>
            </a:r>
          </a:p>
        </p:txBody>
      </p:sp>
      <p:sp>
        <p:nvSpPr>
          <p:cNvPr id="19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8F1F17A5-D69B-496E-A549-DE79EE427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效果既看记录完整性，也看交接使用、同类问题分析和测试材料的实际复用。</a:t>
            </a:r>
          </a:p>
        </p:txBody>
      </p:sp>
    </p:spTree>
    <p:extLst>
      <p:ext uri="{BB962C8B-B14F-4D97-AF65-F5344CB8AC3E}">
        <p14:creationId xmlns:p14="http://schemas.microsoft.com/office/powerpoint/2010/main" val="18138168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73E733-E60F-49C6-89B2-457B23BB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实施示例：复杂反馈整理为验证材料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22582D-DAE7-494F-BE6E-983BE3471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示例说明 AI 分析与复现材料整理的使用方式，来自此前提供的 Kimi decode 崩溃反馈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BDC6C-6619-4CEC-A13B-DFF630E3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3D0307F-96FF-435A-9F9E-9474BAB3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C4B0155-45E5-4B89-A793-7478152B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96B42-DCD9-4534-A6AE-AF42E4084134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121920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材料类别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整理后的输入与验证动作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报告者给出的配置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Atlas 800I A3、CANN 9.2.0</a:t>
                      </a:r>
                    </a:p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Kimi-K3 W4A8、TP16 加 EP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报告者描述的现象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正常，decode 出现 keyRope 视图偏移非法错误</a:t>
                      </a:r>
                    </a:p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反馈包含多次日志与执行模式对照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需要核实的判断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整数溢出属于待确认假设</a:t>
                      </a:r>
                    </a:p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需要算子代码、可靠说明或对照实验支持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建议执行动作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补齐参数，在相应环境中复现 decode 请求</a:t>
                      </a:r>
                    </a:p>
                    <a:p>
                      <a:r>
                        <a:rPr sz="225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eager、图模式和不同软件环境，记录结果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42EDD385-9FD8-48A5-A7F6-C4040FD2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本例展示材料整理与审核方法，实际复现、根因和用例成果需要相应记录支持。</a:t>
            </a:r>
          </a:p>
        </p:txBody>
      </p:sp>
    </p:spTree>
    <p:extLst>
      <p:ext uri="{BB962C8B-B14F-4D97-AF65-F5344CB8AC3E}">
        <p14:creationId xmlns:p14="http://schemas.microsoft.com/office/powerpoint/2010/main" val="16961165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02DCD1-B8C7-45A5-B680-24BD157F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效果确认：是否达成目标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64D8570-59AF-4F0F-AD26-4962F6D4C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按各项目标逐项确认，缺少前后对比数据时保留“待确认”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4EF9E3-E339-4508-9487-84489AEC2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5B77E4D-B2C9-483E-B5FA-F0F7A4491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CDAC5E-8EA8-49B5-8C2A-FB7A2A1D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00A4CF-ECA6-48EB-BBA2-8A83FBF8B195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8953500"/>
                <a:gridCol w="41910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确认方法与所需证据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当前结论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跟踪可靠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同口径数量核对与问题抽查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补充缺漏、更新和校准记录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需核对统计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降低投入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相近复杂度下对比人工总耗时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包含阅读、提取、审核与修正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需人工基线和对照结果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聚焦重点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人工评审候选有效性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同时抽查被筛问题中的重要遗漏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需评审与复查记录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支持复现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检查配置、触发条件及信息缺口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结合测试人员实际执行反馈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需材料检查与验证结果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99822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支持复用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检查分析记录完整性和交接使用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统计典型材料与用例的实际复用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待确认</a:t>
                      </a:r>
                    </a:p>
                    <a:p>
                      <a:r>
                        <a:rPr sz="2025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需使用与关联记录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59582BF7-9E0E-47D0-8FF9-BAE5D32D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9B3D45"/>
                </a:solidFill>
                <a:latin typeface="Microsoft YaHei"/>
                <a:ea typeface="Microsoft YaHei"/>
                <a:cs typeface="Microsoft YaHei"/>
              </a:rPr>
              <a:t>现有材料不足以判定整体目标达成，不用功能清单或模型输出数量代替实际收益。</a:t>
            </a:r>
          </a:p>
        </p:txBody>
      </p:sp>
    </p:spTree>
    <p:extLst>
      <p:ext uri="{BB962C8B-B14F-4D97-AF65-F5344CB8AC3E}">
        <p14:creationId xmlns:p14="http://schemas.microsoft.com/office/powerpoint/2010/main" val="200524850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400CD9-9345-4083-9F67-415C5122A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效果确认：可重复的评价过程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75CA238-A732-46F3-A2FE-38A98196D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通过基线、对照、审核和复评，形成可以据此下结论的记录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53681E-D1E6-4C50-BCE9-8AE4EA9C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4F4E4109-FC49-4651-A094-CD6C799D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6C23B06-F5D5-44E0-B25D-28D6E5D2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5CE99E-41C9-4118-9304-7FB560866BA9}"/>
              </a:ext>
            </a:extLst>
          </p:cNvPr>
          <p:cNvGraphicFramePr/>
          <p:nvPr/>
        </p:nvGraphicFramePr>
        <p:xfrm>
          <a:off xmlns:a="http://schemas.openxmlformats.org/drawingml/2006/main" x="990600" y="2714625"/>
          <a:ext xmlns:a="http://schemas.openxmlformats.org/drawingml/2006/main" cx="16287750" cy="5810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715250"/>
                <a:gridCol w="5524500"/>
              </a:tblGrid>
              <a:tr h="819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评价环节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实施方法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需要保留的记录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T w="9525">
                      <a:solidFill>
                        <a:srgbClr val="E8D3D6"/>
                      </a:solidFill>
                      <a:prstDash val="solid"/>
                    </a:lnT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B3262D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选取样本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覆盖缺陷、文档、咨询及不同信息完整度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统一范围并确定相近复杂度的样本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样本范围、数量、时间与人员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避免只选容易处理的问题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记录基线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按纯人工方式记录查找、阅读和整理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检查配置缺失与原有交接方式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分环节工时和材料检查结果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为各项目标建立基线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对照审核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执行辅助流程，并由人员核查修正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同时抽查候选和被筛掉的问题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总投入、审核质量、遗漏和失败成本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形成可比较的结果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2477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判断复评</a:t>
                      </a:r>
                    </a:p>
                  </a:txBody>
                  <a:tcPr marL="190500" marR="190500" marT="133350" marB="133350" anchor="ctr">
                    <a:lnL w="9525">
                      <a:solidFill>
                        <a:srgbClr val="E8D3D6"/>
                      </a:solidFill>
                      <a:prstDash val="solid"/>
                    </a:lnL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按目标与评审门槛判断是否达成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未达标时回看原因、材料和规则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目标达成结论与调整措施</a:t>
                      </a:r>
                    </a:p>
                    <a:p>
                      <a:r>
                        <a:rPr sz="2100" b="0">
                          <a:solidFill>
                            <a:srgbClr val="382A2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在新一轮样本上再次评价</a:t>
                      </a:r>
                    </a:p>
                  </a:txBody>
                  <a:tcPr marL="190500" marR="190500" marT="133350" marB="133350" anchor="ctr">
                    <a:lnR w="9525">
                      <a:solidFill>
                        <a:srgbClr val="E8D3D6"/>
                      </a:solidFill>
                      <a:prstDash val="solid"/>
                    </a:lnR>
                    <a:lnB w="9525">
                      <a:solidFill>
                        <a:srgbClr val="E8D3D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0D058B8B-B49D-4191-8AAA-FC34E088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具体阈值依据第一轮基线评审确定，持续关注人工投入、分析质量与测试贡献。</a:t>
            </a:r>
          </a:p>
        </p:txBody>
      </p:sp>
    </p:spTree>
    <p:extLst>
      <p:ext uri="{BB962C8B-B14F-4D97-AF65-F5344CB8AC3E}">
        <p14:creationId xmlns:p14="http://schemas.microsoft.com/office/powerpoint/2010/main" val="5930356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6F4B0D9-9FD4-415C-A872-A70E0425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23900"/>
            <a:ext cx="16287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总结：痛点、对策与效果相互对应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52A59C-5328-485E-A363-E26F12F0F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62125"/>
            <a:ext cx="16144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每项改进都能够回答：解决什么问题，怎样实施，用什么证据确认有效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727ED-781E-4466-8453-74040401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353550"/>
            <a:ext cx="1638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3D6"/>
            </a:solidFill>
          </a:ln>
        </p:spPr>
      </p:sp>
      <p:sp>
        <p:nvSpPr>
          <p:cNvPr id="5" name="footer">
            <a:extLst xmlns:a="http://schemas.openxmlformats.org/drawingml/2006/main">
              <a:ext uri="{FF2B5EF4-FFF2-40B4-BE49-F238E27FC236}">
                <a16:creationId xmlns:a16="http://schemas.microsoft.com/office/drawing/2014/main" id="{07219B8B-6474-428C-8CB3-4DFF7EA2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44050"/>
            <a:ext cx="13525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issue-tracker 项目改进汇报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767603C-6E0E-4790-8859-C5682E73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0" y="9515475"/>
            <a:ext cx="95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7" name="summary-main">
            <a:extLst xmlns:a="http://schemas.openxmlformats.org/drawingml/2006/main">
              <a:ext uri="{FF2B5EF4-FFF2-40B4-BE49-F238E27FC236}">
                <a16:creationId xmlns:a16="http://schemas.microsoft.com/office/drawing/2014/main" id="{E9FCFB80-6153-4C3A-A359-42D011DE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16097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持续跟踪社区问题</a:t>
            </a:r>
          </a:p>
          <a:p xmlns:a="http://schemas.openxmlformats.org/drawingml/2006/main">
            <a:pPr algn="l">
              <a:def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75" b="1">
                <a:solidFill>
                  <a:srgbClr val="B3262D"/>
                </a:solidFill>
                <a:latin typeface="Microsoft YaHei"/>
                <a:ea typeface="Microsoft YaHei"/>
                <a:cs typeface="Microsoft YaHei"/>
              </a:rPr>
              <a:t>支撑测试分析与经验复用</a:t>
            </a:r>
          </a:p>
        </p:txBody>
      </p:sp>
      <p:sp>
        <p:nvSpPr>
          <p:cNvPr id="8" name="summary-body">
            <a:extLst xmlns:a="http://schemas.openxmlformats.org/drawingml/2006/main">
              <a:ext uri="{FF2B5EF4-FFF2-40B4-BE49-F238E27FC236}">
                <a16:creationId xmlns:a16="http://schemas.microsoft.com/office/drawing/2014/main" id="{93865071-5FC9-47C2-A295-AA74B56A1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762625"/>
            <a:ext cx="15716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五项痛点对应五组对策，统一台账和人工分析提供基础。</a:t>
            </a:r>
          </a:p>
          <a:p xmlns:a="http://schemas.openxmlformats.org/drawingml/2006/main">
            <a: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AI 辅助直接服务于降低整理投入，重点筛选与复现模板支持测试准备。</a:t>
            </a:r>
          </a:p>
          <a:p xmlns:a="http://schemas.openxmlformats.org/drawingml/2006/main">
            <a:pPr algn="l">
              <a:def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82A2C"/>
                </a:solidFill>
                <a:latin typeface="Microsoft YaHei"/>
                <a:ea typeface="Microsoft YaHei"/>
                <a:cs typeface="Microsoft YaHei"/>
              </a:rPr>
              <a:t>以主因验证和目标达成记录指导改进，用实际使用和测试结果评价价值。</a:t>
            </a:r>
          </a:p>
        </p:txBody>
      </p:sp>
      <p:sp>
        <p:nvSpPr>
          <p:cNvPr id="9" name="page-conclusion">
            <a:extLst xmlns:a="http://schemas.openxmlformats.org/drawingml/2006/main">
              <a:ext uri="{FF2B5EF4-FFF2-40B4-BE49-F238E27FC236}">
                <a16:creationId xmlns:a16="http://schemas.microsoft.com/office/drawing/2014/main" id="{DB96A77A-FDA3-4AAD-92F5-4439F84B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763000"/>
            <a:ext cx="1609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79676A"/>
                </a:solidFill>
                <a:latin typeface="Microsoft YaHei"/>
                <a:ea typeface="Microsoft YaHei"/>
                <a:cs typeface="Microsoft YaHei"/>
              </a:rPr>
              <a:t>主因与效果需要证据确认，各项方案统一服务于项目整体目标。</a:t>
            </a:r>
          </a:p>
        </p:txBody>
      </p:sp>
    </p:spTree>
    <p:extLst>
      <p:ext uri="{BB962C8B-B14F-4D97-AF65-F5344CB8AC3E}">
        <p14:creationId xmlns:p14="http://schemas.microsoft.com/office/powerpoint/2010/main" val="1977505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2026-10-28T03:03:10.5330000Z</dcterms:created>
  <dcterms:modified xsi:type="dcterms:W3CDTF">2026-10-28T03:03:10.5330000Z</dcterms:modified>
</coreProperties>
</file>