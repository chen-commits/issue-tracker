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d48b6366824f88" /><Relationship Type="http://schemas.openxmlformats.org/officeDocument/2006/relationships/extended-properties" Target="/docProps/app.xml" Id="Rc45c5512a8cc4ac1" /><Relationship Type="http://schemas.openxmlformats.org/officeDocument/2006/relationships/officeDocument" Target="/ppt/presentation.xml" Id="R374335bd9a444f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7e1f23d36d47e3"/>
  </p:sldMasterIdLst>
  <p:notesMasterIdLst>
    <p:notesMasterId xmlns:r="http://schemas.openxmlformats.org/officeDocument/2006/relationships" r:id="Rb53999267a884707"/>
  </p:notesMasterIdLst>
  <p:sldIdLst>
    <p:sldId xmlns:r="http://schemas.openxmlformats.org/officeDocument/2006/relationships" id="256" r:id="R0a8b35987f374ef5"/>
    <p:sldId xmlns:r="http://schemas.openxmlformats.org/officeDocument/2006/relationships" id="257" r:id="R81b3dae7cee042a7"/>
    <p:sldId xmlns:r="http://schemas.openxmlformats.org/officeDocument/2006/relationships" id="258" r:id="R8b95cebe6f274d12"/>
    <p:sldId xmlns:r="http://schemas.openxmlformats.org/officeDocument/2006/relationships" id="259" r:id="R8d8db01391b74c45"/>
    <p:sldId xmlns:r="http://schemas.openxmlformats.org/officeDocument/2006/relationships" id="260" r:id="R70a289aadac043ad"/>
    <p:sldId xmlns:r="http://schemas.openxmlformats.org/officeDocument/2006/relationships" id="261" r:id="R063854748a104556"/>
    <p:sldId xmlns:r="http://schemas.openxmlformats.org/officeDocument/2006/relationships" id="262" r:id="Recf8813bc6a74836"/>
    <p:sldId xmlns:r="http://schemas.openxmlformats.org/officeDocument/2006/relationships" id="263" r:id="R3a0ccf3915404160"/>
    <p:sldId xmlns:r="http://schemas.openxmlformats.org/officeDocument/2006/relationships" id="264" r:id="R369b51978e3349b2"/>
    <p:sldId xmlns:r="http://schemas.openxmlformats.org/officeDocument/2006/relationships" id="265" r:id="R9c8f184e9a6843ce"/>
    <p:sldId xmlns:r="http://schemas.openxmlformats.org/officeDocument/2006/relationships" id="266" r:id="R594e61c0091c4a51"/>
    <p:sldId xmlns:r="http://schemas.openxmlformats.org/officeDocument/2006/relationships" id="267" r:id="R02a18afb492b442f"/>
    <p:sldId xmlns:r="http://schemas.openxmlformats.org/officeDocument/2006/relationships" id="268" r:id="R55487555df344a99"/>
    <p:sldId xmlns:r="http://schemas.openxmlformats.org/officeDocument/2006/relationships" id="269" r:id="Rbf599ab196a64acf"/>
    <p:sldId xmlns:r="http://schemas.openxmlformats.org/officeDocument/2006/relationships" id="270" r:id="Rec5294b743734315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8b18540ff04dc3" /><Relationship Type="http://schemas.openxmlformats.org/officeDocument/2006/relationships/slideMaster" Target="/ppt/slideMasters/slideMaster1.xml" Id="R5d7e1f23d36d47e3" /><Relationship Type="http://schemas.openxmlformats.org/officeDocument/2006/relationships/notesMaster" Target="/ppt/notesMasters/notesMaster1.xml" Id="Rb53999267a884707" /><Relationship Type="http://schemas.openxmlformats.org/officeDocument/2006/relationships/presProps" Target="/ppt/presProps.xml" Id="Rd8b4620abf62491e" /><Relationship Type="http://schemas.openxmlformats.org/officeDocument/2006/relationships/tableStyles" Target="/ppt/tableStyles.xml" Id="R6d17ba1953554c1e" /><Relationship Type="http://schemas.openxmlformats.org/officeDocument/2006/relationships/slide" Target="/ppt/slides/slide1.xml" Id="R0a8b35987f374ef5" /><Relationship Type="http://schemas.openxmlformats.org/officeDocument/2006/relationships/slide" Target="/ppt/slides/slide2.xml" Id="R81b3dae7cee042a7" /><Relationship Type="http://schemas.openxmlformats.org/officeDocument/2006/relationships/slide" Target="/ppt/slides/slide3.xml" Id="R8b95cebe6f274d12" /><Relationship Type="http://schemas.openxmlformats.org/officeDocument/2006/relationships/slide" Target="/ppt/slides/slide4.xml" Id="R8d8db01391b74c45" /><Relationship Type="http://schemas.openxmlformats.org/officeDocument/2006/relationships/slide" Target="/ppt/slides/slide5.xml" Id="R70a289aadac043ad" /><Relationship Type="http://schemas.openxmlformats.org/officeDocument/2006/relationships/slide" Target="/ppt/slides/slide6.xml" Id="R063854748a104556" /><Relationship Type="http://schemas.openxmlformats.org/officeDocument/2006/relationships/slide" Target="/ppt/slides/slide7.xml" Id="Recf8813bc6a74836" /><Relationship Type="http://schemas.openxmlformats.org/officeDocument/2006/relationships/slide" Target="/ppt/slides/slide8.xml" Id="R3a0ccf3915404160" /><Relationship Type="http://schemas.openxmlformats.org/officeDocument/2006/relationships/slide" Target="/ppt/slides/slide9.xml" Id="R369b51978e3349b2" /><Relationship Type="http://schemas.openxmlformats.org/officeDocument/2006/relationships/slide" Target="/ppt/slides/slide10.xml" Id="R9c8f184e9a6843ce" /><Relationship Type="http://schemas.openxmlformats.org/officeDocument/2006/relationships/slide" Target="/ppt/slides/slide11.xml" Id="R594e61c0091c4a51" /><Relationship Type="http://schemas.openxmlformats.org/officeDocument/2006/relationships/slide" Target="/ppt/slides/slide12.xml" Id="R02a18afb492b442f" /><Relationship Type="http://schemas.openxmlformats.org/officeDocument/2006/relationships/slide" Target="/ppt/slides/slide13.xml" Id="R55487555df344a99" /><Relationship Type="http://schemas.openxmlformats.org/officeDocument/2006/relationships/slide" Target="/ppt/slides/slide14.xml" Id="Rbf599ab196a64acf" /><Relationship Type="http://schemas.openxmlformats.org/officeDocument/2006/relationships/slide" Target="/ppt/slides/slide15.xml" Id="Rec5294b7437343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0e3346908045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589273091045d4" /><Relationship Type="http://schemas.openxmlformats.org/officeDocument/2006/relationships/notesMaster" Target="/ppt/notesMasters/notesMaster1.xml" Id="Rc4779ef103374e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d24f5c7f644516" /><Relationship Type="http://schemas.openxmlformats.org/officeDocument/2006/relationships/notesMaster" Target="/ppt/notesMasters/notesMaster1.xml" Id="R424451dc2e6546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194908702ca4c18" /><Relationship Type="http://schemas.openxmlformats.org/officeDocument/2006/relationships/notesMaster" Target="/ppt/notesMasters/notesMaster1.xml" Id="R87bd18e001a444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7b998d9fbc4ef7" /><Relationship Type="http://schemas.openxmlformats.org/officeDocument/2006/relationships/notesMaster" Target="/ppt/notesMasters/notesMaster1.xml" Id="Rea8c5e81005342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c426c4eb98f4ec9" /><Relationship Type="http://schemas.openxmlformats.org/officeDocument/2006/relationships/notesMaster" Target="/ppt/notesMasters/notesMaster1.xml" Id="Rd15173b724b14e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785a33adee41b9" /><Relationship Type="http://schemas.openxmlformats.org/officeDocument/2006/relationships/notesMaster" Target="/ppt/notesMasters/notesMaster1.xml" Id="R84a56d03cc0245c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930c3181db43fa" /><Relationship Type="http://schemas.openxmlformats.org/officeDocument/2006/relationships/notesMaster" Target="/ppt/notesMasters/notesMaster1.xml" Id="R2b04a135b80a46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3f4e22d0084255" /><Relationship Type="http://schemas.openxmlformats.org/officeDocument/2006/relationships/notesMaster" Target="/ppt/notesMasters/notesMaster1.xml" Id="Rece4993e243045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0bb03b3e514099" /><Relationship Type="http://schemas.openxmlformats.org/officeDocument/2006/relationships/notesMaster" Target="/ppt/notesMasters/notesMaster1.xml" Id="Rd6ecdf608526418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8e1bf4a012348c3" /><Relationship Type="http://schemas.openxmlformats.org/officeDocument/2006/relationships/notesMaster" Target="/ppt/notesMasters/notesMaster1.xml" Id="R6d1f7072636944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98f1855eb4447bc" /><Relationship Type="http://schemas.openxmlformats.org/officeDocument/2006/relationships/notesMaster" Target="/ppt/notesMasters/notesMaster1.xml" Id="R048caa76cea548f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e135a4d40943df" /><Relationship Type="http://schemas.openxmlformats.org/officeDocument/2006/relationships/notesMaster" Target="/ppt/notesMasters/notesMaster1.xml" Id="R0c5a781c71704bc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d6d054059741a1" /><Relationship Type="http://schemas.openxmlformats.org/officeDocument/2006/relationships/notesMaster" Target="/ppt/notesMasters/notesMaster1.xml" Id="R5223e6e869f44cd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560a789cc9d4278" /><Relationship Type="http://schemas.openxmlformats.org/officeDocument/2006/relationships/notesMaster" Target="/ppt/notesMasters/notesMaster1.xml" Id="R66f219ca4c234c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8dc59d61f14f4d" /><Relationship Type="http://schemas.openxmlformats.org/officeDocument/2006/relationships/notesMaster" Target="/ppt/notesMasters/notesMaster1.xml" Id="R83fb9b5c16ad4d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issue-tracker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社区问题管理与测试分析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现状调查：社区 Issue 管理的五项痛点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r>
              <a:t>以下痛点来自项目需求与使用反馈，具体耗时和遗漏比例仍需建立统计基线。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痛点：具体表现：对测试工作的影响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持续跟踪困难：新增问题、历史更新和维护者回复需要反复查看。</a:t>
            </a:r>
          </a:p>
          <a:p xmlns:a="http://schemas.openxmlformats.org/drawingml/2006/main">
            <a:r>
              <a:t>正文、评论与状态变化缺少统一的跟踪入口。：容易重复查找与核对。</a:t>
            </a:r>
          </a:p>
          <a:p xmlns:a="http://schemas.openxmlformats.org/drawingml/2006/main">
            <a:r>
              <a:t>重要更新可能未能及时跟进。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人工整理投入大：逐条阅读长正文、多轮评论和错误日志。</a:t>
            </a:r>
          </a:p>
          <a:p xmlns:a="http://schemas.openxmlformats.org/drawingml/2006/main">
            <a:r>
              <a:t>重复提取问题现象、环境配置与处理进展。：资料准备占用分析精力。</a:t>
            </a:r>
          </a:p>
          <a:p xmlns:a="http://schemas.openxmlformats.org/drawingml/2006/main">
            <a:r>
              <a:t>集中梳理大量问题时耗时明显。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重点问题筛选难：缺陷、文档、咨询和 RFC 混杂在完整列表中。</a:t>
            </a:r>
          </a:p>
          <a:p xmlns:a="http://schemas.openxmlformats.org/drawingml/2006/main">
            <a:r>
              <a:t>价值、版本适用性和复现条件需要分别判断。：测试资源难以确定投入顺序。</a:t>
            </a:r>
          </a:p>
          <a:p xmlns:a="http://schemas.openxmlformats.org/drawingml/2006/main">
            <a:r>
              <a:t>重要缺陷可能被低相关反馈淹没。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复现材料不完整：模型、量化、并行方式与软硬件版本组合复杂。</a:t>
            </a:r>
          </a:p>
          <a:p xmlns:a="http://schemas.openxmlformats.org/drawingml/2006/main">
            <a:r>
              <a:t>启动参数、触发请求或复现步骤可能缺失。：需要重新翻阅正文与评论补齐参数。</a:t>
            </a:r>
          </a:p>
          <a:p xmlns:a="http://schemas.openxmlformats.org/drawingml/2006/main">
            <a:r>
              <a:t>难以判断是否具备开展验证的条件。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分析经验难复用：分析结论、补测建议与处理进展分散保存。</a:t>
            </a:r>
          </a:p>
          <a:p xmlns:a="http://schemas.openxmlformats.org/drawingml/2006/main">
            <a:r>
              <a:t>交接时缺少可直接接续的材料和判断依据。：接手者重复阅读与分析。</a:t>
            </a:r>
          </a:p>
          <a:p xmlns:a="http://schemas.openxmlformats.org/drawingml/2006/main">
            <a:r>
              <a:t>典型问题难以积累为后续测试输入。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SIPOC：流程范围与关键指标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r>
              <a:t>据此提出主指标“单条 Issue 分析平均人工耗时”，在输出质量满足要求的前提下比较改进前后变化。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 供应方：I 输入：P 处理过程：O 输出：C 使用方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 提交者</a:t>
            </a:r>
          </a:p>
          <a:p xmlns:a="http://schemas.openxmlformats.org/drawingml/2006/main">
            <a:r>
              <a:t>社区维护者</a:t>
            </a:r>
          </a:p>
          <a:p xmlns:a="http://schemas.openxmlformats.org/drawingml/2006/main">
            <a:r>
              <a:t>参与讨论的用户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提供问题与后续反馈：正文、评论与日志</a:t>
            </a:r>
          </a:p>
          <a:p xmlns:a="http://schemas.openxmlformats.org/drawingml/2006/main">
            <a:r>
              <a:t>标签、状态与版本</a:t>
            </a:r>
          </a:p>
          <a:p xmlns:a="http://schemas.openxmlformats.org/drawingml/2006/main">
            <a:r>
              <a:t>模型、环境配置</a:t>
            </a:r>
          </a:p>
          <a:p xmlns:a="http://schemas.openxmlformats.org/drawingml/2006/main">
            <a:r>
              <a:t>已有人工分析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保留来源与信息缺口：同步获取与集中查看</a:t>
            </a:r>
          </a:p>
          <a:p xmlns:a="http://schemas.openxmlformats.org/drawingml/2006/main">
            <a:r>
              <a:t>筛选并确定分析范围</a:t>
            </a:r>
          </a:p>
          <a:p xmlns:a="http://schemas.openxmlformats.org/drawingml/2006/main">
            <a:r>
              <a:t>人工或 AI 辅助归纳</a:t>
            </a:r>
          </a:p>
          <a:p xmlns:a="http://schemas.openxmlformats.org/drawingml/2006/main">
            <a:r>
              <a:t>人员审核、修正</a:t>
            </a:r>
          </a:p>
          <a:p xmlns:a="http://schemas.openxmlformats.org/drawingml/2006/main">
            <a:r>
              <a:t>保存记录与专题导出：经审核的分析记录</a:t>
            </a:r>
          </a:p>
          <a:p xmlns:a="http://schemas.openxmlformats.org/drawingml/2006/main">
            <a:r>
              <a:t>问题判断与依据</a:t>
            </a:r>
          </a:p>
          <a:p xmlns:a="http://schemas.openxmlformats.org/drawingml/2006/main">
            <a:r>
              <a:t>关键配置与信息缺口</a:t>
            </a:r>
          </a:p>
          <a:p xmlns:a="http://schemas.openxmlformats.org/drawingml/2006/main">
            <a:r>
              <a:t>后续验证或跟进建议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为复现提供准备材料：测试人员</a:t>
            </a:r>
          </a:p>
          <a:p xmlns:a="http://schemas.openxmlformats.org/drawingml/2006/main">
            <a:r>
              <a:t>开发与问题负责人</a:t>
            </a:r>
          </a:p>
          <a:p xmlns:a="http://schemas.openxmlformats.org/drawingml/2006/main">
            <a:r>
              <a:t>评审和交接人员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据此判断下一步工作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页把社区反馈的供应方、输入、处理过程、输出和使用方放在同一流程中。使用方需要的是可继续使用的分析记录，因此建议将形成审核合格记录的平均人工投入作为主指标。分子为固定样本所有参与人员的实际人工分钟之和，多人并行要相加，返工及 AI 失败后的人工处理都计入，不能只计算生成成功项。分母为预先选定并逐条完成分析的样本数量。若有未完成项，披露数量和原因，待完成后形成完整批次结果，不排除困难样本来降低均值。该指标不是模型接口耗时或缺陷自动复现率。没有实测数据时不填当前值与改善比例。质量审核是使用指标的前提，不能通过减少核对、遗漏信息或降低交付标准换取更低耗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根因分析：社区反馈转化为测试输入的障碍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从信息获取、分析方法、环境配置、人员协作、工作流程和知识沉淀六个方面展开原因。</a:t>
            </a:r>
          </a:p>
          <a:p xmlns:a="http://schemas.openxmlformats.org/drawingml/2006/main">
            <a:r>
              <a:t>鱼骨图列出可能因素，后续需要用流程走查、样本检查和对照验证确认主要原因。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目标设定：明确希望改善什么、如何验收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r>
              <a:t>目标描述的是希望取得的改进，是否达成需要结合实际使用数据和测试人员反馈判断。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目标：具体含义与项目解决方式：验收依据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提高跟踪可靠性：集中维护问题列表，持续同步新增和历史更新。</a:t>
            </a:r>
          </a:p>
          <a:p xmlns:a="http://schemas.openxmlformats.org/drawingml/2006/main">
            <a:r>
              <a:t>统一仓库、时间和状态口径，支持全量核对。</a:t>
            </a:r>
          </a:p>
          <a:p xmlns:a="http://schemas.openxmlformats.org/drawingml/2006/main">
            <a:r>
              <a:t>社区字段更新时保留本地人工分析。：同口径核对问题数量并抽查具体条目。</a:t>
            </a:r>
          </a:p>
          <a:p xmlns:a="http://schemas.openxmlformats.org/drawingml/2006/main">
            <a:r>
              <a:t>检查历史更新是否跟进。</a:t>
            </a:r>
          </a:p>
          <a:p xmlns:a="http://schemas.openxmlformats.org/drawingml/2006/main">
            <a:r>
              <a:t>确认人工结论未被同步覆盖。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减少人工整理投入：集中展示原文与评论，减少跨页面查找。</a:t>
            </a:r>
          </a:p>
          <a:p xmlns:a="http://schemas.openxmlformats.org/drawingml/2006/main">
            <a:r>
              <a:t>AI 辅助归纳摘要与补测建议，支持批量处理。</a:t>
            </a:r>
          </a:p>
          <a:p xmlns:a="http://schemas.openxmlformats.org/drawingml/2006/main">
            <a:r>
              <a:t>人员核对和修正后使用结果。：对比单条 Issue 分析平均人工耗时。</a:t>
            </a:r>
          </a:p>
          <a:p xmlns:a="http://schemas.openxmlformats.org/drawingml/2006/main">
            <a:r>
              <a:t>包括查找、阅读、审核与修正。</a:t>
            </a:r>
          </a:p>
          <a:p xmlns:a="http://schemas.openxmlformats.org/drawingml/2006/main">
            <a:r>
              <a:t>质量标准一致，计入错误与返工。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提高重点筛选效率：按时间、状态、标签和版本收敛范围。</a:t>
            </a:r>
          </a:p>
          <a:p xmlns:a="http://schemas.openxmlformats.org/drawingml/2006/main">
            <a:r>
              <a:t>结合价值与复现条件形成优先处理候选。</a:t>
            </a:r>
          </a:p>
          <a:p xmlns:a="http://schemas.openxmlformats.org/drawingml/2006/main">
            <a:r>
              <a:t>保留完整列表，人工复查重要遗漏。：人工评审候选是否值得投入测试。</a:t>
            </a:r>
          </a:p>
          <a:p xmlns:a="http://schemas.openxmlformats.org/drawingml/2006/main">
            <a:r>
              <a:t>抽查筛选结果之外的重要问题。</a:t>
            </a:r>
          </a:p>
          <a:p xmlns:a="http://schemas.openxmlformats.org/drawingml/2006/main">
            <a:r>
              <a:t>观察筛选准备时间与判断分歧。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完整性：辅助提取模型配置、硬件环境和软件版本。</a:t>
            </a:r>
          </a:p>
          <a:p xmlns:a="http://schemas.openxmlformats.org/drawingml/2006/main">
            <a:r>
              <a:t>整理触发条件、预期结果和已知错误现象。</a:t>
            </a:r>
          </a:p>
          <a:p xmlns:a="http://schemas.openxmlformats.org/drawingml/2006/main">
            <a:r>
              <a:t>明确缺失信息，实际复现仍由测试人员执行。：检查关键参数与待确认项是否清楚。</a:t>
            </a:r>
          </a:p>
          <a:p xmlns:a="http://schemas.openxmlformats.org/drawingml/2006/main">
            <a:r>
              <a:t>由测试人员评估材料能否用于验证。</a:t>
            </a:r>
          </a:p>
          <a:p xmlns:a="http://schemas.openxmlformats.org/drawingml/2006/main">
            <a:r>
              <a:t>不能将材料生成等同于复现成功。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提高分析材料</a:t>
            </a:r>
          </a:p>
          <a:p xmlns:a="http://schemas.openxmlformats.org/drawingml/2006/main">
            <a:r>
              <a:t>复用能力：将人工结论、补测建议和进展保存在台账。</a:t>
            </a:r>
          </a:p>
          <a:p xmlns:a="http://schemas.openxmlformats.org/drawingml/2006/main">
            <a:r>
              <a:t>支持按专题整理与导出，便于评审交接。</a:t>
            </a:r>
          </a:p>
          <a:p xmlns:a="http://schemas.openxmlformats.org/drawingml/2006/main">
            <a:r>
              <a:t>关联来源问题，积累典型测试场景。：检查接手者能否继续分析而非重做。</a:t>
            </a:r>
          </a:p>
          <a:p xmlns:a="http://schemas.openxmlformats.org/drawingml/2006/main">
            <a:r>
              <a:t>记录材料在同类问题中的实际使用。</a:t>
            </a:r>
          </a:p>
          <a:p xmlns:a="http://schemas.openxmlformats.org/drawingml/2006/main">
            <a:r>
              <a:t>跟踪与测试验证记录的关联。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主要原因与改进方向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根据现状与鱼骨图，将需要重点改善的原因归纳为三个方面，并对应到后续五项具体对策。</a:t>
            </a:r>
          </a:p>
          <a:p xmlns:a="http://schemas.openxmlformats.org/drawingml/2006/main">
            <a:r>
              <a:t>以下是基于需求与使用反馈的初步判断，实际作用需结合工时、遗漏和材料使用记录持续核验。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主要原因判断：对工作的影响：对应的改进方向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信息与分析记录</a:t>
            </a:r>
          </a:p>
          <a:p xmlns:a="http://schemas.openxmlformats.org/drawingml/2006/main">
            <a:r>
              <a:t>分散：新增、历史更新和人工结论缺少集中管理。</a:t>
            </a:r>
          </a:p>
          <a:p xmlns:a="http://schemas.openxmlformats.org/drawingml/2006/main">
            <a:r>
              <a:t>人员在不同页面与材料间反复查找、核对。</a:t>
            </a:r>
          </a:p>
          <a:p xmlns:a="http://schemas.openxmlformats.org/drawingml/2006/main">
            <a:r>
              <a:t>交接时难以接续已有判断，容易重复收集信息。：持续同步与统一问题列表：集中获取、跟进更新。</a:t>
            </a:r>
          </a:p>
          <a:p xmlns:a="http://schemas.openxmlformats.org/drawingml/2006/main">
            <a:r>
              <a:t>分析记录与协作复用：保留结论、进展和依据。</a:t>
            </a:r>
          </a:p>
          <a:p xmlns:a="http://schemas.openxmlformats.org/drawingml/2006/main">
            <a:r>
              <a:t>通过专题导出支持评审交接，减少重复查找。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阅读归纳与配置提取</a:t>
            </a:r>
          </a:p>
          <a:p xmlns:a="http://schemas.openxmlformats.org/drawingml/2006/main">
            <a:r>
              <a:t>依赖人工：长正文、多轮评论与日志需要逐条阅读整理。</a:t>
            </a:r>
          </a:p>
          <a:p xmlns:a="http://schemas.openxmlformats.org/drawingml/2006/main">
            <a:r>
              <a:t>模型、软硬件环境和触发参数分散，容易遗漏。</a:t>
            </a:r>
          </a:p>
          <a:p xmlns:a="http://schemas.openxmlformats.org/drawingml/2006/main">
            <a:r>
              <a:t>缺少固定检查项时，需要再次翻阅和补采。：AI 辅助与批量任务：减少重复阅读和资料归纳。</a:t>
            </a:r>
          </a:p>
          <a:p xmlns:a="http://schemas.openxmlformats.org/drawingml/2006/main">
            <a:r>
              <a:t>复现材料整理：在“补充测试”中梳理关键条件。</a:t>
            </a:r>
          </a:p>
          <a:p xmlns:a="http://schemas.openxmlformats.org/drawingml/2006/main">
            <a:r>
              <a:t>明确缺失参数，由人员审核、补齐并执行验证。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价值与复现性判断</a:t>
            </a:r>
          </a:p>
          <a:p xmlns:a="http://schemas.openxmlformats.org/drawingml/2006/main">
            <a:r>
              <a:t>缺少统一口径：对问题价值、版本适用性和复现条件判断不一。</a:t>
            </a:r>
          </a:p>
          <a:p xmlns:a="http://schemas.openxmlformats.org/drawingml/2006/main">
            <a:r>
              <a:t>重点候选难以确定，人员评审容易出现分歧。</a:t>
            </a:r>
          </a:p>
          <a:p xmlns:a="http://schemas.openxmlformats.org/drawingml/2006/main">
            <a:r>
              <a:t>高价值但信息不足的问题可能过早排除。：多维筛选与统一评价：明确候选选择和排序依据。</a:t>
            </a:r>
          </a:p>
          <a:p xmlns:a="http://schemas.openxmlformats.org/drawingml/2006/main">
            <a:r>
              <a:t>保留完整列表，对重要但信息不足的问题复查。</a:t>
            </a:r>
          </a:p>
          <a:p xmlns:a="http://schemas.openxmlformats.org/drawingml/2006/main">
            <a:r>
              <a:t>结合人工评审与遗漏检查，持续调整筛选规则。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建议口播：根据前面的现状和原因分析，我们把重点改善方向归纳为三个方面：信息集中管理、减少重复整理，以及统一筛选判断。其中，信息集中管理对应持续同步和分析记录复用，减少重复整理对应 AI 辅助与复现材料整理，统一筛选判断对应评价口径和人工复查。这三个方向进一步展开为下一页的五项具体对策。这里属于初步原因判断，不表示已经完成严格的因果验证。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拟定对策：针对每项痛点设计解决方案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r>
              <a:t>方案是否有效，需要同时考虑人员投入、分析质量及后续测试使用情况。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针对的痛点：解决方案：预期形成的工作材料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持续跟踪困难：全量同步与增量更新结合，提供手动校准入口。</a:t>
            </a:r>
          </a:p>
          <a:p xmlns:a="http://schemas.openxmlformats.org/drawingml/2006/main">
            <a:r>
              <a:t>统一仓库、时间和状态口径，集中查看问题。</a:t>
            </a:r>
          </a:p>
          <a:p xmlns:a="http://schemas.openxmlformats.org/drawingml/2006/main">
            <a:r>
              <a:t>分别维护社区信息与本地人工分析。：持续更新的问题台账。</a:t>
            </a:r>
          </a:p>
          <a:p xmlns:a="http://schemas.openxmlformats.org/drawingml/2006/main">
            <a:r>
              <a:t>可核对的专项清单。</a:t>
            </a:r>
          </a:p>
          <a:p xmlns:a="http://schemas.openxmlformats.org/drawingml/2006/main">
            <a:r>
              <a:t>历史更新与人工分析记录。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人工整理投入大：集中提供正文、评论和已有分析作为上下文。</a:t>
            </a:r>
          </a:p>
          <a:p xmlns:a="http://schemas.openxmlformats.org/drawingml/2006/main">
            <a:r>
              <a:t>AI 辅助归纳，支持选中问题和筛选范围批量处理。</a:t>
            </a:r>
          </a:p>
          <a:p xmlns:a="http://schemas.openxmlformats.org/drawingml/2006/main">
            <a:r>
              <a:t>人员审核、修正并决定是否采纳建议。：待审核的结构化建议。</a:t>
            </a:r>
          </a:p>
          <a:p xmlns:a="http://schemas.openxmlformats.org/drawingml/2006/main">
            <a:r>
              <a:t>批量任务进度与失败项。</a:t>
            </a:r>
          </a:p>
          <a:p xmlns:a="http://schemas.openxmlformats.org/drawingml/2006/main">
            <a:r>
              <a:t>人工审核后的分析结果。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重点问题筛选难：按日期、状态、标签和版本缩小分析范围。</a:t>
            </a:r>
          </a:p>
          <a:p xmlns:a="http://schemas.openxmlformats.org/drawingml/2006/main">
            <a:r>
              <a:t>结合价值与复现条件形成候选排序。</a:t>
            </a:r>
          </a:p>
          <a:p xmlns:a="http://schemas.openxmlformats.org/drawingml/2006/main">
            <a:r>
              <a:t>过滤文档、RFC 等类型时保留完整列表供复查。：重点验证候选及筛选依据。</a:t>
            </a:r>
          </a:p>
          <a:p xmlns:a="http://schemas.openxmlformats.org/drawingml/2006/main">
            <a:r>
              <a:t>人工补充的价值判断。</a:t>
            </a:r>
          </a:p>
          <a:p xmlns:a="http://schemas.openxmlformats.org/drawingml/2006/main">
            <a:r>
              <a:t>重要遗漏的复查记录。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复现材料不完整：按模型、配置、环境和触发场景整理补测材料。</a:t>
            </a:r>
          </a:p>
          <a:p xmlns:a="http://schemas.openxmlformats.org/drawingml/2006/main">
            <a:r>
              <a:t>明确哪些参数来自原文，哪些信息尚未提供。</a:t>
            </a:r>
          </a:p>
          <a:p xmlns:a="http://schemas.openxmlformats.org/drawingml/2006/main">
            <a:r>
              <a:t>测试人员补齐条件后执行验证并记录结果。：模型与软硬件配置清单。</a:t>
            </a:r>
          </a:p>
          <a:p xmlns:a="http://schemas.openxmlformats.org/drawingml/2006/main">
            <a:r>
              <a:t>复现场景及缺失参数。</a:t>
            </a:r>
          </a:p>
          <a:p xmlns:a="http://schemas.openxmlformats.org/drawingml/2006/main">
            <a:r>
              <a:t>后续验证动作与结果记录。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分析经验难复用：集中保存分析结论、补测建议与处理进展。</a:t>
            </a:r>
          </a:p>
          <a:p xmlns:a="http://schemas.openxmlformats.org/drawingml/2006/main">
            <a:r>
              <a:t>支持按专题整理、导出和交接。</a:t>
            </a:r>
          </a:p>
          <a:p xmlns:a="http://schemas.openxmlformats.org/drawingml/2006/main">
            <a:r>
              <a:t>在测试材料中保留来源 Issue 及判断依据。：可接续的分析台账。</a:t>
            </a:r>
          </a:p>
          <a:p xmlns:a="http://schemas.openxmlformats.org/drawingml/2006/main">
            <a:r>
              <a:t>专题评审与交接材料。</a:t>
            </a:r>
          </a:p>
          <a:p xmlns:a="http://schemas.openxmlformats.org/drawingml/2006/main">
            <a:r>
              <a:t>典型场景及其来源记录。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对策实施：持续同步与统一台账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r>
              <a:t>统计时需要统一仓库、时间、状态以及是否包含 PR，避免把统计口径差异误判为数据遗漏。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明确同步与核对范围：统一仓库、日期和状态条件。</a:t>
            </a:r>
          </a:p>
          <a:p xmlns:a="http://schemas.openxmlformats.org/drawingml/2006/main">
            <a:r>
              <a:t>对照同一口径的问题数量与具体条目，</a:t>
            </a:r>
          </a:p>
          <a:p xmlns:a="http://schemas.openxmlformats.org/drawingml/2006/main">
            <a:r>
              <a:t>同时检查新增问题和历史更新。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持续维护问题台账：全量获取用于建立和校准台账，</a:t>
            </a:r>
          </a:p>
          <a:p xmlns:a="http://schemas.openxmlformats.org/drawingml/2006/main">
            <a:r>
              <a:t>增量同步用于日常跟进。</a:t>
            </a:r>
          </a:p>
          <a:p xmlns:a="http://schemas.openxmlformats.org/drawingml/2006/main">
            <a:r>
              <a:t>同步完成后仍需关注异常与漏项。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保护本地人工分析：社区字段与人工结论分开维护。</a:t>
            </a:r>
          </a:p>
          <a:p xmlns:a="http://schemas.openxmlformats.org/drawingml/2006/main">
            <a:r>
              <a:t>更新标题、正文和状态时，</a:t>
            </a:r>
          </a:p>
          <a:p xmlns:a="http://schemas.openxmlformats.org/drawingml/2006/main">
            <a:r>
              <a:t>保留已有分析、备注与补测建议。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形成可检查的专项清单：按时间、状态、标签等收敛范围。</a:t>
            </a:r>
          </a:p>
          <a:p xmlns:a="http://schemas.openxmlformats.org/drawingml/2006/main">
            <a:r>
              <a:t>通过清单逐项核对更新与遗漏，</a:t>
            </a:r>
          </a:p>
          <a:p xmlns:a="http://schemas.openxmlformats.org/drawingml/2006/main">
            <a:r>
              <a:t>减少反复打开社区页面查找。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对策实施：AI 辅助分析与批量任务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r>
              <a:t>AI 模块仍需持续评估，效率收益应包含审核、修正和失败重试成本，不能仅看生成建议数量。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准备可靠的分析上下文：结合正文、评论和已有分析。</a:t>
            </a:r>
          </a:p>
          <a:p xmlns:a="http://schemas.openxmlformats.org/drawingml/2006/main">
            <a:r>
              <a:t>明确材料来源与缺失部分，</a:t>
            </a:r>
          </a:p>
          <a:p xmlns:a="http://schemas.openxmlformats.org/drawingml/2006/main">
            <a:r>
              <a:t>避免模型把推测当成已确认事实。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生成待审核的结构化建议：归纳问题摘要、现象和补测建议。</a:t>
            </a:r>
          </a:p>
          <a:p xmlns:a="http://schemas.openxmlformats.org/drawingml/2006/main">
            <a:r>
              <a:t>区分事实、可能原因与待确认参数，</a:t>
            </a:r>
          </a:p>
          <a:p xmlns:a="http://schemas.openxmlformats.org/drawingml/2006/main">
            <a:r>
              <a:t>漏测原因结合实际测试覆盖人工判断。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批量处理与异常跟进：支持勾选问题或按筛选范围执行。</a:t>
            </a:r>
          </a:p>
          <a:p xmlns:a="http://schemas.openxmlformats.org/drawingml/2006/main">
            <a:r>
              <a:t>通过并发任务处理多条问题，</a:t>
            </a:r>
          </a:p>
          <a:p xmlns:a="http://schemas.openxmlformats.org/drawingml/2006/main">
            <a:r>
              <a:t>查看进度及失败项并跟进重试。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人工核对后保存结果：对照原文检查版本、配置和判断。</a:t>
            </a:r>
          </a:p>
          <a:p xmlns:a="http://schemas.openxmlformats.org/drawingml/2006/main">
            <a:r>
              <a:t>修正后决定是否采纳并保存，</a:t>
            </a:r>
          </a:p>
          <a:p xmlns:a="http://schemas.openxmlformats.org/drawingml/2006/main">
            <a:r>
              <a:t>保留已有人工内容及必要说明。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对策实施：重点筛选与复现材料整理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r>
              <a:t>系统辅助完成复现前的材料准备，不能代替测试人员部署环境、执行请求或确认根因。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筛选值得验证的候选问题：按时间、版本、类型等缩小范围。</a:t>
            </a:r>
          </a:p>
          <a:p xmlns:a="http://schemas.openxmlformats.org/drawingml/2006/main">
            <a:r>
              <a:t>结合价值与复现条件排序，</a:t>
            </a:r>
          </a:p>
          <a:p xmlns:a="http://schemas.openxmlformats.org/drawingml/2006/main">
            <a:r>
              <a:t>保留完整列表复查重要问题遗漏。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提取模型与环境配置：整理模型名称、量化与并行配置。</a:t>
            </a:r>
          </a:p>
          <a:p xmlns:a="http://schemas.openxmlformats.org/drawingml/2006/main">
            <a:r>
              <a:t>提取 A2/A3/A5 硬件及软件版本，</a:t>
            </a:r>
          </a:p>
          <a:p xmlns:a="http://schemas.openxmlformats.org/drawingml/2006/main">
            <a:r>
              <a:t>没有来源支持的参数标为待确认。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梳理触发条件与错误现象：整理启动命令、请求和执行阶段。</a:t>
            </a:r>
          </a:p>
          <a:p xmlns:a="http://schemas.openxmlformats.org/drawingml/2006/main">
            <a:r>
              <a:t>关注并发、输入长度与异常日志，</a:t>
            </a:r>
          </a:p>
          <a:p xmlns:a="http://schemas.openxmlformats.org/drawingml/2006/main">
            <a:r>
              <a:t>写清预期结果和实际差异。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由测试人员补齐并验证：列出缺失参数和需要追问的信息。</a:t>
            </a:r>
          </a:p>
          <a:p xmlns:a="http://schemas.openxmlformats.org/drawingml/2006/main">
            <a:r>
              <a:t>人员准备环境并执行验证，</a:t>
            </a:r>
          </a:p>
          <a:p xmlns:a="http://schemas.openxmlformats.org/drawingml/2006/main">
            <a:r>
              <a:t>将复现是否成功及结果补回记录。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对策实施：分析记录、评审交接与材料复用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r>
              <a:t>典型问题转化为测试场景时，还需要人员补充实际执行结果，并保留来源问题与验证记录的关联。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统一维护人工分析记录：保存问题识别、结论与补测建议。</a:t>
            </a:r>
          </a:p>
          <a:p xmlns:a="http://schemas.openxmlformats.org/drawingml/2006/main">
            <a:r>
              <a:t>持续补充版本支持和处理进展，</a:t>
            </a:r>
          </a:p>
          <a:p xmlns:a="http://schemas.openxmlformats.org/drawingml/2006/main">
            <a:r>
              <a:t>让后续人员了解当前判断与待办。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按专题组织评审材料：利用筛选结果形成专项清单。</a:t>
            </a:r>
          </a:p>
          <a:p xmlns:a="http://schemas.openxmlformats.org/drawingml/2006/main">
            <a:r>
              <a:t>导出后结合原文与已有结论评审，</a:t>
            </a:r>
          </a:p>
          <a:p xmlns:a="http://schemas.openxmlformats.org/drawingml/2006/main">
            <a:r>
              <a:t>保留判断依据与尚未解决的信息缺口。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减少交接中的重复工作：接手者先查看已有分析和验证情况。</a:t>
            </a:r>
          </a:p>
          <a:p xmlns:a="http://schemas.openxmlformats.org/drawingml/2006/main">
            <a:r>
              <a:t>在此前记录上补充、修正和跟进，</a:t>
            </a:r>
          </a:p>
          <a:p xmlns:a="http://schemas.openxmlformats.org/drawingml/2006/main">
            <a:r>
              <a:t>减少重新阅读和重复收集材料。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积累可追溯的典型场景：整理配置、触发条件与验证结果。</a:t>
            </a:r>
          </a:p>
          <a:p xmlns:a="http://schemas.openxmlformats.org/drawingml/2006/main">
            <a:r>
              <a:t>转化测试材料时关联来源 Issue，</a:t>
            </a:r>
          </a:p>
          <a:p xmlns:a="http://schemas.openxmlformats.org/drawingml/2006/main">
            <a:r>
              <a:t>通过再次使用判断材料是否有价值。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实施案例：Issue #16608 分析、复现与工单转化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处理流程包括社区反馈、AI 辅助分析、人工复现、工单处理及后续测试用例补充。</a:t>
            </a:r>
          </a:p>
          <a:p xmlns:a="http://schemas.openxmlformats.org/drawingml/2006/main">
            <a:r>
              <a:t>AI 辅助整理验证线索，人员核对并执行复现；当前已完成复现与工单转化，修复和补测继续跟进。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实施环节：案例内容与处理动作：当前状态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社区问题与验证线索：原帖报告：PP=2、TP=1 时推理乱码，切换为 TP=2、PP=1 后正常。</a:t>
            </a:r>
          </a:p>
          <a:p xmlns:a="http://schemas.openxmlformats.org/drawingml/2006/main">
            <a:r>
              <a:t>报告模型为 Qwen3.8-27B W8A8，并提供环境与启动参数。</a:t>
            </a:r>
          </a:p>
          <a:p xmlns:a="http://schemas.openxmlformats.org/drawingml/2006/main">
            <a:r>
              <a:t>这些是社区报告的信息，内部实际配置以复现记录为准。：来源明确</a:t>
            </a:r>
          </a:p>
          <a:p xmlns:a="http://schemas.openxmlformats.org/drawingml/2006/main">
            <a:r>
              <a:t>GitHub Issue #16608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辅助分析：利用项目 AI 分析辅助归纳问题现象、模型配置和环境参数。</a:t>
            </a:r>
          </a:p>
          <a:p xmlns:a="http://schemas.openxmlformats.org/drawingml/2006/main">
            <a:r>
              <a:t>围绕 PP/TP 对照条件整理验证建议，明确需要确认的信息。</a:t>
            </a:r>
          </a:p>
          <a:p xmlns:a="http://schemas.openxmlformats.org/drawingml/2006/main">
            <a:r>
              <a:t>人员核对后用于复现准备，可能原因仍需实际验证。：辅助整理与分析</a:t>
            </a:r>
          </a:p>
          <a:p xmlns:a="http://schemas.openxmlformats.org/drawingml/2006/main">
            <a:r>
              <a:t>建议需人工审核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人工执行复现：项目负责人已在实际环境中完成该问题的复现。</a:t>
            </a:r>
          </a:p>
          <a:p xmlns:a="http://schemas.openxmlformats.org/drawingml/2006/main">
            <a:r>
              <a:t>人工验证为转工单提供实际的问题依据。</a:t>
            </a:r>
          </a:p>
          <a:p xmlns:a="http://schemas.openxmlformats.org/drawingml/2006/main">
            <a:r>
              <a:t>内部环境配置、触发请求与结果建议随工单留存。：已完成复现</a:t>
            </a:r>
          </a:p>
          <a:p xmlns:a="http://schemas.openxmlformats.org/drawingml/2006/main">
            <a:r>
              <a:t>项目负责人确认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转为工单推进解决：已将复现问题转换为工单，进入问题处理流程。</a:t>
            </a:r>
          </a:p>
          <a:p xmlns:a="http://schemas.openxmlformats.org/drawingml/2006/main">
            <a:r>
              <a:t>后续结合工单跟进定位、修复和验证。</a:t>
            </a:r>
          </a:p>
          <a:p xmlns:a="http://schemas.openxmlformats.org/drawingml/2006/main">
            <a:r>
              <a:t>工单编号与处理进展可按实际记录补充。：已转为工单</a:t>
            </a:r>
          </a:p>
          <a:p xmlns:a="http://schemas.openxmlformats.org/drawingml/2006/main">
            <a:r>
              <a:t>修复完成状态未确认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安排补充测试用例：后续安排测试人员补充相关场景的测试用例。</a:t>
            </a:r>
          </a:p>
          <a:p xmlns:a="http://schemas.openxmlformats.org/drawingml/2006/main">
            <a:r>
              <a:t>建议结合 PP/TP 对照场景与修复结果评审回归范围。</a:t>
            </a:r>
          </a:p>
          <a:p xmlns:a="http://schemas.openxmlformats.org/drawingml/2006/main">
            <a:r>
              <a:t>用例完成、执行通过和纳入回归需要后续记录确认。：后续安排</a:t>
            </a:r>
          </a:p>
          <a:p xmlns:a="http://schemas.openxmlformats.org/drawingml/2006/main">
            <a:r>
              <a:t>用例完成情况待跟进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来源一：GitHub 原始 Issue，https://github.com/vllm-project/vllm-ascend/issues/16608 。原帖描述 PP=2、TP=1 推理乱码，TP=2、PP=1 正常，启动命令提供 Qwen3.8-27B W8A8 模型信息。来源二：项目负责人在本次对话中确认已复现并转换为工单，同时表示后续安排测试人员补充用例，并要求将 AI 分析纳入流程。AI 一行说明辅助归纳、配置提取和验证建议的作用，没有提供本例具体模型输出，因此不编造 AI 已确认根因或自动完成复现的结论。没有提供内部工单编号、修复结论或用例完成记录，因此不推断已修复、已闭环或已补齐测试。建议口播：这个案例按社区反馈、AI 辅助分析、人工复现、转工单和补充用例几个环节展开。AI 辅助整理问题现象、关键参数和验证线索，人员核对后开展实际复现。我已经完成问题复现并转为工单，后续安排测试人员补充相关用例。当前完成的是复现与工单转化，修复和补测进展继续跟进。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效果确认：逐项目标检查是否取得实际改善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结合实际使用案例与后续对照数据评价项目效果，区分流程应用成果和整体量化收益。</a:t>
            </a:r>
          </a:p>
          <a:p xmlns:a="http://schemas.openxmlformats.org/drawingml/2006/main">
            <a:r>
              <a:t>目前已有问题复现与工单转化案例；整体耗时、材料质量和筛选效果仍需按统一口径评估。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目标：效果确认方法：当前结论与所需材料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提高跟踪可靠性：同口径核对数量并抽查具体问题。</a:t>
            </a:r>
          </a:p>
          <a:p xmlns:a="http://schemas.openxmlformats.org/drawingml/2006/main">
            <a:r>
              <a:t>检查新增获取、历史更新和人工分析保留情况。：待确认。</a:t>
            </a:r>
          </a:p>
          <a:p xmlns:a="http://schemas.openxmlformats.org/drawingml/2006/main">
            <a:r>
              <a:t>补充核对清单、漏项抽查</a:t>
            </a:r>
          </a:p>
          <a:p xmlns:a="http://schemas.openxmlformats.org/drawingml/2006/main">
            <a:r>
              <a:t>和历史更新检查记录。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减少人工整理投入：比较单条 Issue 分析平均人工耗时。</a:t>
            </a:r>
          </a:p>
          <a:p xmlns:a="http://schemas.openxmlformats.org/drawingml/2006/main">
            <a:r>
              <a:t>按 SIPOC 页口径计入审核、返工与人工接续。：待确认。</a:t>
            </a:r>
          </a:p>
          <a:p xmlns:a="http://schemas.openxmlformats.org/drawingml/2006/main">
            <a:r>
              <a:t>补充纯人工基线与辅助流程工时，</a:t>
            </a:r>
          </a:p>
          <a:p xmlns:a="http://schemas.openxmlformats.org/drawingml/2006/main">
            <a:r>
              <a:t>在同一质量标准下比较。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提高重点筛选效率：人工评审候选是否值得投入测试。</a:t>
            </a:r>
          </a:p>
          <a:p xmlns:a="http://schemas.openxmlformats.org/drawingml/2006/main">
            <a:r>
              <a:t>抽查被筛问题中的重要遗漏和评审分歧。：待确认。</a:t>
            </a:r>
          </a:p>
          <a:p xmlns:a="http://schemas.openxmlformats.org/drawingml/2006/main">
            <a:r>
              <a:t>补充候选评审、遗漏复查</a:t>
            </a:r>
          </a:p>
          <a:p xmlns:a="http://schemas.openxmlformats.org/drawingml/2006/main">
            <a:r>
              <a:t>和筛选准备耗时记录。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提高复现材料</a:t>
            </a:r>
          </a:p>
          <a:p xmlns:a="http://schemas.openxmlformats.org/drawingml/2006/main">
            <a:r>
              <a:t>完整性：检查模型配置、环境、触发条件和缺失信息。</a:t>
            </a:r>
          </a:p>
          <a:p xmlns:a="http://schemas.openxmlformats.org/drawingml/2006/main">
            <a:r>
              <a:t>由测试人员反馈材料是否支持开展验证。：已有 #16608 复现与工单案例。</a:t>
            </a:r>
          </a:p>
          <a:p xmlns:a="http://schemas.openxmlformats.org/drawingml/2006/main">
            <a:r>
              <a:t>补充用例属于后续安排。</a:t>
            </a:r>
          </a:p>
          <a:p xmlns:a="http://schemas.openxmlformats.org/drawingml/2006/main">
            <a:r>
              <a:t>整体材料质量仍需样本评估。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提高材料复用能力：检查分析能否接续、交接是否减少重复工作。</a:t>
            </a:r>
          </a:p>
          <a:p xmlns:a="http://schemas.openxmlformats.org/drawingml/2006/main">
            <a:r>
              <a:t>跟踪典型材料在其他问题或测试中的实际使用。：待确认。</a:t>
            </a:r>
          </a:p>
          <a:p xmlns:a="http://schemas.openxmlformats.org/drawingml/2006/main">
            <a:r>
              <a:t>补充交接使用、重复工作变化</a:t>
            </a:r>
          </a:p>
          <a:p xmlns:a="http://schemas.openxmlformats.org/drawingml/2006/main">
            <a:r>
              <a:t>和材料复用关联记录。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效果确认：建立可重复的基线与对照评价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采用一致的样本范围和评价口径，避免只展示容易处理的问题或只统计模型输出。</a:t>
            </a:r>
          </a:p>
          <a:p xmlns:a="http://schemas.openxmlformats.org/drawingml/2006/main">
            <a:r>
              <a:t>具体比例阈值在第一轮基线后评审确定，后续用新样本验证规则调整是否有效。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评价环节：具体实施方式：需要保留的证据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选取代表性样本：覆盖缺陷、文档、咨询及不同信息完整度。</a:t>
            </a:r>
          </a:p>
          <a:p xmlns:a="http://schemas.openxmlformats.org/drawingml/2006/main">
            <a:r>
              <a:t>统一仓库、时间范围和样本复杂度，</a:t>
            </a:r>
          </a:p>
          <a:p xmlns:a="http://schemas.openxmlformats.org/drawingml/2006/main">
            <a:r>
              <a:t>避免只选择短正文或容易判断的问题。：样本清单、数量和选取规则。</a:t>
            </a:r>
          </a:p>
          <a:p xmlns:a="http://schemas.openxmlformats.org/drawingml/2006/main">
            <a:r>
              <a:t>参与人员与执行时间。</a:t>
            </a:r>
          </a:p>
          <a:p xmlns:a="http://schemas.openxmlformats.org/drawingml/2006/main">
            <a:r>
              <a:t>问题类型和材料复杂度说明。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记录纯人工基线：按原有方式完成查找、阅读与资料整理。</a:t>
            </a:r>
          </a:p>
          <a:p xmlns:a="http://schemas.openxmlformats.org/drawingml/2006/main">
            <a:r>
              <a:t>分别记录各环节耗时及缺失参数，</a:t>
            </a:r>
          </a:p>
          <a:p xmlns:a="http://schemas.openxmlformats.org/drawingml/2006/main">
            <a:r>
              <a:t>检查原有交接是否需要重复收集信息。：分环节工时。</a:t>
            </a:r>
          </a:p>
          <a:p xmlns:a="http://schemas.openxmlformats.org/drawingml/2006/main">
            <a:r>
              <a:t>配置与触发条件检查结果。</a:t>
            </a:r>
          </a:p>
          <a:p xmlns:a="http://schemas.openxmlformats.org/drawingml/2006/main">
            <a:r>
              <a:t>原有交接过程和重复工作记录。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执行辅助流程并审核：通过台账、筛选与 AI 建议辅助处理。</a:t>
            </a:r>
          </a:p>
          <a:p xmlns:a="http://schemas.openxmlformats.org/drawingml/2006/main">
            <a:r>
              <a:t>人员核对、修正并补齐材料，</a:t>
            </a:r>
          </a:p>
          <a:p xmlns:a="http://schemas.openxmlformats.org/drawingml/2006/main">
            <a:r>
              <a:t>同时抽查候选和筛选之外的重要问题。：人工总耗时与审核修正情况。</a:t>
            </a:r>
          </a:p>
          <a:p xmlns:a="http://schemas.openxmlformats.org/drawingml/2006/main">
            <a:r>
              <a:t>候选有效性和重要遗漏。</a:t>
            </a:r>
          </a:p>
          <a:p xmlns:a="http://schemas.openxmlformats.org/drawingml/2006/main">
            <a:r>
              <a:t>失败重试、补采和实际使用反馈。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判断达成情况并复评：按各项目标比较基线与对照结果。</a:t>
            </a:r>
          </a:p>
          <a:p xmlns:a="http://schemas.openxmlformats.org/drawingml/2006/main">
            <a:r>
              <a:t>未改善时回看材料、规则或使用方式，</a:t>
            </a:r>
          </a:p>
          <a:p xmlns:a="http://schemas.openxmlformats.org/drawingml/2006/main">
            <a:r>
              <a:t>调整后用另一批样本再次评价。：目标达成结论及其依据。</a:t>
            </a:r>
          </a:p>
          <a:p xmlns:a="http://schemas.openxmlformats.org/drawingml/2006/main">
            <a:r>
              <a:t>尚未解决的问题与改进措施。</a:t>
            </a:r>
          </a:p>
          <a:p xmlns:a="http://schemas.openxmlformats.org/drawingml/2006/main">
            <a:r>
              <a:t>新一轮样本的复评结果。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总结：项目价值与后续优化重点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r>
              <a:t>项目价值需要结合实际使用、人工投入变化和测试验证贡献持续确认。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来源：项目需求、使用反馈和此前报告。原因矩阵属于定性假设，效果需实际统计确认。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统一台账提供基础价值：持续跟进新增与历史更新，保留本地人工分析，减少跨页面查找、重复核对和交接中的资料分散。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辅助降低重复整理工作：帮助人员阅读、归纳和提取材料，支持批量处理。人员负责证据核对和结论把关，持续评估审核后的实际收益。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筛选与材料整理支撑测试准备：形成重点候选，整理模型、环境与触发条件，明确缺失信息。实际复现和根因确认仍需人员与实验环境完成。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后续优化以证据为依据：补充完整性核对、人工工时、候选有效性和材料复用记录。根据错误与返工情况优化提示词、筛选规则和分析流程。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adba8522c44d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3c5258f94f4ed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d7d941dac4c5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6151cf4f4488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487dca1b174e8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00d693bc746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87BE1-127E-4160-AFDA-21A0ACB25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B68BDA-F8C6-4AD1-AA3B-0BB490A4E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B2ABB-D5BA-4F53-992C-B20FA7CE4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7121D-C305-4E2A-BC94-CADA6480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9E6A16-2D90-49F3-B3C2-ACF8D34E5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80EAB0-C13F-4D4C-88CB-CD1612E4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07F3E-51DA-40FF-B377-A0FE2028F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369D3-A98A-4A77-AC5F-7F2F70E2A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04562-169F-4440-B3E4-7F4AC1E38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7511E-08DC-424C-B022-1A6D3714A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49aded9e0d46a2" /><Relationship Type="http://schemas.openxmlformats.org/officeDocument/2006/relationships/slideLayout" Target="/ppt/slideLayouts/slideLayout1.xml" Id="R35cb7f0f347c4dd3" /><Relationship Type="http://schemas.openxmlformats.org/officeDocument/2006/relationships/slideLayout" Target="/ppt/slideLayouts/slideLayout2.xml" Id="Rf84f3bd407e94ab8" /><Relationship Type="http://schemas.openxmlformats.org/officeDocument/2006/relationships/slideLayout" Target="/ppt/slideLayouts/slideLayout3.xml" Id="Re1143a8b4e6b4abb" /><Relationship Type="http://schemas.openxmlformats.org/officeDocument/2006/relationships/slideLayout" Target="/ppt/slideLayouts/slideLayout4.xml" Id="R170fbd2c010741f2" /><Relationship Type="http://schemas.openxmlformats.org/officeDocument/2006/relationships/slideLayout" Target="/ppt/slideLayouts/slideLayout5.xml" Id="R0bba70e3bf514032" /><Relationship Type="http://schemas.openxmlformats.org/officeDocument/2006/relationships/slideLayout" Target="/ppt/slideLayouts/slideLayout6.xml" Id="R82e4e57acbb444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cb7f0f347c4dd3"/>
    <p:sldLayoutId xmlns:r="http://schemas.openxmlformats.org/officeDocument/2006/relationships" id="2147483650" r:id="Rf84f3bd407e94ab8"/>
    <p:sldLayoutId xmlns:r="http://schemas.openxmlformats.org/officeDocument/2006/relationships" id="2147483651" r:id="Re1143a8b4e6b4abb"/>
    <p:sldLayoutId xmlns:r="http://schemas.openxmlformats.org/officeDocument/2006/relationships" id="2147483652" r:id="R170fbd2c010741f2"/>
    <p:sldLayoutId xmlns:r="http://schemas.openxmlformats.org/officeDocument/2006/relationships" id="2147483653" r:id="R0bba70e3bf514032"/>
    <p:sldLayoutId xmlns:r="http://schemas.openxmlformats.org/officeDocument/2006/relationships" id="2147483654" r:id="R82e4e57acbb444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aab7ef240449ad" /><Relationship Type="http://schemas.openxmlformats.org/officeDocument/2006/relationships/notesSlide" Target="/ppt/notesSlides/notesSlide1.xml" Id="Ra7d33a264052463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b07766eeed40cf" /><Relationship Type="http://schemas.openxmlformats.org/officeDocument/2006/relationships/notesSlide" Target="/ppt/notesSlides/notesSlide2.xml" Id="R294b5ee7560c4f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31853023b24911" /><Relationship Type="http://schemas.openxmlformats.org/officeDocument/2006/relationships/notesSlide" Target="/ppt/notesSlides/notesSlide3.xml" Id="R798df2c70dbb46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00a200909a4dd7" /><Relationship Type="http://schemas.openxmlformats.org/officeDocument/2006/relationships/image" Target="/ppt/media/image.png" Id="R0aff9c9b7b1444ee" /><Relationship Type="http://schemas.openxmlformats.org/officeDocument/2006/relationships/image" Target="/ppt/media/image.svg" Id="R7fddf7bc8d0d4848" /><Relationship Type="http://schemas.openxmlformats.org/officeDocument/2006/relationships/notesSlide" Target="/ppt/notesSlides/notesSlide4.xml" Id="R9ac017c98b3e44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2c83b5e7f64245" /><Relationship Type="http://schemas.openxmlformats.org/officeDocument/2006/relationships/notesSlide" Target="/ppt/notesSlides/notesSlide5.xml" Id="Re2eecda00cb04a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bf7e6ed8d4d44" /><Relationship Type="http://schemas.openxmlformats.org/officeDocument/2006/relationships/notesSlide" Target="/ppt/notesSlides/notesSlide6.xml" Id="R21b92106555549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5636bfbbd4c15" /><Relationship Type="http://schemas.openxmlformats.org/officeDocument/2006/relationships/notesSlide" Target="/ppt/notesSlides/notesSlide7.xml" Id="R0585f8c657c748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b95815b1af427d" /><Relationship Type="http://schemas.openxmlformats.org/officeDocument/2006/relationships/notesSlide" Target="/ppt/notesSlides/notesSlide8.xml" Id="R1171b8a77f5a4d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6b955dea434a7f" /><Relationship Type="http://schemas.openxmlformats.org/officeDocument/2006/relationships/notesSlide" Target="/ppt/notesSlides/notesSlide9.xml" Id="R8f0ee04b2c6f4cd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550852bceb419c" /><Relationship Type="http://schemas.openxmlformats.org/officeDocument/2006/relationships/notesSlide" Target="/ppt/notesSlides/notesSlide10.xml" Id="Rcaae82991cbf4cd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87bfe355084409" /><Relationship Type="http://schemas.openxmlformats.org/officeDocument/2006/relationships/notesSlide" Target="/ppt/notesSlides/notesSlide11.xml" Id="R0697f819a4244bd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b4de248e84661" /><Relationship Type="http://schemas.openxmlformats.org/officeDocument/2006/relationships/notesSlide" Target="/ppt/notesSlides/notesSlide12.xml" Id="R11fa1ff24a634e3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6983fe17c499d" /><Relationship Type="http://schemas.openxmlformats.org/officeDocument/2006/relationships/notesSlide" Target="/ppt/notesSlides/notesSlide13.xml" Id="R6786a2bb4d6c414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a3207a1180473f" /><Relationship Type="http://schemas.openxmlformats.org/officeDocument/2006/relationships/notesSlide" Target="/ppt/notesSlides/notesSlide14.xml" Id="R7ac88dc5a9704d5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bcd326e14a44c3" /><Relationship Type="http://schemas.openxmlformats.org/officeDocument/2006/relationships/notesSlide" Target="/ppt/notesSlides/notesSlide15.xml" Id="R79f2f3369af94f7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53D3E71-033C-4F28-B471-8D2D8747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issue-tracker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C233C83-C080-4DF6-AE45-8FAE494C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社区问题管理与测试分析</a:t>
            </a:r>
          </a:p>
        </p:txBody>
      </p:sp>
      <p:sp>
        <p:nvSpPr>
          <p:cNvPr id="4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9C8055C2-DF1B-45D9-9B6F-03C0123A7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86125"/>
            <a:ext cx="1590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项目改进汇报</a:t>
            </a:r>
          </a:p>
        </p:txBody>
      </p:sp>
      <p:sp>
        <p:nvSpPr>
          <p:cNvPr id="5" name="cover-body">
            <a:extLst xmlns:a="http://schemas.openxmlformats.org/drawingml/2006/main">
              <a:ext uri="{FF2B5EF4-FFF2-40B4-BE49-F238E27FC236}">
                <a16:creationId xmlns:a16="http://schemas.microsoft.com/office/drawing/2014/main" id="{8C5F4223-2D11-4D20-8FA0-74A16FF4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86375"/>
            <a:ext cx="15525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现状调查、根因分析、目标设定</a:t>
            </a:r>
          </a:p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对策实施与效果确认</a:t>
            </a:r>
          </a:p>
        </p:txBody>
      </p:sp>
      <p:sp>
        <p:nvSpPr>
          <p:cNvPr id="6" name="cover-date">
            <a:extLst xmlns:a="http://schemas.openxmlformats.org/drawingml/2006/main">
              <a:ext uri="{FF2B5EF4-FFF2-40B4-BE49-F238E27FC236}">
                <a16:creationId xmlns:a16="http://schemas.microsoft.com/office/drawing/2014/main" id="{6262BDC9-975C-4FCD-A112-F5A3320E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096250"/>
            <a:ext cx="1428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791621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771700-5223-49CB-A7FD-6E5C408E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现状调查：社区 Issue 管理的五项痛点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90C3D6A0-B1AC-44A1-AF7D-B6663457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社区反馈持续增加，正文、评论和处理进展分散。测试人员需要先收集、阅读和判断，再准备验证材料。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以下痛点来自项目需求与使用反馈，具体耗时和遗漏比例仍需建立统计基线。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BF0AE-152A-4147-AB4C-08BCB326DF0C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具体表现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对测试工作的影响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新增问题、历史更新和维护者回复需要反复查看。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正文、评论与状态变化缺少统一的跟踪入口。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容易重复查找与核对。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重要更新可能未能及时跟进。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逐条阅读长正文、多轮评论和错误日志。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重复提取问题现象、环境配置与处理进展。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资料准备占用分析精力。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集中梳理大量问题时耗时明显。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缺陷、文档、咨询和 RFC 混杂在完整列表中。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价值、版本适用性和复现条件需要分别判断。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测试资源难以确定投入顺序。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重要缺陷可能被低相关反馈淹没。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模型、量化、并行方式与软硬件版本组合复杂。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启动参数、触发请求或复现步骤可能缺失。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需要重新翻阅正文与评论补齐参数。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难以判断是否具备开展验证的条件。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分析结论、补测建议与处理进展分散保存。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交接时缺少可直接接续的材料和判断依据。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接手者重复阅读与分析。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典型问题难以积累为后续测试输入。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80763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DD82E5-F549-42BA-B211-00F76253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SIPOC：流程范围与关键指标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ABD3570C-4779-4C28-B90F-1D85C169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使用方需要有依据、可接续的分析记录，项目通过统一台账、筛选和辅助整理减少形成这些材料的人工投入。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据此提出主指标“单条 Issue 分析平均人工耗时”，在输出质量满足要求的前提下比较改进前后变化。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B9A6A-1F92-4FDE-A470-672AB60E34DC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3333750"/>
                <a:gridCol w="3429000"/>
                <a:gridCol w="3524250"/>
                <a:gridCol w="2952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 供应方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 输入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 处理过程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 输出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使用方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619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Issue 提交者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社区维护者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参与讨论的用户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提供问题与后续反馈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正文、评论与日志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标签、状态与版本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模型、环境配置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已有人工分析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保留来源与信息缺口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同步获取与集中查看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筛选并确定分析范围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人工或 AI 辅助归纳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人员审核、修正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保存记录与专题导出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经审核的分析记录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问题判断与依据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关键配置与信息缺口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后续验证或跟进建议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为复现提供准备材料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开发与问题负责人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评审和交接人员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据此判断下一步工作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主指标名称">
            <a:extLst xmlns:a="http://schemas.openxmlformats.org/drawingml/2006/main">
              <a:ext uri="{FF2B5EF4-FFF2-40B4-BE49-F238E27FC236}">
                <a16:creationId xmlns:a16="http://schemas.microsoft.com/office/drawing/2014/main" id="{CE0DC976-54BF-4B17-B27A-35CF2FB97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341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关键指标：单条 Issue 分析平均人工耗时（分钟／条）</a:t>
            </a:r>
          </a:p>
        </p:txBody>
      </p:sp>
      <p:sp>
        <p:nvSpPr>
          <p:cNvPr id="6" name="主指标公式">
            <a:extLst xmlns:a="http://schemas.openxmlformats.org/drawingml/2006/main">
              <a:ext uri="{FF2B5EF4-FFF2-40B4-BE49-F238E27FC236}">
                <a16:creationId xmlns:a16="http://schemas.microsoft.com/office/drawing/2014/main" id="{279A8798-559A-4F93-8AC8-E557F005A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019925"/>
            <a:ext cx="1609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计算公式：样本全部参与人员的分析总工时（分钟） ÷ 样本 Issue 数量</a:t>
            </a:r>
          </a:p>
        </p:txBody>
      </p:sp>
      <p:sp>
        <p:nvSpPr>
          <p:cNvPr id="7" name="指标计量边界">
            <a:extLst xmlns:a="http://schemas.openxmlformats.org/drawingml/2006/main">
              <a:ext uri="{FF2B5EF4-FFF2-40B4-BE49-F238E27FC236}">
                <a16:creationId xmlns:a16="http://schemas.microsoft.com/office/drawing/2014/main" id="{BE3C5994-9B39-43CE-8EE5-865DACA0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715250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统计口径：从收集信息到审核保存分析记录，累计查找、阅读、提取、审核、修正及返工的人工时间。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固定样本清单，逐条完成记录；AI 失败后的人工接续照计，不只统计成功项，无人值守等待不计人工工时。</a:t>
            </a:r>
          </a:p>
        </p:txBody>
      </p:sp>
      <p:sp>
        <p:nvSpPr>
          <p:cNvPr id="8" name="指标对照和质量要求">
            <a:extLst xmlns:a="http://schemas.openxmlformats.org/drawingml/2006/main">
              <a:ext uri="{FF2B5EF4-FFF2-40B4-BE49-F238E27FC236}">
                <a16:creationId xmlns:a16="http://schemas.microsoft.com/office/drawing/2014/main" id="{A3CE0988-BF19-45BB-9DD8-584E546C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848725"/>
            <a:ext cx="1609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对照要求：使用相近类型与复杂度的样本，统一完成标准，比较纯人工与辅助流程。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质量前提：结论可追溯、信息缺口明确、材料经使用方审核。当前基线待采集，目标值在首轮统计后确定。</a:t>
            </a:r>
          </a:p>
        </p:txBody>
      </p:sp>
    </p:spTree>
    <p:extLst>
      <p:ext uri="{BB962C8B-B14F-4D97-AF65-F5344CB8AC3E}">
        <p14:creationId xmlns:p14="http://schemas.microsoft.com/office/powerpoint/2010/main" val="2085214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3F93B3-163F-4532-9240-DC60A294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根因分析：社区反馈转化为测试输入的障碍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93A1548-2811-4AA1-A89B-C994AFA6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从信息获取、分析方法、环境配置、人员协作、工作流程和知识沉淀六个方面展开原因。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鱼骨图列出可能因素，后续需要用流程走查、样本检查和对照验证确认主要原因。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066482-28FF-433D-A56B-E189EF9022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f9c9b7b1444ee">
            <a:extLst>
              <a:ext uri="{96DAC541-7B7A-43D3-8B79-37D633B846F1}">
                <asvg:svgBlip xmlns:asvg="http://schemas.microsoft.com/office/drawing/2016/SVG/main" r:embed="R7fddf7bc8d0d4848"/>
              </a:ext>
            </a:extLst>
          </a:blip>
          <a:srcRect xmlns:a="http://schemas.openxmlformats.org/drawingml/2006/main" l="0" t="17000" r="0" b="10000"/>
          <a:stretch xmlns:a="http://schemas.openxmlformats.org/drawingml/2006/main"/>
        </p:blipFill>
        <p:spPr>
          <a:xfrm xmlns:a="http://schemas.openxmlformats.org/drawingml/2006/main">
            <a:off x="476250" y="2714625"/>
            <a:ext cx="17335500" cy="676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54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91EF286-84BF-4E2F-8F67-331559C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目标设定：明确希望改善什么、如何验收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E2E2499D-C284-4BE5-85AB-B5296F5E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整体目标是持续跟踪社区问题，减少重复整理，帮助人员选择重点验证对象，并积累可继续使用的分析材料。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目标描述的是希望取得的改进，是否达成需要结合实际使用数据和测试人员反馈判断。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F617A6-6DFF-462F-95C5-AC95A43752C5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334250"/>
                <a:gridCol w="5810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具体含义与项目解决方式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验收依据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集中维护问题列表，持续同步新增和历史更新。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统一仓库、时间和状态口径，支持全量核对。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社区字段更新时保留本地人工分析。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同口径核对问题数量并抽查具体条目。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检查历史更新是否跟进。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确认人工结论未被同步覆盖。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集中展示原文与评论，减少跨页面查找。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辅助归纳摘要与补测建议，支持批量处理。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人员核对和修正后使用结果。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对比单条 Issue 分析平均人工耗时。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包括查找、阅读、审核与修正。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质量标准一致，计入错误与返工。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按时间、状态、标签和版本收敛范围。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结合价值与复现条件形成优先处理候选。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保留完整列表，人工复查重要遗漏。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人工评审候选是否值得投入测试。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抽查筛选结果之外的重要问题。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观察筛选准备时间与判断分歧。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辅助提取模型配置、硬件环境和软件版本。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整理触发条件、预期结果和已知错误现象。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明确缺失信息，实际复现仍由测试人员执行。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检查关键参数与待确认项是否清楚。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由测试人员评估材料能否用于验证。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不能将材料生成等同于复现成功。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提高分析材料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将人工结论、补测建议和进展保存在台账。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支持按专题整理与导出，便于评审交接。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关联来源问题，积累典型测试场景。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检查接手者能否继续分析而非重做。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记录材料在同类问题中的实际使用。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跟踪与测试验证记录的关联。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70784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D8F2C99-4481-4363-A14E-6956AB57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主要原因与改进方向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A1DA2EF-A177-43CC-A9D6-2438860B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根据现状与鱼骨图，将需要重点改善的原因归纳为三个方面，并对应到后续五项具体对策。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以下是基于需求与使用反馈的初步判断，实际作用需结合工时、遗漏和材料使用记录持续核验。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95E08-0603-4980-ABC8-EC45D72F6ABE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6191250"/>
                <a:gridCol w="63817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主要原因判断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对工作的影响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对应的改进方向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信息与分析记录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分散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新增、历史更新和人工结论缺少集中管理。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人员在不同页面与材料间反复查找、核对。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交接时难以接续已有判断，容易重复收集信息。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持续同步与统一问题列表：集中获取、跟进更新。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分析记录与协作复用：保留结论、进展和依据。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通过专题导出支持评审交接，减少重复查找。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阅读归纳与配置提取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依赖人工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长正文、多轮评论与日志需要逐条阅读整理。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模型、软硬件环境和触发参数分散，容易遗漏。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缺少固定检查项时，需要再次翻阅和补采。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辅助与批量任务：减少重复阅读和资料归纳。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复现材料整理：在“补充测试”中梳理关键条件。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明确缺失参数，由人员审核、补齐并执行验证。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03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价值与复现性判断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缺少统一口径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对问题价值、版本适用性和复现条件判断不一。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重点候选难以确定，人员评审容易出现分歧。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高价值但信息不足的问题可能过早排除。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多维筛选与统一评价：明确候选选择和排序依据。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保留完整列表，对重要但信息不足的问题复查。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结合人工评审与遗漏检查，持续调整筛选规则。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8433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C4F9ABA-E8AC-4690-8FE3-CDEE8B5F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拟定对策：针对每项痛点设计解决方案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879661C-8308-42E9-B322-CB5D7C37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各项对策共同服务于项目整体目标。AI 主要用于辅助整理，统一台账、筛选和人工记录也能独立提供价值。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方案是否有效，需要同时考虑人员投入、分析质量及后续测试使用情况。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C00DC-5FB9-4E5C-81B7-007410A5CE92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810500"/>
                <a:gridCol w="5334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针对的痛点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解决方案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预期形成的工作材料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全量同步与增量更新结合，提供手动校准入口。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统一仓库、时间和状态口径，集中查看问题。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分别维护社区信息与本地人工分析。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持续更新的问题台账。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可核对的专项清单。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历史更新与人工分析记录。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集中提供正文、评论和已有分析作为上下文。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辅助归纳，支持选中问题和筛选范围批量处理。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人员审核、修正并决定是否采纳建议。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待审核的结构化建议。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批量任务进度与失败项。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人工审核后的分析结果。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按日期、状态、标签和版本缩小分析范围。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结合价值与复现条件形成候选排序。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过滤文档、RFC 等类型时保留完整列表供复查。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重点验证候选及筛选依据。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人工补充的价值判断。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重要遗漏的复查记录。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按模型、配置、环境和触发场景整理补测材料。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明确哪些参数来自原文，哪些信息尚未提供。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测试人员补齐条件后执行验证并记录结果。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模型与软硬件配置清单。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复现场景及缺失参数。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后续验证动作与结果记录。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集中保存分析结论、补测建议与处理进展。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支持按专题整理、导出和交接。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在测试材料中保留来源 Issue 及判断依据。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可接续的分析台账。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专题评审与交接材料。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典型场景及其来源记录。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336407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9F5DC4-17AD-4529-B865-55968F4D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对策实施：持续同步与统一台账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53122387-7A6D-4056-8994-9A2ADC90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解决“持续跟踪困难”：把分散的问题信息收敛到统一入口，支持持续更新、专项筛选和完整性核对。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统计时需要统一仓库、时间、状态以及是否包含 PR，避免把统计口径差异误判为数据遗漏。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523FFFA4-20A0-44C6-BBB2-7DF48562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明确同步与核对范围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15387504-3633-4513-A0B7-630E5876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统一仓库、日期和状态条件。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对照同一口径的问题数量与具体条目，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同时检查新增问题和历史更新。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1D89529F-D8E6-4D0D-B5D3-E7E3E198E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持续维护问题台账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C7FDFB23-BB3F-4084-965A-BB110D3C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全量获取用于建立和校准台账，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增量同步用于日常跟进。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同步完成后仍需关注异常与漏项。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50E6DCB6-DBF7-4793-BD94-14959457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保护本地人工分析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15103DED-F921-4113-892D-F90976D0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社区字段与人工结论分开维护。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更新标题、正文和状态时，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保留已有分析、备注与补测建议。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5C07466B-0B5D-4820-BBFA-EA28B699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形成可检查的专项清单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868379C9-2421-493E-9383-E61C6ADD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按时间、状态、标签等收敛范围。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通过清单逐项核对更新与遗漏，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减少反复打开社区页面查找。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5D386C90-3DDF-4114-B55D-D4F98BA4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实际界面：问题列表与同步状态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2EF13FB8-44A2-434E-AD50-D885B12D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677568BB-367A-492A-93D0-4A9A29CC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A73D034E-4DAD-46A1-BF2D-4899B31B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建议粘贴问题列表、同步状态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或同口径数量核对截图</a:t>
            </a:r>
          </a:p>
        </p:txBody>
      </p:sp>
    </p:spTree>
    <p:extLst>
      <p:ext uri="{BB962C8B-B14F-4D97-AF65-F5344CB8AC3E}">
        <p14:creationId xmlns:p14="http://schemas.microsoft.com/office/powerpoint/2010/main" val="194318406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583BF1D-8EA3-439D-8C10-DCD3738F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对策实施：AI 辅助分析与批量任务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A68000F3-5D52-4A46-B48C-059D1BF7D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解决“人工整理投入大”：由模型先整理材料，人员再核对证据、修正结论并决定是否采纳。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模块仍需持续评估，效率收益应包含审核、修正和失败重试成本，不能仅看生成建议数量。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AEEBE7B2-D730-4E95-9CB6-E8C63BB3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准备可靠的分析上下文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F4ACB67B-63B8-4FB9-8249-D77A5475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结合正文、评论和已有分析。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明确材料来源与缺失部分，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避免模型把推测当成已确认事实。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A990F610-7B31-4624-9506-D323C2AD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生成待审核的结构化建议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D3A5C127-65B0-404E-A483-62A0AB55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归纳问题摘要、现象和补测建议。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区分事实、可能原因与待确认参数，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漏测原因结合实际测试覆盖人工判断。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430F3742-BF69-4A6F-ACC8-B5637B11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批量处理与异常跟进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27592F75-9268-436C-ADFF-8392A41B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支持勾选问题或按筛选范围执行。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通过并发任务处理多条问题，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查看进度及失败项并跟进重试。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81652FFC-61CB-433D-915F-F0F116AB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人工核对后保存结果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79233A55-D280-427B-A8F4-97C57A76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对照原文检查版本、配置和判断。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修正后决定是否采纳并保存，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保留已有人工内容及必要说明。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F4577606-18EF-43F5-941E-7AA96A7BD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实际界面：分析建议与批量任务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4F75CD93-785A-41CA-BBF4-CD82CE4C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761B4F1E-F612-472E-9618-F3BB2FC85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728B5086-4906-44A3-8324-6A3AEA86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 AI 建议、审核采纳界面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或批量分析进度截图</a:t>
            </a:r>
          </a:p>
        </p:txBody>
      </p:sp>
    </p:spTree>
    <p:extLst>
      <p:ext uri="{BB962C8B-B14F-4D97-AF65-F5344CB8AC3E}">
        <p14:creationId xmlns:p14="http://schemas.microsoft.com/office/powerpoint/2010/main" val="20276413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985661-CF67-483F-AE1C-407163E2D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对策实施：重点筛选与复现材料整理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4BA3FFD4-969C-4230-93BC-E4AEC207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解决“筛选难、复现材料不完整”：先选择值得投入的问题，再整理开展验证所需的配置与条件。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系统辅助完成复现前的材料准备，不能代替测试人员部署环境、执行请求或确认根因。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3C29A34B-686D-443D-9395-6CAEE1AB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筛选值得验证的候选问题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81A4B073-7BE1-474D-A8D4-F42A013A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按时间、版本、类型等缩小范围。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结合价值与复现条件排序，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保留完整列表复查重要问题遗漏。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82372877-852F-4CB2-9CD7-D4A297E7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提取模型与环境配置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637798E9-A237-4161-93BD-DBC19626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整理模型名称、量化与并行配置。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提取 A2/A3/A5 硬件及软件版本，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没有来源支持的参数标为待确认。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2D95A9CD-FD74-426F-8F22-448028C6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梳理触发条件与错误现象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0DC39C23-AE7E-47F3-B266-91EAC81F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整理启动命令、请求和执行阶段。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关注并发、输入长度与异常日志，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写清预期结果和实际差异。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E9B324B0-F988-4989-BFFB-45B82C36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由测试人员补齐并验证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D368E749-FD7D-4509-8D4F-B3B6A5D42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列出缺失参数和需要追问的信息。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人员准备环境并执行验证，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将复现是否成功及结果补回记录。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5AD28B3C-E2CE-4983-B118-9F3BC09B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实际界面：候选清单与配置材料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027EB501-BA3A-4122-9AC6-85255D53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5A2351D3-E1E3-4337-B48A-FE0EAFA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97E6B584-A00E-4F0D-8341-4AA9FD8B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建议粘贴重点候选列表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或模型、环境、复现场景分析截图</a:t>
            </a:r>
          </a:p>
        </p:txBody>
      </p:sp>
    </p:spTree>
    <p:extLst>
      <p:ext uri="{BB962C8B-B14F-4D97-AF65-F5344CB8AC3E}">
        <p14:creationId xmlns:p14="http://schemas.microsoft.com/office/powerpoint/2010/main" val="7326966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5AEA04-E61B-4354-998F-9D9B2333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对策实施：分析记录、评审交接与材料复用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1C50BCB5-529A-4C75-8235-BD2DBE516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解决“分析经验难复用”：将结论、依据、补测建议和处理进展保留在统一台账，便于接手者继续工作。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典型问题转化为测试场景时，还需要人员补充实际执行结果，并保留来源问题与验证记录的关联。</a:t>
            </a:r>
          </a:p>
        </p:txBody>
      </p:sp>
      <p:sp>
        <p:nvSpPr>
          <p:cNvPr id="4" name="实施小标题-0">
            <a:extLst xmlns:a="http://schemas.openxmlformats.org/drawingml/2006/main">
              <a:ext uri="{FF2B5EF4-FFF2-40B4-BE49-F238E27FC236}">
                <a16:creationId xmlns:a16="http://schemas.microsoft.com/office/drawing/2014/main" id="{DF7F0F7A-C8AF-4796-A702-015919F87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统一维护人工分析记录</a:t>
            </a:r>
          </a:p>
        </p:txBody>
      </p:sp>
      <p:sp>
        <p:nvSpPr>
          <p:cNvPr id="5" name="实施说明-0">
            <a:extLst xmlns:a="http://schemas.openxmlformats.org/drawingml/2006/main">
              <a:ext uri="{FF2B5EF4-FFF2-40B4-BE49-F238E27FC236}">
                <a16:creationId xmlns:a16="http://schemas.microsoft.com/office/drawing/2014/main" id="{EA6646C7-3E03-44D2-B184-1893A2345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7660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保存问题识别、结论与补测建议。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持续补充版本支持和处理进展，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让后续人员了解当前判断与待办。</a:t>
            </a:r>
          </a:p>
        </p:txBody>
      </p:sp>
      <p:sp>
        <p:nvSpPr>
          <p:cNvPr id="6" name="实施小标题-1">
            <a:extLst xmlns:a="http://schemas.openxmlformats.org/drawingml/2006/main">
              <a:ext uri="{FF2B5EF4-FFF2-40B4-BE49-F238E27FC236}">
                <a16:creationId xmlns:a16="http://schemas.microsoft.com/office/drawing/2014/main" id="{54CF9D0A-C30F-4D54-967E-27250EAA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4817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按专题组织评审材料</a:t>
            </a:r>
          </a:p>
        </p:txBody>
      </p:sp>
      <p:sp>
        <p:nvSpPr>
          <p:cNvPr id="7" name="实施说明-1">
            <a:extLst xmlns:a="http://schemas.openxmlformats.org/drawingml/2006/main">
              <a:ext uri="{FF2B5EF4-FFF2-40B4-BE49-F238E27FC236}">
                <a16:creationId xmlns:a16="http://schemas.microsoft.com/office/drawing/2014/main" id="{0BFC0270-61AB-4BB6-92BF-B1F0ADD1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6252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利用筛选结果形成专项清单。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导出后结合原文与已有结论评审，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保留判断依据与尚未解决的信息缺口。</a:t>
            </a:r>
          </a:p>
        </p:txBody>
      </p:sp>
      <p:sp>
        <p:nvSpPr>
          <p:cNvPr id="8" name="实施小标题-2">
            <a:extLst xmlns:a="http://schemas.openxmlformats.org/drawingml/2006/main">
              <a:ext uri="{FF2B5EF4-FFF2-40B4-BE49-F238E27FC236}">
                <a16:creationId xmlns:a16="http://schemas.microsoft.com/office/drawing/2014/main" id="{A91F9F13-6D22-4430-97AC-1E3451D6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34100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减少交接中的重复工作</a:t>
            </a:r>
          </a:p>
        </p:txBody>
      </p:sp>
      <p:sp>
        <p:nvSpPr>
          <p:cNvPr id="9" name="实施说明-2">
            <a:extLst xmlns:a="http://schemas.openxmlformats.org/drawingml/2006/main">
              <a:ext uri="{FF2B5EF4-FFF2-40B4-BE49-F238E27FC236}">
                <a16:creationId xmlns:a16="http://schemas.microsoft.com/office/drawing/2014/main" id="{8E4DB57E-AA29-4A27-AC78-7576E556B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6484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接手者先查看已有分析和验证情况。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在此前记录上补充、修正和跟进，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减少重新阅读和重复收集材料。</a:t>
            </a:r>
          </a:p>
        </p:txBody>
      </p:sp>
      <p:sp>
        <p:nvSpPr>
          <p:cNvPr id="10" name="实施小标题-3">
            <a:extLst xmlns:a="http://schemas.openxmlformats.org/drawingml/2006/main">
              <a:ext uri="{FF2B5EF4-FFF2-40B4-BE49-F238E27FC236}">
                <a16:creationId xmlns:a16="http://schemas.microsoft.com/office/drawing/2014/main" id="{B9F8FEE3-255F-400B-8B6A-808F7521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20025"/>
            <a:ext cx="628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积累可追溯的典型场景</a:t>
            </a:r>
          </a:p>
        </p:txBody>
      </p:sp>
      <p:sp>
        <p:nvSpPr>
          <p:cNvPr id="11" name="实施说明-3">
            <a:extLst xmlns:a="http://schemas.openxmlformats.org/drawingml/2006/main">
              <a:ext uri="{FF2B5EF4-FFF2-40B4-BE49-F238E27FC236}">
                <a16:creationId xmlns:a16="http://schemas.microsoft.com/office/drawing/2014/main" id="{00890C33-CB92-4144-A23C-5CB5DC2A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334375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整理配置、触发条件与验证结果。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转化测试材料时关联来源 Issue，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通过再次使用判断材料是否有价值。</a:t>
            </a:r>
          </a:p>
        </p:txBody>
      </p:sp>
      <p:sp>
        <p:nvSpPr>
          <p:cNvPr id="12" name="截图主题">
            <a:extLst xmlns:a="http://schemas.openxmlformats.org/drawingml/2006/main">
              <a:ext uri="{FF2B5EF4-FFF2-40B4-BE49-F238E27FC236}">
                <a16:creationId xmlns:a16="http://schemas.microsoft.com/office/drawing/2014/main" id="{389A5BF9-5CBB-4368-A916-9D1AED9A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622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实际界面：分析记录与评审导出</a:t>
            </a:r>
          </a:p>
        </p:txBody>
      </p:sp>
      <p:sp>
        <p:nvSpPr>
          <p:cNvPr id="13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EF55424C-663F-4FC7-A66C-9465F133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4" name="截图提示">
            <a:extLst xmlns:a="http://schemas.openxmlformats.org/drawingml/2006/main">
              <a:ext uri="{FF2B5EF4-FFF2-40B4-BE49-F238E27FC236}">
                <a16:creationId xmlns:a16="http://schemas.microsoft.com/office/drawing/2014/main" id="{E1FC171F-678F-4DB1-9DFE-86A818228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048250"/>
            <a:ext cx="876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5" name="截图建议">
            <a:extLst xmlns:a="http://schemas.openxmlformats.org/drawingml/2006/main">
              <a:ext uri="{FF2B5EF4-FFF2-40B4-BE49-F238E27FC236}">
                <a16:creationId xmlns:a16="http://schemas.microsoft.com/office/drawing/2014/main" id="{0A0EA224-473C-4331-8BD8-D7119A2BA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00750"/>
            <a:ext cx="8477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建议粘贴人工分析、处理进展</a:t>
            </a:r>
          </a:p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或专题清单导出结果截图</a:t>
            </a:r>
          </a:p>
        </p:txBody>
      </p:sp>
    </p:spTree>
    <p:extLst>
      <p:ext uri="{BB962C8B-B14F-4D97-AF65-F5344CB8AC3E}">
        <p14:creationId xmlns:p14="http://schemas.microsoft.com/office/powerpoint/2010/main" val="12989896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6732C2-8B1C-4C6E-8D46-11C03FC8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实施案例：Issue #16608 分析、复现与工单转化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B395AAB4-ABA2-46FC-A999-4D82F7F9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处理流程包括社区反馈、AI 辅助分析、人工复现、工单处理及后续测试用例补充。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辅助整理验证线索，人员核对并执行复现；当前已完成复现与工单转化，修复和补测继续跟进。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6C388-0A3B-423B-AD80-89366D899326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9715500"/>
                <a:gridCol w="34290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实施环节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案例内容与处理动作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当前状态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社区问题与验证线索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原帖报告：PP=2、TP=1 时推理乱码，切换为 TP=2、PP=1 后正常。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报告模型为 Qwen3.8-27B W8A8，并提供环境与启动参数。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这些是社区报告的信息，内部实际配置以复现记录为准。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来源明确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GitHub Issue #16608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辅助分析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利用项目 AI 分析辅助归纳问题现象、模型配置和环境参数。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围绕 PP/TP 对照条件整理验证建议，明确需要确认的信息。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人员核对后用于复现准备，可能原因仍需实际验证。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辅助整理与分析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建议需人工审核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人工执行复现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项目负责人已在实际环境中完成该问题的复现。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人工验证为转工单提供实际的问题依据。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内部环境配置、触发请求与结果建议随工单留存。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已完成复现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项目负责人确认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转为工单推进解决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已将复现问题转换为工单，进入问题处理流程。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后续结合工单跟进定位、修复和验证。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工单编号与处理进展可按实际记录补充。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已转为工单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修复完成状态未确认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安排补充测试用例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后续安排测试人员补充相关场景的测试用例。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建议结合 PP/TP 对照场景与修复结果评审回归范围。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用例完成、执行通过和纳入回归需要后续记录确认。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后续安排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用例完成情况待跟进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4098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3CE942-4D8F-4DAA-9379-82704E3D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效果确认：逐项目标检查是否取得实际改善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156B39AB-110A-4CDB-A48E-EF8C9C800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结合实际使用案例与后续对照数据评价项目效果，区分流程应用成果和整体量化收益。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目前已有问题复现与工单转化案例；整体耗时、材料质量和筛选效果仍需按统一口径评估。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B20EC-3199-44AE-8AB7-907EA00ECBE3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810500"/>
                <a:gridCol w="514350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效果确认方法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当前结论与所需材料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提高跟踪可靠性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同口径核对数量并抽查具体问题。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检查新增获取、历史更新和人工分析保留情况。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补充核对清单、漏项抽查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和历史更新检查记录。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减少人工整理投入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比较单条 Issue 分析平均人工耗时。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 SIPOC 页口径计入审核、返工与人工接续。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补充纯人工基线与辅助流程工时，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在同一质量标准下比较。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提高重点筛选效率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人工评审候选是否值得投入测试。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抽查被筛问题中的重要遗漏和评审分歧。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补充候选评审、遗漏复查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和筛选准备耗时记录。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完整性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检查模型配置、环境、触发条件和缺失信息。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由测试人员反馈材料是否支持开展验证。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 #16608 复现与工单案例。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补充用例属于后续安排。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整体材料质量仍需样本评估。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19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提高材料复用能力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检查分析能否接续、交接是否减少重复工作。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跟踪典型材料在其他问题或测试中的实际使用。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补充交接使用、重复工作变化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和材料复用关联记录。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78764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594B6BA-76A2-4397-AD1F-B5E4656E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效果确认：建立可重复的基线与对照评价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634ACEC6-A1E1-4B4A-A7BF-D99DFE066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采用一致的样本范围和评价口径，避免只展示容易处理的问题或只统计模型输出。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具体比例阈值在第一轮基线后评审确定，后续用新样本验证规则调整是否有效。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11FD6A-B50D-4652-85F3-CD26D2627E73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681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715250"/>
                <a:gridCol w="5429250"/>
              </a:tblGrid>
              <a:tr h="7143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评价环节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具体实施方式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需要保留的证据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选取代表性样本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覆盖缺陷、文档、咨询及不同信息完整度。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统一仓库、时间范围和样本复杂度，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避免只选择短正文或容易判断的问题。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样本清单、数量和选取规则。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参与人员与执行时间。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问题类型和材料复杂度说明。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记录纯人工基线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按原有方式完成查找、阅读与资料整理。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分别记录各环节耗时及缺失参数，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检查原有交接是否需要重复收集信息。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分环节工时。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配置与触发条件检查结果。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原有交接过程和重复工作记录。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执行辅助流程并审核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通过台账、筛选与 AI 建议辅助处理。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人员核对、修正并补齐材料，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同时抽查候选和筛选之外的重要问题。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人工总耗时与审核修正情况。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候选有效性和重要遗漏。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失败重试、补采和实际使用反馈。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524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判断达成情况并复评</a:t>
                      </a:r>
                    </a:p>
                  </a:txBody>
                  <a:tcPr marL="190500" marR="190500" marT="123825" marB="123825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按各项目标比较基线与对照结果。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未改善时回看材料、规则或使用方式，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调整后用另一批样本再次评价。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目标达成结论及其依据。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尚未解决的问题与改进措施。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新一轮样本的复评结果。</a:t>
                      </a:r>
                    </a:p>
                  </a:txBody>
                  <a:tcPr marL="190500" marR="190500" marT="123825" marB="123825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2810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786BA9-2146-4B02-8BB9-1B0603ED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14375"/>
            <a:ext cx="163353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总结：项目价值与后续优化重点</a:t>
            </a:r>
          </a:p>
        </p:txBody>
      </p:sp>
      <p:sp>
        <p:nvSpPr>
          <p:cNvPr id="3" name="正文导语">
            <a:extLst xmlns:a="http://schemas.openxmlformats.org/drawingml/2006/main">
              <a:ext uri="{FF2B5EF4-FFF2-40B4-BE49-F238E27FC236}">
                <a16:creationId xmlns:a16="http://schemas.microsoft.com/office/drawing/2014/main" id="{3052F41F-D5A5-4CF5-BCEC-74DAEEB9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2401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issue-tracker 将社区问题获取、筛选、分析和材料保存集中到同一工作入口，支持测试人员持续开展分析。</a:t>
            </a:r>
          </a:p>
          <a:p xmlns:a="http://schemas.openxmlformats.org/drawingml/2006/main">
            <a:pPr algn="l">
              <a:def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项目价值需要结合实际使用、人工投入变化和测试验证贡献持续确认。</a:t>
            </a:r>
          </a:p>
        </p:txBody>
      </p:sp>
      <p:sp>
        <p:nvSpPr>
          <p:cNvPr id="4" name="总结标题-0">
            <a:extLst xmlns:a="http://schemas.openxmlformats.org/drawingml/2006/main">
              <a:ext uri="{FF2B5EF4-FFF2-40B4-BE49-F238E27FC236}">
                <a16:creationId xmlns:a16="http://schemas.microsoft.com/office/drawing/2014/main" id="{5617A8B3-5DB8-4B79-84DF-BD2EDCFD4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统一台账提供基础价值</a:t>
            </a:r>
          </a:p>
        </p:txBody>
      </p:sp>
      <p:sp>
        <p:nvSpPr>
          <p:cNvPr id="5" name="总结说明-0">
            <a:extLst xmlns:a="http://schemas.openxmlformats.org/drawingml/2006/main">
              <a:ext uri="{FF2B5EF4-FFF2-40B4-BE49-F238E27FC236}">
                <a16:creationId xmlns:a16="http://schemas.microsoft.com/office/drawing/2014/main" id="{78413F0E-5EDB-48A8-987A-BCDBE262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3852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持续跟进新增与历史更新，保留本地人工分析，减少跨页面查找、重复核对和交接中的资料分散。</a:t>
            </a:r>
          </a:p>
        </p:txBody>
      </p:sp>
      <p:sp>
        <p:nvSpPr>
          <p:cNvPr id="6" name="总结标题-1">
            <a:extLst xmlns:a="http://schemas.openxmlformats.org/drawingml/2006/main">
              <a:ext uri="{FF2B5EF4-FFF2-40B4-BE49-F238E27FC236}">
                <a16:creationId xmlns:a16="http://schemas.microsoft.com/office/drawing/2014/main" id="{8C71C46E-BC9B-445C-98D1-8D2F50E2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2437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AI 辅助降低重复整理工作</a:t>
            </a:r>
          </a:p>
        </p:txBody>
      </p:sp>
      <p:sp>
        <p:nvSpPr>
          <p:cNvPr id="7" name="总结说明-1">
            <a:extLst xmlns:a="http://schemas.openxmlformats.org/drawingml/2006/main">
              <a:ext uri="{FF2B5EF4-FFF2-40B4-BE49-F238E27FC236}">
                <a16:creationId xmlns:a16="http://schemas.microsoft.com/office/drawing/2014/main" id="{97706F5C-DD1D-4656-9316-9AF161C5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帮助人员阅读、归纳和提取材料，支持批量处理。人员负责证据核对和结论把关，持续评估审核后的实际收益。</a:t>
            </a:r>
          </a:p>
        </p:txBody>
      </p:sp>
      <p:sp>
        <p:nvSpPr>
          <p:cNvPr id="8" name="总结标题-2">
            <a:extLst xmlns:a="http://schemas.openxmlformats.org/drawingml/2006/main">
              <a:ext uri="{FF2B5EF4-FFF2-40B4-BE49-F238E27FC236}">
                <a16:creationId xmlns:a16="http://schemas.microsoft.com/office/drawing/2014/main" id="{2421157F-8790-4669-BC99-C18ADB5B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91250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筛选与材料整理支撑测试准备</a:t>
            </a:r>
          </a:p>
        </p:txBody>
      </p:sp>
      <p:sp>
        <p:nvSpPr>
          <p:cNvPr id="9" name="总结说明-2">
            <a:extLst xmlns:a="http://schemas.openxmlformats.org/drawingml/2006/main">
              <a:ext uri="{FF2B5EF4-FFF2-40B4-BE49-F238E27FC236}">
                <a16:creationId xmlns:a16="http://schemas.microsoft.com/office/drawing/2014/main" id="{65BE675C-8A8F-4A2C-B2D3-0545666B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72275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形成重点候选，整理模型、环境与触发条件，明确缺失信息。实际复现和根因确认仍需人员与实验环境完成。</a:t>
            </a:r>
          </a:p>
        </p:txBody>
      </p:sp>
      <p:sp>
        <p:nvSpPr>
          <p:cNvPr id="10" name="总结标题-3">
            <a:extLst xmlns:a="http://schemas.openxmlformats.org/drawingml/2006/main">
              <a:ext uri="{FF2B5EF4-FFF2-40B4-BE49-F238E27FC236}">
                <a16:creationId xmlns:a16="http://schemas.microsoft.com/office/drawing/2014/main" id="{750B1EA1-4E1D-477C-AF17-FA1478BF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858125"/>
            <a:ext cx="1614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后续优化以证据为依据</a:t>
            </a:r>
          </a:p>
        </p:txBody>
      </p:sp>
      <p:sp>
        <p:nvSpPr>
          <p:cNvPr id="11" name="总结说明-3">
            <a:extLst xmlns:a="http://schemas.openxmlformats.org/drawingml/2006/main">
              <a:ext uri="{FF2B5EF4-FFF2-40B4-BE49-F238E27FC236}">
                <a16:creationId xmlns:a16="http://schemas.microsoft.com/office/drawing/2014/main" id="{AE56F4C5-0BFF-4E84-9E52-3DFA2C6D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439150"/>
            <a:ext cx="1609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补充完整性核对、人工工时、候选有效性和材料复用记录。根据错误与返工情况优化提示词、筛选规则和分析流程。</a:t>
            </a:r>
          </a:p>
        </p:txBody>
      </p:sp>
    </p:spTree>
    <p:extLst>
      <p:ext uri="{BB962C8B-B14F-4D97-AF65-F5344CB8AC3E}">
        <p14:creationId xmlns:p14="http://schemas.microsoft.com/office/powerpoint/2010/main" val="15610694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2026-10-28T11:58:48.2730000Z</dcterms:created>
  <dcterms:modified xsi:type="dcterms:W3CDTF">2026-10-28T11:58:48.2730000Z</dcterms:modified>
</coreProperties>
</file>