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ac27266f684827" /><Relationship Type="http://schemas.openxmlformats.org/officeDocument/2006/relationships/extended-properties" Target="/docProps/app.xml" Id="R179a9b2198f744dc" /><Relationship Type="http://schemas.openxmlformats.org/officeDocument/2006/relationships/officeDocument" Target="/ppt/presentation.xml" Id="R08b04def839a4e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f1bb66da3d4725"/>
  </p:sldMasterIdLst>
  <p:notesMasterIdLst>
    <p:notesMasterId xmlns:r="http://schemas.openxmlformats.org/officeDocument/2006/relationships" r:id="R5d0504ea33b94b04"/>
  </p:notesMasterIdLst>
  <p:sldIdLst>
    <p:sldId xmlns:r="http://schemas.openxmlformats.org/officeDocument/2006/relationships" id="256" r:id="Rb24cd6a22d524240"/>
    <p:sldId xmlns:r="http://schemas.openxmlformats.org/officeDocument/2006/relationships" id="257" r:id="R81310c6c9f0048a7"/>
    <p:sldId xmlns:r="http://schemas.openxmlformats.org/officeDocument/2006/relationships" id="258" r:id="R482ff45e4f8544c8"/>
    <p:sldId xmlns:r="http://schemas.openxmlformats.org/officeDocument/2006/relationships" id="259" r:id="Re96b7f5fd2ee4a03"/>
    <p:sldId xmlns:r="http://schemas.openxmlformats.org/officeDocument/2006/relationships" id="260" r:id="Ra4830abe9da24765"/>
    <p:sldId xmlns:r="http://schemas.openxmlformats.org/officeDocument/2006/relationships" id="261" r:id="R1f28d95e43cb442f"/>
    <p:sldId xmlns:r="http://schemas.openxmlformats.org/officeDocument/2006/relationships" id="262" r:id="R617edb6c97e5441d"/>
    <p:sldId xmlns:r="http://schemas.openxmlformats.org/officeDocument/2006/relationships" id="263" r:id="R5b6cff75f751428c"/>
    <p:sldId xmlns:r="http://schemas.openxmlformats.org/officeDocument/2006/relationships" id="264" r:id="R5777acf9adfa47a7"/>
    <p:sldId xmlns:r="http://schemas.openxmlformats.org/officeDocument/2006/relationships" id="265" r:id="Rfde3e8c6c89a4706"/>
    <p:sldId xmlns:r="http://schemas.openxmlformats.org/officeDocument/2006/relationships" id="266" r:id="Rfbfda11561fb4a32"/>
    <p:sldId xmlns:r="http://schemas.openxmlformats.org/officeDocument/2006/relationships" id="267" r:id="Rcf6276d8600a4cac"/>
    <p:sldId xmlns:r="http://schemas.openxmlformats.org/officeDocument/2006/relationships" id="268" r:id="Rbb8fbe7512734f98"/>
    <p:sldId xmlns:r="http://schemas.openxmlformats.org/officeDocument/2006/relationships" id="269" r:id="R23cbeb2a16da4177"/>
    <p:sldId xmlns:r="http://schemas.openxmlformats.org/officeDocument/2006/relationships" id="270" r:id="Rad8a0883192f46b9"/>
    <p:sldId xmlns:r="http://schemas.openxmlformats.org/officeDocument/2006/relationships" id="271" r:id="R5ca8d5d8499549a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ba5038591c4023" /><Relationship Type="http://schemas.openxmlformats.org/officeDocument/2006/relationships/slideMaster" Target="/ppt/slideMasters/slideMaster1.xml" Id="Rd8f1bb66da3d4725" /><Relationship Type="http://schemas.openxmlformats.org/officeDocument/2006/relationships/notesMaster" Target="/ppt/notesMasters/notesMaster1.xml" Id="R5d0504ea33b94b04" /><Relationship Type="http://schemas.openxmlformats.org/officeDocument/2006/relationships/presProps" Target="/ppt/presProps.xml" Id="R37214a958e194e89" /><Relationship Type="http://schemas.openxmlformats.org/officeDocument/2006/relationships/tableStyles" Target="/ppt/tableStyles.xml" Id="R0f62ce2f7d6a4df1" /><Relationship Type="http://schemas.openxmlformats.org/officeDocument/2006/relationships/slide" Target="/ppt/slides/slide1.xml" Id="Rb24cd6a22d524240" /><Relationship Type="http://schemas.openxmlformats.org/officeDocument/2006/relationships/slide" Target="/ppt/slides/slide2.xml" Id="R81310c6c9f0048a7" /><Relationship Type="http://schemas.openxmlformats.org/officeDocument/2006/relationships/slide" Target="/ppt/slides/slide3.xml" Id="R482ff45e4f8544c8" /><Relationship Type="http://schemas.openxmlformats.org/officeDocument/2006/relationships/slide" Target="/ppt/slides/slide4.xml" Id="Re96b7f5fd2ee4a03" /><Relationship Type="http://schemas.openxmlformats.org/officeDocument/2006/relationships/slide" Target="/ppt/slides/slide5.xml" Id="Ra4830abe9da24765" /><Relationship Type="http://schemas.openxmlformats.org/officeDocument/2006/relationships/slide" Target="/ppt/slides/slide6.xml" Id="R1f28d95e43cb442f" /><Relationship Type="http://schemas.openxmlformats.org/officeDocument/2006/relationships/slide" Target="/ppt/slides/slide7.xml" Id="R617edb6c97e5441d" /><Relationship Type="http://schemas.openxmlformats.org/officeDocument/2006/relationships/slide" Target="/ppt/slides/slide8.xml" Id="R5b6cff75f751428c" /><Relationship Type="http://schemas.openxmlformats.org/officeDocument/2006/relationships/slide" Target="/ppt/slides/slide9.xml" Id="R5777acf9adfa47a7" /><Relationship Type="http://schemas.openxmlformats.org/officeDocument/2006/relationships/slide" Target="/ppt/slides/slide10.xml" Id="Rfde3e8c6c89a4706" /><Relationship Type="http://schemas.openxmlformats.org/officeDocument/2006/relationships/slide" Target="/ppt/slides/slide11.xml" Id="Rfbfda11561fb4a32" /><Relationship Type="http://schemas.openxmlformats.org/officeDocument/2006/relationships/slide" Target="/ppt/slides/slide12.xml" Id="Rcf6276d8600a4cac" /><Relationship Type="http://schemas.openxmlformats.org/officeDocument/2006/relationships/slide" Target="/ppt/slides/slide13.xml" Id="Rbb8fbe7512734f98" /><Relationship Type="http://schemas.openxmlformats.org/officeDocument/2006/relationships/slide" Target="/ppt/slides/slide14.xml" Id="R23cbeb2a16da4177" /><Relationship Type="http://schemas.openxmlformats.org/officeDocument/2006/relationships/slide" Target="/ppt/slides/slide15.xml" Id="Rad8a0883192f46b9" /><Relationship Type="http://schemas.openxmlformats.org/officeDocument/2006/relationships/slide" Target="/ppt/slides/slide16.xml" Id="R5ca8d5d8499549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55eab955a54e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e420a97a564587" /><Relationship Type="http://schemas.openxmlformats.org/officeDocument/2006/relationships/notesMaster" Target="/ppt/notesMasters/notesMaster1.xml" Id="Rf51b609cbc1544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e63dd1cece47e4" /><Relationship Type="http://schemas.openxmlformats.org/officeDocument/2006/relationships/notesMaster" Target="/ppt/notesMasters/notesMaster1.xml" Id="Ree7bf8b434154c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5916b50ce84041" /><Relationship Type="http://schemas.openxmlformats.org/officeDocument/2006/relationships/notesMaster" Target="/ppt/notesMasters/notesMaster1.xml" Id="R5ed4da74161247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7a83a9948f4b46" /><Relationship Type="http://schemas.openxmlformats.org/officeDocument/2006/relationships/notesMaster" Target="/ppt/notesMasters/notesMaster1.xml" Id="Ree2fcb9252a146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cfd2f878d142ef" /><Relationship Type="http://schemas.openxmlformats.org/officeDocument/2006/relationships/notesMaster" Target="/ppt/notesMasters/notesMaster1.xml" Id="Rfd9b8d22e11c44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ea2eeb465e4c05" /><Relationship Type="http://schemas.openxmlformats.org/officeDocument/2006/relationships/notesMaster" Target="/ppt/notesMasters/notesMaster1.xml" Id="R441984fa15414b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57c597fd5c4dc2" /><Relationship Type="http://schemas.openxmlformats.org/officeDocument/2006/relationships/notesMaster" Target="/ppt/notesMasters/notesMaster1.xml" Id="Refe709f294d649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464ab582c24302" /><Relationship Type="http://schemas.openxmlformats.org/officeDocument/2006/relationships/notesMaster" Target="/ppt/notesMasters/notesMaster1.xml" Id="R2782f7325e6841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943b6d17284258" /><Relationship Type="http://schemas.openxmlformats.org/officeDocument/2006/relationships/notesMaster" Target="/ppt/notesMasters/notesMaster1.xml" Id="R87898908fa6145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bf24bbd5c64adb" /><Relationship Type="http://schemas.openxmlformats.org/officeDocument/2006/relationships/notesMaster" Target="/ppt/notesMasters/notesMaster1.xml" Id="R94028a9b61ea4d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a4d282482c4ec7" /><Relationship Type="http://schemas.openxmlformats.org/officeDocument/2006/relationships/notesMaster" Target="/ppt/notesMasters/notesMaster1.xml" Id="R0d37ce9a163b47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f1b920aed14c7a" /><Relationship Type="http://schemas.openxmlformats.org/officeDocument/2006/relationships/notesMaster" Target="/ppt/notesMasters/notesMaster1.xml" Id="Rbe01ec76e6044a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9caf4189674f3d" /><Relationship Type="http://schemas.openxmlformats.org/officeDocument/2006/relationships/notesMaster" Target="/ppt/notesMasters/notesMaster1.xml" Id="R8aaae5f16a8745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d2b145d0b34e46" /><Relationship Type="http://schemas.openxmlformats.org/officeDocument/2006/relationships/notesMaster" Target="/ppt/notesMasters/notesMaster1.xml" Id="Re669f621bcfd44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95ff7a100648dc" /><Relationship Type="http://schemas.openxmlformats.org/officeDocument/2006/relationships/notesMaster" Target="/ppt/notesMasters/notesMaster1.xml" Id="R3d4d74723c19487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e8908161c49405f" /><Relationship Type="http://schemas.openxmlformats.org/officeDocument/2006/relationships/notesMaster" Target="/ppt/notesMasters/notesMaster1.xml" Id="Rac4722ada1f748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issue-tracker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社区问题管理与测试分析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现状调查：社区 Issue 管理的五项痛点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社区反馈持续增加，正文、评论和处理进展分散。测试人员需要先收集、阅读和判断，再准备验证材料。</a:t>
            </a:r>
          </a:p>
          <a:p xmlns:a="http://schemas.openxmlformats.org/drawingml/2006/main">
            <a:r>
              <a:t>以下痛点来自项目需求与使用反馈，具体耗时和遗漏比例仍需建立统计基线。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痛点：具体表现：对测试工作的影响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持续跟踪困难：新增问题、历史更新和维护者回复需要反复查看。</a:t>
            </a:r>
          </a:p>
          <a:p xmlns:a="http://schemas.openxmlformats.org/drawingml/2006/main">
            <a:r>
              <a:t>正文、评论与状态变化缺少统一的跟踪入口。：容易重复查找与核对。</a:t>
            </a:r>
          </a:p>
          <a:p xmlns:a="http://schemas.openxmlformats.org/drawingml/2006/main">
            <a:r>
              <a:t>重要更新可能未能及时跟进。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人工整理投入大：逐条阅读长正文、多轮评论和错误日志。</a:t>
            </a:r>
          </a:p>
          <a:p xmlns:a="http://schemas.openxmlformats.org/drawingml/2006/main">
            <a:r>
              <a:t>重复提取问题现象、环境配置与处理进展。：资料准备占用分析精力。</a:t>
            </a:r>
          </a:p>
          <a:p xmlns:a="http://schemas.openxmlformats.org/drawingml/2006/main">
            <a:r>
              <a:t>集中梳理大量问题时耗时明显。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重点问题筛选难：缺陷、文档、咨询和 RFC 混杂在完整列表中。</a:t>
            </a:r>
          </a:p>
          <a:p xmlns:a="http://schemas.openxmlformats.org/drawingml/2006/main">
            <a:r>
              <a:t>价值、版本适用性和复现条件需要分别判断。：测试资源难以确定投入顺序。</a:t>
            </a:r>
          </a:p>
          <a:p xmlns:a="http://schemas.openxmlformats.org/drawingml/2006/main">
            <a:r>
              <a:t>重要缺陷可能被低相关反馈淹没。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复现材料不完整：模型、量化、并行方式与软硬件版本组合复杂。</a:t>
            </a:r>
          </a:p>
          <a:p xmlns:a="http://schemas.openxmlformats.org/drawingml/2006/main">
            <a:r>
              <a:t>启动参数、触发请求或复现步骤可能缺失。：需要重新翻阅正文与评论补齐参数。</a:t>
            </a:r>
          </a:p>
          <a:p xmlns:a="http://schemas.openxmlformats.org/drawingml/2006/main">
            <a:r>
              <a:t>难以判断是否具备开展验证的条件。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分析经验难复用：分析结论、补测建议与处理进展分散保存。</a:t>
            </a:r>
          </a:p>
          <a:p xmlns:a="http://schemas.openxmlformats.org/drawingml/2006/main">
            <a:r>
              <a:t>交接时缺少可直接接续的材料和判断依据。：接手者重复阅读与分析。</a:t>
            </a:r>
          </a:p>
          <a:p xmlns:a="http://schemas.openxmlformats.org/drawingml/2006/main">
            <a:r>
              <a:t>典型问题难以积累为后续测试输入。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SIPOC：流程范围与关键指标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使用方需要有依据、可接续的分析记录，项目通过统一台账、筛选和辅助整理减少形成这些材料的人工投入。</a:t>
            </a:r>
          </a:p>
          <a:p xmlns:a="http://schemas.openxmlformats.org/drawingml/2006/main">
            <a:r>
              <a:t>据此提出主指标“单条 Issue 分析平均人工耗时”，在输出质量满足要求的前提下比较改进前后变化。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 供应方：I 输入：P 处理过程：O 输出：C 使用方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Issue 提交者</a:t>
            </a:r>
          </a:p>
          <a:p xmlns:a="http://schemas.openxmlformats.org/drawingml/2006/main">
            <a:r>
              <a:t>社区维护者</a:t>
            </a:r>
          </a:p>
          <a:p xmlns:a="http://schemas.openxmlformats.org/drawingml/2006/main">
            <a:r>
              <a:t>参与讨论的用户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提供问题与后续反馈：正文、评论与日志</a:t>
            </a:r>
          </a:p>
          <a:p xmlns:a="http://schemas.openxmlformats.org/drawingml/2006/main">
            <a:r>
              <a:t>标签、状态与版本</a:t>
            </a:r>
          </a:p>
          <a:p xmlns:a="http://schemas.openxmlformats.org/drawingml/2006/main">
            <a:r>
              <a:t>模型、环境配置</a:t>
            </a:r>
          </a:p>
          <a:p xmlns:a="http://schemas.openxmlformats.org/drawingml/2006/main">
            <a:r>
              <a:t>已有人工分析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保留来源与信息缺口：同步获取与集中查看</a:t>
            </a:r>
          </a:p>
          <a:p xmlns:a="http://schemas.openxmlformats.org/drawingml/2006/main">
            <a:r>
              <a:t>筛选并确定分析范围</a:t>
            </a:r>
          </a:p>
          <a:p xmlns:a="http://schemas.openxmlformats.org/drawingml/2006/main">
            <a:r>
              <a:t>人工或 AI 辅助归纳</a:t>
            </a:r>
          </a:p>
          <a:p xmlns:a="http://schemas.openxmlformats.org/drawingml/2006/main">
            <a:r>
              <a:t>人员审核、修正</a:t>
            </a:r>
          </a:p>
          <a:p xmlns:a="http://schemas.openxmlformats.org/drawingml/2006/main">
            <a:r>
              <a:t>保存记录与专题导出：经审核的分析记录</a:t>
            </a:r>
          </a:p>
          <a:p xmlns:a="http://schemas.openxmlformats.org/drawingml/2006/main">
            <a:r>
              <a:t>问题判断与依据</a:t>
            </a:r>
          </a:p>
          <a:p xmlns:a="http://schemas.openxmlformats.org/drawingml/2006/main">
            <a:r>
              <a:t>关键配置与信息缺口</a:t>
            </a:r>
          </a:p>
          <a:p xmlns:a="http://schemas.openxmlformats.org/drawingml/2006/main">
            <a:r>
              <a:t>后续验证或跟进建议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为复现提供准备材料：测试人员</a:t>
            </a:r>
          </a:p>
          <a:p xmlns:a="http://schemas.openxmlformats.org/drawingml/2006/main">
            <a:r>
              <a:t>开发与问题负责人</a:t>
            </a:r>
          </a:p>
          <a:p xmlns:a="http://schemas.openxmlformats.org/drawingml/2006/main">
            <a:r>
              <a:t>评审和交接人员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据此判断下一步工作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把社区反馈的供应方、输入、处理过程、输出和使用方放在同一流程中。使用方需要的是可继续使用的分析记录，因此建议将形成审核合格记录的平均人工投入作为主指标。分子为固定样本所有参与人员的实际人工分钟之和，多人并行要相加，返工及 AI 失败后的人工处理都计入，不能只计算生成成功项。分母为预先选定并逐条完成分析的样本数量。若有未完成项，披露数量和原因，待完成后形成完整批次结果，不排除困难样本来降低均值。该指标不是模型接口耗时或缺陷自动复现率。没有实测数据时不填当前值与改善比例。质量审核是使用指标的前提，不能通过减少核对、遗漏信息或降低交付标准换取更低耗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根因分析：社区反馈转化为测试输入的障碍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从信息获取、分析方法、环境配置、人员协作、工作流程和知识沉淀六个方面展开原因。</a:t>
            </a:r>
          </a:p>
          <a:p xmlns:a="http://schemas.openxmlformats.org/drawingml/2006/main">
            <a:r>
              <a:t>鱼骨图列出可能因素，后续需要用流程走查、样本检查和对照验证确认主要原因。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目标设定：明确希望改善什么、如何验收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整体目标是持续跟踪社区问题，减少重复整理，帮助人员选择重点验证对象，并积累可继续使用的分析材料。</a:t>
            </a:r>
          </a:p>
          <a:p xmlns:a="http://schemas.openxmlformats.org/drawingml/2006/main">
            <a:r>
              <a:t>目标描述的是希望取得的改进，是否达成需要结合实际使用数据和测试人员反馈判断。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目标：具体含义与项目解决方式：验收依据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提高跟踪可靠性：集中维护问题列表，持续同步新增和历史更新。</a:t>
            </a:r>
          </a:p>
          <a:p xmlns:a="http://schemas.openxmlformats.org/drawingml/2006/main">
            <a:r>
              <a:t>统一仓库、时间和状态口径，支持全量核对。</a:t>
            </a:r>
          </a:p>
          <a:p xmlns:a="http://schemas.openxmlformats.org/drawingml/2006/main">
            <a:r>
              <a:t>社区字段更新时保留本地人工分析。：同口径核对问题数量并抽查具体条目。</a:t>
            </a:r>
          </a:p>
          <a:p xmlns:a="http://schemas.openxmlformats.org/drawingml/2006/main">
            <a:r>
              <a:t>检查历史更新是否跟进。</a:t>
            </a:r>
          </a:p>
          <a:p xmlns:a="http://schemas.openxmlformats.org/drawingml/2006/main">
            <a:r>
              <a:t>确认人工结论未被同步覆盖。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减少人工整理投入：集中展示原文与评论，减少跨页面查找。</a:t>
            </a:r>
          </a:p>
          <a:p xmlns:a="http://schemas.openxmlformats.org/drawingml/2006/main">
            <a:r>
              <a:t>AI 辅助归纳摘要与补测建议，支持批量处理。</a:t>
            </a:r>
          </a:p>
          <a:p xmlns:a="http://schemas.openxmlformats.org/drawingml/2006/main">
            <a:r>
              <a:t>人员核对和修正后使用结果。：对比单条 Issue 分析平均人工耗时。</a:t>
            </a:r>
          </a:p>
          <a:p xmlns:a="http://schemas.openxmlformats.org/drawingml/2006/main">
            <a:r>
              <a:t>包括查找、阅读、审核与修正。</a:t>
            </a:r>
          </a:p>
          <a:p xmlns:a="http://schemas.openxmlformats.org/drawingml/2006/main">
            <a:r>
              <a:t>质量标准一致，计入错误与返工。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提高重点筛选效率：按时间、状态、标签和版本收敛范围。</a:t>
            </a:r>
          </a:p>
          <a:p xmlns:a="http://schemas.openxmlformats.org/drawingml/2006/main">
            <a:r>
              <a:t>结合价值与复现条件形成优先处理候选。</a:t>
            </a:r>
          </a:p>
          <a:p xmlns:a="http://schemas.openxmlformats.org/drawingml/2006/main">
            <a:r>
              <a:t>保留完整列表，人工复查重要遗漏。：人工评审候选是否值得投入测试。</a:t>
            </a:r>
          </a:p>
          <a:p xmlns:a="http://schemas.openxmlformats.org/drawingml/2006/main">
            <a:r>
              <a:t>抽查筛选结果之外的重要问题。</a:t>
            </a:r>
          </a:p>
          <a:p xmlns:a="http://schemas.openxmlformats.org/drawingml/2006/main">
            <a:r>
              <a:t>观察筛选准备时间与判断分歧。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提高复现材料</a:t>
            </a:r>
          </a:p>
          <a:p xmlns:a="http://schemas.openxmlformats.org/drawingml/2006/main">
            <a:r>
              <a:t>完整性：辅助提取模型配置、硬件环境和软件版本。</a:t>
            </a:r>
          </a:p>
          <a:p xmlns:a="http://schemas.openxmlformats.org/drawingml/2006/main">
            <a:r>
              <a:t>整理触发条件、预期结果和已知错误现象。</a:t>
            </a:r>
          </a:p>
          <a:p xmlns:a="http://schemas.openxmlformats.org/drawingml/2006/main">
            <a:r>
              <a:t>明确缺失信息，实际复现仍由测试人员执行。：检查关键参数与待确认项是否清楚。</a:t>
            </a:r>
          </a:p>
          <a:p xmlns:a="http://schemas.openxmlformats.org/drawingml/2006/main">
            <a:r>
              <a:t>由测试人员评估材料能否用于验证。</a:t>
            </a:r>
          </a:p>
          <a:p xmlns:a="http://schemas.openxmlformats.org/drawingml/2006/main">
            <a:r>
              <a:t>不能将材料生成等同于复现成功。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提高分析材料</a:t>
            </a:r>
          </a:p>
          <a:p xmlns:a="http://schemas.openxmlformats.org/drawingml/2006/main">
            <a:r>
              <a:t>复用能力：将人工结论、补测建议和进展保存在台账。</a:t>
            </a:r>
          </a:p>
          <a:p xmlns:a="http://schemas.openxmlformats.org/drawingml/2006/main">
            <a:r>
              <a:t>支持按专题整理与导出，便于评审交接。</a:t>
            </a:r>
          </a:p>
          <a:p xmlns:a="http://schemas.openxmlformats.org/drawingml/2006/main">
            <a:r>
              <a:t>关联来源问题，积累典型测试场景。：检查接手者能否继续分析而非重做。</a:t>
            </a:r>
          </a:p>
          <a:p xmlns:a="http://schemas.openxmlformats.org/drawingml/2006/main">
            <a:r>
              <a:t>记录材料在同类问题中的实际使用。</a:t>
            </a:r>
          </a:p>
          <a:p xmlns:a="http://schemas.openxmlformats.org/drawingml/2006/main">
            <a:r>
              <a:t>跟踪与测试验证记录的关联。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主要原因与改进方向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根据现状与鱼骨图，将需要重点改善的原因归纳为三个方面，并对应到后续五项具体对策。</a:t>
            </a:r>
          </a:p>
          <a:p xmlns:a="http://schemas.openxmlformats.org/drawingml/2006/main">
            <a:r>
              <a:t>以下是基于需求与使用反馈的初步判断，实际作用需结合工时、遗漏和材料使用记录持续核验。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主要原因判断：对工作的影响：对应的改进方向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信息与分析记录</a:t>
            </a:r>
          </a:p>
          <a:p xmlns:a="http://schemas.openxmlformats.org/drawingml/2006/main">
            <a:r>
              <a:t>分散：新增、历史更新和人工结论缺少集中管理。</a:t>
            </a:r>
          </a:p>
          <a:p xmlns:a="http://schemas.openxmlformats.org/drawingml/2006/main">
            <a:r>
              <a:t>人员在不同页面与材料间反复查找、核对。</a:t>
            </a:r>
          </a:p>
          <a:p xmlns:a="http://schemas.openxmlformats.org/drawingml/2006/main">
            <a:r>
              <a:t>交接时难以接续已有判断，容易重复收集信息。：持续同步与统一问题列表：集中获取、跟进更新。</a:t>
            </a:r>
          </a:p>
          <a:p xmlns:a="http://schemas.openxmlformats.org/drawingml/2006/main">
            <a:r>
              <a:t>分析记录与协作复用：保留结论、进展和依据。</a:t>
            </a:r>
          </a:p>
          <a:p xmlns:a="http://schemas.openxmlformats.org/drawingml/2006/main">
            <a:r>
              <a:t>通过专题导出支持评审交接，减少重复查找。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阅读归纳与配置提取</a:t>
            </a:r>
          </a:p>
          <a:p xmlns:a="http://schemas.openxmlformats.org/drawingml/2006/main">
            <a:r>
              <a:t>依赖人工：长正文、多轮评论与日志需要逐条阅读整理。</a:t>
            </a:r>
          </a:p>
          <a:p xmlns:a="http://schemas.openxmlformats.org/drawingml/2006/main">
            <a:r>
              <a:t>模型、软硬件环境和触发参数分散，容易遗漏。</a:t>
            </a:r>
          </a:p>
          <a:p xmlns:a="http://schemas.openxmlformats.org/drawingml/2006/main">
            <a:r>
              <a:t>缺少固定检查项时，需要再次翻阅和补采。：AI 辅助与批量任务：减少重复阅读和资料归纳。</a:t>
            </a:r>
          </a:p>
          <a:p xmlns:a="http://schemas.openxmlformats.org/drawingml/2006/main">
            <a:r>
              <a:t>复现材料整理：在“补充测试”中梳理关键条件。</a:t>
            </a:r>
          </a:p>
          <a:p xmlns:a="http://schemas.openxmlformats.org/drawingml/2006/main">
            <a:r>
              <a:t>明确缺失参数，由人员审核、补齐并执行验证。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价值与复现性判断</a:t>
            </a:r>
          </a:p>
          <a:p xmlns:a="http://schemas.openxmlformats.org/drawingml/2006/main">
            <a:r>
              <a:t>缺少统一口径：对问题价值、版本适用性和复现条件判断不一。</a:t>
            </a:r>
          </a:p>
          <a:p xmlns:a="http://schemas.openxmlformats.org/drawingml/2006/main">
            <a:r>
              <a:t>重点候选难以确定，人员评审容易出现分歧。</a:t>
            </a:r>
          </a:p>
          <a:p xmlns:a="http://schemas.openxmlformats.org/drawingml/2006/main">
            <a:r>
              <a:t>高价值但信息不足的问题可能过早排除。：多维筛选与统一评价：明确候选选择和排序依据。</a:t>
            </a:r>
          </a:p>
          <a:p xmlns:a="http://schemas.openxmlformats.org/drawingml/2006/main">
            <a:r>
              <a:t>保留完整列表，对重要但信息不足的问题复查。</a:t>
            </a:r>
          </a:p>
          <a:p xmlns:a="http://schemas.openxmlformats.org/drawingml/2006/main">
            <a:r>
              <a:t>结合人工评审与遗漏检查，持续调整筛选规则。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建议口播：根据前面的现状和原因分析，我们把重点改善方向归纳为三个方面：信息集中管理、减少重复整理，以及统一筛选判断。其中，信息集中管理对应持续同步和分析记录复用，减少重复整理对应 AI 辅助与复现材料整理，统一筛选判断对应评价口径和人工复查。这三个方向进一步展开为下一页的五项具体对策。这里属于初步原因判断，不表示已经完成严格的因果验证。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拟定对策：针对每项痛点设计解决方案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各项对策共同服务于项目整体目标。AI 主要用于辅助整理，统一台账、筛选和人工记录也能独立提供价值。</a:t>
            </a:r>
          </a:p>
          <a:p xmlns:a="http://schemas.openxmlformats.org/drawingml/2006/main">
            <a:r>
              <a:t>方案是否有效，需要同时考虑人员投入、分析质量及后续测试使用情况。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针对的痛点：解决方案：预期形成的工作材料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持续跟踪困难：全量同步与增量更新结合，提供手动校准入口。</a:t>
            </a:r>
          </a:p>
          <a:p xmlns:a="http://schemas.openxmlformats.org/drawingml/2006/main">
            <a:r>
              <a:t>统一仓库、时间和状态口径，集中查看问题。</a:t>
            </a:r>
          </a:p>
          <a:p xmlns:a="http://schemas.openxmlformats.org/drawingml/2006/main">
            <a:r>
              <a:t>分别维护社区信息与本地人工分析。：持续更新的问题台账。</a:t>
            </a:r>
          </a:p>
          <a:p xmlns:a="http://schemas.openxmlformats.org/drawingml/2006/main">
            <a:r>
              <a:t>可核对的专项清单。</a:t>
            </a:r>
          </a:p>
          <a:p xmlns:a="http://schemas.openxmlformats.org/drawingml/2006/main">
            <a:r>
              <a:t>历史更新与人工分析记录。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人工整理投入大：集中提供正文、评论和已有分析作为上下文。</a:t>
            </a:r>
          </a:p>
          <a:p xmlns:a="http://schemas.openxmlformats.org/drawingml/2006/main">
            <a:r>
              <a:t>AI 辅助归纳，支持选中问题和筛选范围批量处理。</a:t>
            </a:r>
          </a:p>
          <a:p xmlns:a="http://schemas.openxmlformats.org/drawingml/2006/main">
            <a:r>
              <a:t>人员审核、修正并决定是否采纳建议。：待审核的结构化建议。</a:t>
            </a:r>
          </a:p>
          <a:p xmlns:a="http://schemas.openxmlformats.org/drawingml/2006/main">
            <a:r>
              <a:t>批量任务进度与失败项。</a:t>
            </a:r>
          </a:p>
          <a:p xmlns:a="http://schemas.openxmlformats.org/drawingml/2006/main">
            <a:r>
              <a:t>人工审核后的分析结果。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重点问题筛选难：按日期、状态、标签和版本缩小分析范围。</a:t>
            </a:r>
          </a:p>
          <a:p xmlns:a="http://schemas.openxmlformats.org/drawingml/2006/main">
            <a:r>
              <a:t>结合价值与复现条件形成候选排序。</a:t>
            </a:r>
          </a:p>
          <a:p xmlns:a="http://schemas.openxmlformats.org/drawingml/2006/main">
            <a:r>
              <a:t>过滤文档、RFC 等类型时保留完整列表供复查。：重点验证候选及筛选依据。</a:t>
            </a:r>
          </a:p>
          <a:p xmlns:a="http://schemas.openxmlformats.org/drawingml/2006/main">
            <a:r>
              <a:t>人工补充的价值判断。</a:t>
            </a:r>
          </a:p>
          <a:p xmlns:a="http://schemas.openxmlformats.org/drawingml/2006/main">
            <a:r>
              <a:t>重要遗漏的复查记录。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复现材料不完整：按模型、配置、环境和触发场景整理补测材料。</a:t>
            </a:r>
          </a:p>
          <a:p xmlns:a="http://schemas.openxmlformats.org/drawingml/2006/main">
            <a:r>
              <a:t>明确哪些参数来自原文，哪些信息尚未提供。</a:t>
            </a:r>
          </a:p>
          <a:p xmlns:a="http://schemas.openxmlformats.org/drawingml/2006/main">
            <a:r>
              <a:t>测试人员补齐条件后执行验证并记录结果。：模型与软硬件配置清单。</a:t>
            </a:r>
          </a:p>
          <a:p xmlns:a="http://schemas.openxmlformats.org/drawingml/2006/main">
            <a:r>
              <a:t>复现场景及缺失参数。</a:t>
            </a:r>
          </a:p>
          <a:p xmlns:a="http://schemas.openxmlformats.org/drawingml/2006/main">
            <a:r>
              <a:t>后续验证动作与结果记录。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分析经验难复用：集中保存分析结论、补测建议与处理进展。</a:t>
            </a:r>
          </a:p>
          <a:p xmlns:a="http://schemas.openxmlformats.org/drawingml/2006/main">
            <a:r>
              <a:t>支持按专题整理、导出和交接。</a:t>
            </a:r>
          </a:p>
          <a:p xmlns:a="http://schemas.openxmlformats.org/drawingml/2006/main">
            <a:r>
              <a:t>在测试材料中保留来源 Issue 及判断依据。：可接续的分析台账。</a:t>
            </a:r>
          </a:p>
          <a:p xmlns:a="http://schemas.openxmlformats.org/drawingml/2006/main">
            <a:r>
              <a:t>专题评审与交接材料。</a:t>
            </a:r>
          </a:p>
          <a:p xmlns:a="http://schemas.openxmlformats.org/drawingml/2006/main">
            <a:r>
              <a:t>典型场景及其来源记录。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对策实施：持续同步与统一台账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解决“持续跟踪困难”：把分散的问题信息收敛到统一入口，支持持续更新、专项筛选和完整性核对。</a:t>
            </a:r>
          </a:p>
          <a:p xmlns:a="http://schemas.openxmlformats.org/drawingml/2006/main">
            <a:r>
              <a:t>统计时需要统一仓库、时间、状态以及是否包含 PR，避免把统计口径差异误判为数据遗漏。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明确同步与核对范围：统一仓库、日期和状态条件。</a:t>
            </a:r>
          </a:p>
          <a:p xmlns:a="http://schemas.openxmlformats.org/drawingml/2006/main">
            <a:r>
              <a:t>对照同一口径的问题数量与具体条目，</a:t>
            </a:r>
          </a:p>
          <a:p xmlns:a="http://schemas.openxmlformats.org/drawingml/2006/main">
            <a:r>
              <a:t>同时检查新增问题和历史更新。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持续维护问题台账：全量获取用于建立和校准台账，</a:t>
            </a:r>
          </a:p>
          <a:p xmlns:a="http://schemas.openxmlformats.org/drawingml/2006/main">
            <a:r>
              <a:t>增量同步用于日常跟进。</a:t>
            </a:r>
          </a:p>
          <a:p xmlns:a="http://schemas.openxmlformats.org/drawingml/2006/main">
            <a:r>
              <a:t>同步完成后仍需关注异常与漏项。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保护本地人工分析：社区字段与人工结论分开维护。</a:t>
            </a:r>
          </a:p>
          <a:p xmlns:a="http://schemas.openxmlformats.org/drawingml/2006/main">
            <a:r>
              <a:t>更新标题、正文和状态时，</a:t>
            </a:r>
          </a:p>
          <a:p xmlns:a="http://schemas.openxmlformats.org/drawingml/2006/main">
            <a:r>
              <a:t>保留已有分析、备注与补测建议。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形成可检查的专项清单：按时间、状态、标签等收敛范围。</a:t>
            </a:r>
          </a:p>
          <a:p xmlns:a="http://schemas.openxmlformats.org/drawingml/2006/main">
            <a:r>
              <a:t>通过清单逐项核对更新与遗漏，</a:t>
            </a:r>
          </a:p>
          <a:p xmlns:a="http://schemas.openxmlformats.org/drawingml/2006/main">
            <a:r>
              <a:t>减少反复打开社区页面查找。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对策实施：AI 辅助分析与批量任务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解决“人工整理投入大”：由模型先整理材料，人员再核对证据、修正结论并决定是否采纳。</a:t>
            </a:r>
          </a:p>
          <a:p xmlns:a="http://schemas.openxmlformats.org/drawingml/2006/main">
            <a:r>
              <a:t>AI 模块仍需持续评估，效率收益应包含审核、修正和失败重试成本，不能仅看生成建议数量。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准备可靠的分析上下文：结合正文、评论和已有分析。</a:t>
            </a:r>
          </a:p>
          <a:p xmlns:a="http://schemas.openxmlformats.org/drawingml/2006/main">
            <a:r>
              <a:t>明确材料来源与缺失部分，</a:t>
            </a:r>
          </a:p>
          <a:p xmlns:a="http://schemas.openxmlformats.org/drawingml/2006/main">
            <a:r>
              <a:t>避免模型把推测当成已确认事实。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生成待审核的结构化建议：归纳问题摘要、现象和补测建议。</a:t>
            </a:r>
          </a:p>
          <a:p xmlns:a="http://schemas.openxmlformats.org/drawingml/2006/main">
            <a:r>
              <a:t>区分事实、可能原因与待确认参数，</a:t>
            </a:r>
          </a:p>
          <a:p xmlns:a="http://schemas.openxmlformats.org/drawingml/2006/main">
            <a:r>
              <a:t>漏测原因结合实际测试覆盖人工判断。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批量处理与异常跟进：支持勾选问题或按筛选范围执行。</a:t>
            </a:r>
          </a:p>
          <a:p xmlns:a="http://schemas.openxmlformats.org/drawingml/2006/main">
            <a:r>
              <a:t>通过并发任务处理多条问题，</a:t>
            </a:r>
          </a:p>
          <a:p xmlns:a="http://schemas.openxmlformats.org/drawingml/2006/main">
            <a:r>
              <a:t>查看进度及失败项并跟进重试。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人工核对后保存结果：对照原文检查版本、配置和判断。</a:t>
            </a:r>
          </a:p>
          <a:p xmlns:a="http://schemas.openxmlformats.org/drawingml/2006/main">
            <a:r>
              <a:t>修正后决定是否采纳并保存，</a:t>
            </a:r>
          </a:p>
          <a:p xmlns:a="http://schemas.openxmlformats.org/drawingml/2006/main">
            <a:r>
              <a:t>保留已有人工内容及必要说明。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对策实施：重点筛选与复现材料整理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解决“筛选难、复现材料不完整”：先选择值得投入的问题，再整理开展验证所需的配置与条件。</a:t>
            </a:r>
          </a:p>
          <a:p xmlns:a="http://schemas.openxmlformats.org/drawingml/2006/main">
            <a:r>
              <a:t>系统辅助完成复现前的材料准备，不能代替测试人员部署环境、执行请求或确认根因。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筛选值得验证的候选问题：按时间、版本、类型等缩小范围。</a:t>
            </a:r>
          </a:p>
          <a:p xmlns:a="http://schemas.openxmlformats.org/drawingml/2006/main">
            <a:r>
              <a:t>结合价值与复现条件排序，</a:t>
            </a:r>
          </a:p>
          <a:p xmlns:a="http://schemas.openxmlformats.org/drawingml/2006/main">
            <a:r>
              <a:t>保留完整列表复查重要问题遗漏。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提取模型与环境配置：整理模型名称、量化与并行配置。</a:t>
            </a:r>
          </a:p>
          <a:p xmlns:a="http://schemas.openxmlformats.org/drawingml/2006/main">
            <a:r>
              <a:t>提取 A2/A3/A5 硬件及软件版本，</a:t>
            </a:r>
          </a:p>
          <a:p xmlns:a="http://schemas.openxmlformats.org/drawingml/2006/main">
            <a:r>
              <a:t>没有来源支持的参数标为待确认。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梳理触发条件与错误现象：整理启动命令、请求和执行阶段。</a:t>
            </a:r>
          </a:p>
          <a:p xmlns:a="http://schemas.openxmlformats.org/drawingml/2006/main">
            <a:r>
              <a:t>关注并发、输入长度与异常日志，</a:t>
            </a:r>
          </a:p>
          <a:p xmlns:a="http://schemas.openxmlformats.org/drawingml/2006/main">
            <a:r>
              <a:t>写清预期结果和实际差异。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由测试人员补齐并验证：列出缺失参数和需要追问的信息。</a:t>
            </a:r>
          </a:p>
          <a:p xmlns:a="http://schemas.openxmlformats.org/drawingml/2006/main">
            <a:r>
              <a:t>人员准备环境并执行验证，</a:t>
            </a:r>
          </a:p>
          <a:p xmlns:a="http://schemas.openxmlformats.org/drawingml/2006/main">
            <a:r>
              <a:t>将复现是否成功及结果补回记录。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对策实施：分析记录、评审交接与材料复用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解决“分析经验难复用”：将结论、依据、补测建议和处理进展保留在统一台账，便于接手者继续工作。</a:t>
            </a:r>
          </a:p>
          <a:p xmlns:a="http://schemas.openxmlformats.org/drawingml/2006/main">
            <a:r>
              <a:t>典型问题转化为测试场景时，还需要人员补充实际执行结果，并保留来源问题与验证记录的关联。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统一维护人工分析记录：保存问题识别、结论与补测建议。</a:t>
            </a:r>
          </a:p>
          <a:p xmlns:a="http://schemas.openxmlformats.org/drawingml/2006/main">
            <a:r>
              <a:t>持续补充版本支持和处理进展，</a:t>
            </a:r>
          </a:p>
          <a:p xmlns:a="http://schemas.openxmlformats.org/drawingml/2006/main">
            <a:r>
              <a:t>让后续人员了解当前判断与待办。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按专题组织评审材料：利用筛选结果形成专项清单。</a:t>
            </a:r>
          </a:p>
          <a:p xmlns:a="http://schemas.openxmlformats.org/drawingml/2006/main">
            <a:r>
              <a:t>导出后结合原文与已有结论评审，</a:t>
            </a:r>
          </a:p>
          <a:p xmlns:a="http://schemas.openxmlformats.org/drawingml/2006/main">
            <a:r>
              <a:t>保留判断依据与尚未解决的信息缺口。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减少交接中的重复工作：接手者先查看已有分析和验证情况。</a:t>
            </a:r>
          </a:p>
          <a:p xmlns:a="http://schemas.openxmlformats.org/drawingml/2006/main">
            <a:r>
              <a:t>在此前记录上补充、修正和跟进，</a:t>
            </a:r>
          </a:p>
          <a:p xmlns:a="http://schemas.openxmlformats.org/drawingml/2006/main">
            <a:r>
              <a:t>减少重新阅读和重复收集材料。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积累可追溯的典型场景：整理配置、触发条件与验证结果。</a:t>
            </a:r>
          </a:p>
          <a:p xmlns:a="http://schemas.openxmlformats.org/drawingml/2006/main">
            <a:r>
              <a:t>转化测试材料时关联来源 Issue，</a:t>
            </a:r>
          </a:p>
          <a:p xmlns:a="http://schemas.openxmlformats.org/drawingml/2006/main">
            <a:r>
              <a:t>通过再次使用判断材料是否有价值。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实施案例：Issue #16608 分析、复现与工单转化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处理流程包括社区反馈、AI 辅助分析、人工复现、工单处理及后续测试用例补充。</a:t>
            </a:r>
          </a:p>
          <a:p xmlns:a="http://schemas.openxmlformats.org/drawingml/2006/main">
            <a:r>
              <a:t>AI 辅助整理验证线索，人员核对并执行复现；当前已完成复现与工单转化，修复和补测继续跟进。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实施环节：案例内容与处理动作：当前状态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社区问题与验证线索：原帖报告：PP=2、TP=1 时推理乱码，切换为 TP=2、PP=1 后正常。</a:t>
            </a:r>
          </a:p>
          <a:p xmlns:a="http://schemas.openxmlformats.org/drawingml/2006/main">
            <a:r>
              <a:t>报告模型为 Qwen3.8-27B W8A8，并提供环境与启动参数。</a:t>
            </a:r>
          </a:p>
          <a:p xmlns:a="http://schemas.openxmlformats.org/drawingml/2006/main">
            <a:r>
              <a:t>这些是社区报告的信息，内部实际配置以复现记录为准。：来源明确</a:t>
            </a:r>
          </a:p>
          <a:p xmlns:a="http://schemas.openxmlformats.org/drawingml/2006/main">
            <a:r>
              <a:t>GitHub Issue #16608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辅助分析：利用项目 AI 分析辅助归纳问题现象、模型配置和环境参数。</a:t>
            </a:r>
          </a:p>
          <a:p xmlns:a="http://schemas.openxmlformats.org/drawingml/2006/main">
            <a:r>
              <a:t>围绕 PP/TP 对照条件整理验证建议，明确需要确认的信息。</a:t>
            </a:r>
          </a:p>
          <a:p xmlns:a="http://schemas.openxmlformats.org/drawingml/2006/main">
            <a:r>
              <a:t>人员核对后用于复现准备，可能原因仍需实际验证。：辅助整理与分析</a:t>
            </a:r>
          </a:p>
          <a:p xmlns:a="http://schemas.openxmlformats.org/drawingml/2006/main">
            <a:r>
              <a:t>建议需人工审核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人工执行复现：项目负责人已在实际环境中完成该问题的复现。</a:t>
            </a:r>
          </a:p>
          <a:p xmlns:a="http://schemas.openxmlformats.org/drawingml/2006/main">
            <a:r>
              <a:t>人工验证为转工单提供实际的问题依据。</a:t>
            </a:r>
          </a:p>
          <a:p xmlns:a="http://schemas.openxmlformats.org/drawingml/2006/main">
            <a:r>
              <a:t>内部环境配置、触发请求与结果建议随工单留存。：已完成复现</a:t>
            </a:r>
          </a:p>
          <a:p xmlns:a="http://schemas.openxmlformats.org/drawingml/2006/main">
            <a:r>
              <a:t>项目负责人确认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转为工单推进解决：已将复现问题转换为工单，进入问题处理流程。</a:t>
            </a:r>
          </a:p>
          <a:p xmlns:a="http://schemas.openxmlformats.org/drawingml/2006/main">
            <a:r>
              <a:t>后续结合工单跟进定位、修复和验证。</a:t>
            </a:r>
          </a:p>
          <a:p xmlns:a="http://schemas.openxmlformats.org/drawingml/2006/main">
            <a:r>
              <a:t>工单编号与处理进展可按实际记录补充。：已转为工单</a:t>
            </a:r>
          </a:p>
          <a:p xmlns:a="http://schemas.openxmlformats.org/drawingml/2006/main">
            <a:r>
              <a:t>修复完成状态未确认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安排补充测试用例：后续安排测试人员补充相关场景的测试用例。</a:t>
            </a:r>
          </a:p>
          <a:p xmlns:a="http://schemas.openxmlformats.org/drawingml/2006/main">
            <a:r>
              <a:t>建议结合 PP/TP 对照场景与修复结果评审回归范围。</a:t>
            </a:r>
          </a:p>
          <a:p xmlns:a="http://schemas.openxmlformats.org/drawingml/2006/main">
            <a:r>
              <a:t>用例完成、执行通过和纳入回归需要后续记录确认。：后续安排</a:t>
            </a:r>
          </a:p>
          <a:p xmlns:a="http://schemas.openxmlformats.org/drawingml/2006/main">
            <a:r>
              <a:t>用例完成情况待跟进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来源一：GitHub 原始 Issue，https://github.com/vllm-project/vllm-ascend/issues/16608 。原帖描述 PP=2、TP=1 推理乱码，TP=2、PP=1 正常，启动命令提供 Qwen3.8-27B W8A8 模型信息。来源二：项目负责人在本次对话中确认已复现并转换为工单，同时表示后续安排测试人员补充用例，并要求将 AI 分析纳入流程。AI 一行说明辅助归纳、配置提取和验证建议的作用，没有提供本例具体模型输出，因此不编造 AI 已确认根因或自动完成复现的结论。没有提供内部工单编号、修复结论或用例完成记录，因此不推断已修复、已闭环或已补齐测试。建议口播：这个案例按社区反馈、AI 辅助分析、人工复现、转工单和补充用例几个环节展开。AI 辅助整理问题现象、关键参数和验证线索，人员核对后开展实际复现。我已经完成问题复现并转为工单，后续安排测试人员补充相关用例。当前完成的是复现与工单转化，修复和补测进展继续跟进。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效果确认：已有案例与预期改善（未实测）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已确认事实：负责人已复现 Issue #16608 并转为工单，测试用例补充为后续安排。</a:t>
            </a:r>
          </a:p>
          <a:p xmlns:a="http://schemas.openxmlformats.org/drawingml/2006/main">
            <a:r>
              <a:t>以下百分比区分“情景估算”与“建议目标”，均未经试验验证，不作为已达成的收益或质量结论。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改善方面：改善来源与适用前提：情景估算或建议目标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减少人工整理投入：中文归纳减少英文理解与反复翻译，集中整理正文和评论。</a:t>
            </a:r>
          </a:p>
          <a:p xmlns:a="http://schemas.openxmlformats.org/drawingml/2006/main">
            <a:r>
              <a:t>批量任务减少逐条发起与页面切换，人员仍逐条审核。</a:t>
            </a:r>
          </a:p>
          <a:p xmlns:a="http://schemas.openxmlformats.org/drawingml/2006/main">
            <a:r>
              <a:t>假设中等复杂度英文问题，包含审核修正的人工投入。：情景估算：人工耗时降低 30%—40%。</a:t>
            </a:r>
          </a:p>
          <a:p xmlns:a="http://schemas.openxmlformats.org/drawingml/2006/main">
            <a:r>
              <a:t>假设 20 分钟降至 12—14 分钟。</a:t>
            </a:r>
          </a:p>
          <a:p xmlns:a="http://schemas.openxmlformats.org/drawingml/2006/main">
            <a:r>
              <a:t>实际基线与改善幅度尚未测量。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提高跟踪可靠性：统一同步入口跟进新增与历史更新，并保留人工分析。</a:t>
            </a:r>
          </a:p>
          <a:p xmlns:a="http://schemas.openxmlformats.org/drawingml/2006/main">
            <a:r>
              <a:t>完整性需核对 ID 集合，更新及时性需检查同步记录。</a:t>
            </a:r>
          </a:p>
          <a:p xmlns:a="http://schemas.openxmlformats.org/drawingml/2006/main">
            <a:r>
              <a:t>不能从功能存在直接推断真实漏项率和故障率。：建议目标：指定范围 ID 匹配率 100%。</a:t>
            </a:r>
          </a:p>
          <a:p xmlns:a="http://schemas.openxmlformats.org/drawingml/2006/main">
            <a:r>
              <a:t>同步时人工分析内容保持不变。</a:t>
            </a:r>
          </a:p>
          <a:p xmlns:a="http://schemas.openxmlformats.org/drawingml/2006/main">
            <a:r>
              <a:t>这是验收要求，尚未核验达成。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提高重点筛选效率：按日期、状态、类型和版本信息缩小需详细阅读的范围。</a:t>
            </a:r>
          </a:p>
          <a:p xmlns:a="http://schemas.openxmlformats.org/drawingml/2006/main">
            <a:r>
              <a:t>Doc/RFC 等不适合本次缺陷验证目标的类型可排除。</a:t>
            </a:r>
          </a:p>
          <a:p xmlns:a="http://schemas.openxmlformats.org/drawingml/2006/main">
            <a:r>
              <a:t>需保留完整列表复查，候选少不等于筛选准确。：情景估算：待细看条数减少 30%—50%。</a:t>
            </a:r>
          </a:p>
          <a:p xmlns:a="http://schemas.openxmlformats.org/drawingml/2006/main">
            <a:r>
              <a:t>假设 20 条保留 10—14 条。</a:t>
            </a:r>
          </a:p>
          <a:p xmlns:a="http://schemas.openxmlformats.org/drawingml/2006/main">
            <a:r>
              <a:t>取决于问题构成，不代表准确率。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提高复现材料</a:t>
            </a:r>
          </a:p>
          <a:p xmlns:a="http://schemas.openxmlformats.org/drawingml/2006/main">
            <a:r>
              <a:t>完整性：在“补充测试”中整理模型、环境、触发条件和验证建议。</a:t>
            </a:r>
          </a:p>
          <a:p xmlns:a="http://schemas.openxmlformats.org/drawingml/2006/main">
            <a:r>
              <a:t>来源中已给参数准确提取，未给出的信息列为待确认。</a:t>
            </a:r>
          </a:p>
          <a:p xmlns:a="http://schemas.openxmlformats.org/drawingml/2006/main">
            <a:r>
              <a:t>已有 #16608 复现及工单案例，不等同整体材料质量达标。：建议目标：已知参数提取率 ≥90%。</a:t>
            </a:r>
          </a:p>
          <a:p xmlns:a="http://schemas.openxmlformats.org/drawingml/2006/main">
            <a:r>
              <a:t>缺失参数明确标注，不算已补齐。</a:t>
            </a:r>
          </a:p>
          <a:p xmlns:a="http://schemas.openxmlformats.org/drawingml/2006/main">
            <a:r>
              <a:t>不是已测完整率或复现成功率。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提高材料复用能力：结论、来源和待办集中保存，支持专题清单与导出。</a:t>
            </a:r>
          </a:p>
          <a:p xmlns:a="http://schemas.openxmlformats.org/drawingml/2006/main">
            <a:r>
              <a:t>假设接手者可以直接利用记录，减少查找和重复摘录。</a:t>
            </a:r>
          </a:p>
          <a:p xmlns:a="http://schemas.openxmlformats.org/drawingml/2006/main">
            <a:r>
              <a:t>归档数量和导出次数不直接等于实际复用。：情景估算：查找交接耗时降 20%—40%。</a:t>
            </a:r>
          </a:p>
          <a:p xmlns:a="http://schemas.openxmlformats.org/drawingml/2006/main">
            <a:r>
              <a:t>假设 10 分钟降至 6—8 分钟。</a:t>
            </a:r>
          </a:p>
          <a:p xmlns:a="http://schemas.openxmlformats.org/drawingml/2006/main">
            <a:r>
              <a:t>实际复用次数和收益尚未统计。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本页所有工时和数量均为按任务步骤设定的示例假设，来源是本次汇报的情景测算，不来自试验、问卷、系统日志或行业统计。估算区间不是置信区间，不承诺实际可达。30%—40% 来自人工20分钟与辅助12—14分钟；30%—50%来自假设原始20条与候选10—14条；20%—40%来自假设交接查找10分钟与辅助6—8分钟。100% ID匹配和90%已知参数提取是建议验收目标，不是预测结果。只有负责人确认的16608复现和工单转化属于本页已知应用事实。各项节省分别描述不同环节，不相加为总收益。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预期效果测算：人工整理投入（示意假设）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适用情景：需阅读英文正文及评论、提取环境配置并填写分析记录的中等复杂度 Issue。</a:t>
            </a:r>
          </a:p>
          <a:p xmlns:a="http://schemas.openxmlformats.org/drawingml/2006/main">
            <a:r>
              <a:t>所有分钟数是流程测算假设，并非实测；模型建议可用且完成同等质量审核，是估算成立的前提。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人工工作环节：原方式：辅助方式：假设的变化来源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查阅资料与理解英文内容：8 分钟：2 分钟：中文归纳减少翻译与查找。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提取配置、归纳现象与进展：7 分钟：5 分钟：核对归纳结果并回查原文。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填写或修改分析记录：3 分钟：3 分钟：仍需人工修改、确认与保存。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操作切换及异常处理：2 分钟：2 分钟：保留任务操作与异常处理时间。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人工投入合计（假设）：20 分钟／条：12 分钟／条：不计无人值守模型等待时间。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口播：我们暂时没有实测工时，因此这里采用明确的流程假设。原有方式每条20分钟，其中理解英文和查阅8分钟、归纳提取7分钟、记录3分钟、操作及异常处理2分钟。辅助方式仍保留5分钟核查整理内容、3分钟修改记录和2分钟异常投入，加上2分钟查阅，共12分钟，计算得到40%的情景改善。如果再增加2分钟返工，改善为30%。所以30%—40%只是用于评估潜在收益的假设区间，不代表实际达成，也不是AI接口速度。批量任务不能代替逐条质量审核，各环节不得重复计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预期效果：跟踪、筛选与材料使用（未实测）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有明确数据定义的质量项列为建议验收目标；缺少基线的效率项采用假设例子说明潜在改善。</a:t>
            </a:r>
          </a:p>
          <a:p xmlns:a="http://schemas.openxmlformats.org/drawingml/2006/main">
            <a:r>
              <a:t>不报告未经核验的准确率、漏项率、真实复用率，也不把原始材料缺失归因于提取功能。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评价方面：计算口径与估算依据：解释与使用边界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跟踪可靠性</a:t>
            </a:r>
          </a:p>
          <a:p xmlns:a="http://schemas.openxmlformats.org/drawingml/2006/main">
            <a:r>
              <a:t>建议目标：ID 匹配率 = 本地与源端匹配条数 ÷ 源端条数。</a:t>
            </a:r>
          </a:p>
          <a:p xmlns:a="http://schemas.openxmlformats.org/drawingml/2006/main">
            <a:r>
              <a:t>建议指定范围目标为 100%，人工分析内容保持不变。</a:t>
            </a:r>
          </a:p>
          <a:p xmlns:a="http://schemas.openxmlformats.org/drawingml/2006/main">
            <a:r>
              <a:t>统一仓库、时间截止点、状态以及是否包含 PR。</a:t>
            </a:r>
          </a:p>
          <a:p xmlns:a="http://schemas.openxmlformats.org/drawingml/2006/main">
            <a:r>
              <a:t>更新及时性另看是否在约定同步周期内跟进。：100% 为建议验收要求，不是实测值。</a:t>
            </a:r>
          </a:p>
          <a:p xmlns:a="http://schemas.openxmlformats.org/drawingml/2006/main">
            <a:r>
              <a:t>当前不能据此宣称全量无遗漏。</a:t>
            </a:r>
          </a:p>
          <a:p xmlns:a="http://schemas.openxmlformats.org/drawingml/2006/main">
            <a:r>
              <a:t>更新周期达标也需实际同步记录支持。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重点筛选</a:t>
            </a:r>
          </a:p>
          <a:p xmlns:a="http://schemas.openxmlformats.org/drawingml/2006/main">
            <a:r>
              <a:t>情景估算：假设原范围 20 条，按专题条件筛至 10—14 条。</a:t>
            </a:r>
          </a:p>
          <a:p xmlns:a="http://schemas.openxmlformats.org/drawingml/2006/main">
            <a:r>
              <a:t>减少比例 =（20 − 候选数）÷ 20，即 30%—50%。</a:t>
            </a:r>
          </a:p>
          <a:p xmlns:a="http://schemas.openxmlformats.org/drawingml/2006/main">
            <a:r>
              <a:t>数字只为示意，不代表实际 Doc/RFC 占比。</a:t>
            </a:r>
          </a:p>
          <a:p xmlns:a="http://schemas.openxmlformats.org/drawingml/2006/main">
            <a:r>
              <a:t>现有版本信息主要参与排序，不是旧版本阈值过滤。：减少条数不等于有效候选准确率。</a:t>
            </a:r>
          </a:p>
          <a:p xmlns:a="http://schemas.openxmlformats.org/drawingml/2006/main">
            <a:r>
              <a:t>老版本问题也可能影响当前版本。</a:t>
            </a:r>
          </a:p>
          <a:p xmlns:a="http://schemas.openxmlformats.org/drawingml/2006/main">
            <a:r>
              <a:t>需人工复查重要但信息不足的问题。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复现材料</a:t>
            </a:r>
          </a:p>
          <a:p xmlns:a="http://schemas.openxmlformats.org/drawingml/2006/main">
            <a:r>
              <a:t>建议目标：已知参数提取率 = 准确提取项 ÷ 原文已提供适用项。</a:t>
            </a:r>
          </a:p>
          <a:p xmlns:a="http://schemas.openxmlformats.org/drawingml/2006/main">
            <a:r>
              <a:t>建议目标 ≥90%，未提供的参数明确标为待确认。</a:t>
            </a:r>
          </a:p>
          <a:p xmlns:a="http://schemas.openxmlformats.org/drawingml/2006/main">
            <a:r>
              <a:t>缺失标记不计作参数齐全，不预测复现成功率。</a:t>
            </a:r>
          </a:p>
          <a:p xmlns:a="http://schemas.openxmlformats.org/drawingml/2006/main">
            <a:r>
              <a:t>已有 #16608 人工复现并转工单，用例补充待跟进。：90% 是建议目标，并无已测基线。</a:t>
            </a:r>
          </a:p>
          <a:p xmlns:a="http://schemas.openxmlformats.org/drawingml/2006/main">
            <a:r>
              <a:t>AI 不能补造设备、版本和模型参数。</a:t>
            </a:r>
          </a:p>
          <a:p xmlns:a="http://schemas.openxmlformats.org/drawingml/2006/main">
            <a:r>
              <a:t>是否具备验证条件仍由人员判断。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归档与复用</a:t>
            </a:r>
          </a:p>
          <a:p xmlns:a="http://schemas.openxmlformats.org/drawingml/2006/main">
            <a:r>
              <a:t>情景估算：假设查找和交接准备原需 10 分钟，集中记录后需 6—8 分钟。</a:t>
            </a:r>
          </a:p>
          <a:p xmlns:a="http://schemas.openxmlformats.org/drawingml/2006/main">
            <a:r>
              <a:t>减少比例 =（10 − 辅助耗时）÷ 10，即 20%—40%。</a:t>
            </a:r>
          </a:p>
          <a:p xmlns:a="http://schemas.openxmlformats.org/drawingml/2006/main">
            <a:r>
              <a:t>假设接手者能直接使用来源、结论和待办信息。</a:t>
            </a:r>
          </a:p>
          <a:p xmlns:a="http://schemas.openxmlformats.org/drawingml/2006/main">
            <a:r>
              <a:t>不含缺陷定位、修复和执行测试本身的耗时。：估算只针对查找与交接准备环节。</a:t>
            </a:r>
          </a:p>
          <a:p xmlns:a="http://schemas.openxmlformats.org/drawingml/2006/main">
            <a:r>
              <a:t>归档与导出不自动证明材料已复用。</a:t>
            </a:r>
          </a:p>
          <a:p xmlns:a="http://schemas.openxmlformats.org/drawingml/2006/main">
            <a:r>
              <a:t>实际复用案例及次数目前仍未统计。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口播：对跟踪和材料提取质量，我们没有足够依据预测真实改善比例，因此列为建议验收目标，不冒充已达成结果。筛选用20条变为10到14条说明可能减少的阅读范围，不是说系统有30到50%的准确率。实际候选构成未知，老版本问题不能机械排除，现有代码主要按明确版本参与相对排序。材料提取目标的分母是来源已提供的适用参数，不能把待确认当成已补齐。复用方面的20到40%是假设查找交接从10分钟减到6至8分钟，不是已统计复用率。这些分项与主指标可能重叠，不应相加计算总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总结：项目价值与后续优化重点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issue-tracker 将社区问题获取、筛选、分析和材料保存集中到同一工作入口，支持测试人员持续开展分析。</a:t>
            </a:r>
          </a:p>
          <a:p xmlns:a="http://schemas.openxmlformats.org/drawingml/2006/main">
            <a:r>
              <a:t>项目价值需要结合实际使用、人工投入变化和测试验证贡献持续确认。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统一台账提供基础价值：持续跟进新增与历史更新，保留本地人工分析，减少跨页面查找、重复核对和交接中的资料分散。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辅助降低重复整理工作：帮助人员阅读、归纳和提取材料，支持批量处理。人员负责证据核对和结论把关，持续评估审核后的实际收益。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筛选与材料整理支撑测试准备：形成重点候选，整理模型、环境与触发条件，明确缺失信息。实际复现和根因确认仍需人员与实验环境完成。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后续优化以证据为依据：补充完整性核对、人工工时、候选有效性和材料复用记录。根据错误与返工情况优化提示词、筛选规则和分析流程。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b22411f60544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037e8919d42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d142c3f2342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e9a83ad19b4b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05a9d1c724e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0ddb154e843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787BE1-127E-4160-AFDA-21A0ACB25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B68BDA-F8C6-4AD1-AA3B-0BB490A4E1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EB2ABB-D5BA-4F53-992C-B20FA7CE41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C7121D-C305-4E2A-BC94-CADA64807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9E6A16-2D90-49F3-B3C2-ACF8D34E56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80EAB0-C13F-4D4C-88CB-CD1612E4C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807F3E-51DA-40FF-B377-A0FE2028F4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E369D3-A98A-4A77-AC5F-7F2F70E2A7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C04562-169F-4440-B3E4-7F4AC1E38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E7511E-08DC-424C-B022-1A6D3714A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f4373b3d134f66" /><Relationship Type="http://schemas.openxmlformats.org/officeDocument/2006/relationships/slideLayout" Target="/ppt/slideLayouts/slideLayout1.xml" Id="Rbf9a1e407a194e2b" /><Relationship Type="http://schemas.openxmlformats.org/officeDocument/2006/relationships/slideLayout" Target="/ppt/slideLayouts/slideLayout2.xml" Id="R5d6cec92b8f64ea9" /><Relationship Type="http://schemas.openxmlformats.org/officeDocument/2006/relationships/slideLayout" Target="/ppt/slideLayouts/slideLayout3.xml" Id="Rb9bd0095dc404a3b" /><Relationship Type="http://schemas.openxmlformats.org/officeDocument/2006/relationships/slideLayout" Target="/ppt/slideLayouts/slideLayout4.xml" Id="R15cb2b66e0924e1e" /><Relationship Type="http://schemas.openxmlformats.org/officeDocument/2006/relationships/slideLayout" Target="/ppt/slideLayouts/slideLayout5.xml" Id="Rae7e709f199f4758" /><Relationship Type="http://schemas.openxmlformats.org/officeDocument/2006/relationships/slideLayout" Target="/ppt/slideLayouts/slideLayout6.xml" Id="R2c876fecdd0e42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9a1e407a194e2b"/>
    <p:sldLayoutId xmlns:r="http://schemas.openxmlformats.org/officeDocument/2006/relationships" id="2147483650" r:id="R5d6cec92b8f64ea9"/>
    <p:sldLayoutId xmlns:r="http://schemas.openxmlformats.org/officeDocument/2006/relationships" id="2147483651" r:id="Rb9bd0095dc404a3b"/>
    <p:sldLayoutId xmlns:r="http://schemas.openxmlformats.org/officeDocument/2006/relationships" id="2147483652" r:id="R15cb2b66e0924e1e"/>
    <p:sldLayoutId xmlns:r="http://schemas.openxmlformats.org/officeDocument/2006/relationships" id="2147483653" r:id="Rae7e709f199f4758"/>
    <p:sldLayoutId xmlns:r="http://schemas.openxmlformats.org/officeDocument/2006/relationships" id="2147483654" r:id="R2c876fecdd0e42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75766e6ebe4227" /><Relationship Type="http://schemas.openxmlformats.org/officeDocument/2006/relationships/notesSlide" Target="/ppt/notesSlides/notesSlide1.xml" Id="R4144db961c8d40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32637595cc463d" /><Relationship Type="http://schemas.openxmlformats.org/officeDocument/2006/relationships/notesSlide" Target="/ppt/notesSlides/notesSlide2.xml" Id="Rdc4e02d44a044b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d5768fa8742ff" /><Relationship Type="http://schemas.openxmlformats.org/officeDocument/2006/relationships/notesSlide" Target="/ppt/notesSlides/notesSlide3.xml" Id="R00179a949c9c4c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c7cec1c5324665" /><Relationship Type="http://schemas.openxmlformats.org/officeDocument/2006/relationships/image" Target="/ppt/media/image.png" Id="Rec85a2cb99734474" /><Relationship Type="http://schemas.openxmlformats.org/officeDocument/2006/relationships/image" Target="/ppt/media/image.svg" Id="R484b502398f14418" /><Relationship Type="http://schemas.openxmlformats.org/officeDocument/2006/relationships/notesSlide" Target="/ppt/notesSlides/notesSlide4.xml" Id="R4e1dbfd6e87a49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d218a93e9b4978" /><Relationship Type="http://schemas.openxmlformats.org/officeDocument/2006/relationships/notesSlide" Target="/ppt/notesSlides/notesSlide5.xml" Id="R45ace4d5d44043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930ac542764918" /><Relationship Type="http://schemas.openxmlformats.org/officeDocument/2006/relationships/notesSlide" Target="/ppt/notesSlides/notesSlide6.xml" Id="R755db1cf81d848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8b41b3e3314a32" /><Relationship Type="http://schemas.openxmlformats.org/officeDocument/2006/relationships/notesSlide" Target="/ppt/notesSlides/notesSlide7.xml" Id="R3968fa5c83544a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041792b2aa4813" /><Relationship Type="http://schemas.openxmlformats.org/officeDocument/2006/relationships/notesSlide" Target="/ppt/notesSlides/notesSlide8.xml" Id="Rea74fbd7a01444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f7066d7b64e65" /><Relationship Type="http://schemas.openxmlformats.org/officeDocument/2006/relationships/notesSlide" Target="/ppt/notesSlides/notesSlide9.xml" Id="R520ef000103e49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36007844ca46ec" /><Relationship Type="http://schemas.openxmlformats.org/officeDocument/2006/relationships/notesSlide" Target="/ppt/notesSlides/notesSlide10.xml" Id="Rf6650a91dc7b47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97cebc5d8f4090" /><Relationship Type="http://schemas.openxmlformats.org/officeDocument/2006/relationships/notesSlide" Target="/ppt/notesSlides/notesSlide11.xml" Id="Rbadb352dd5344a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e4ae88e6584678" /><Relationship Type="http://schemas.openxmlformats.org/officeDocument/2006/relationships/notesSlide" Target="/ppt/notesSlides/notesSlide12.xml" Id="Re3080554453740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d54acd236a460d" /><Relationship Type="http://schemas.openxmlformats.org/officeDocument/2006/relationships/notesSlide" Target="/ppt/notesSlides/notesSlide13.xml" Id="R6c490d74b7464a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a62d825de4819" /><Relationship Type="http://schemas.openxmlformats.org/officeDocument/2006/relationships/notesSlide" Target="/ppt/notesSlides/notesSlide14.xml" Id="Rd008f3924c4647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1a074637a14c31" /><Relationship Type="http://schemas.openxmlformats.org/officeDocument/2006/relationships/notesSlide" Target="/ppt/notesSlides/notesSlide15.xml" Id="Rb235344bd5764c9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91ad3a33f4ebc" /><Relationship Type="http://schemas.openxmlformats.org/officeDocument/2006/relationships/notesSlide" Target="/ppt/notesSlides/notesSlide16.xml" Id="R9fb5ecd310854b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B5C233-89C3-4C96-8A16-83150AA5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issue-tracker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F70E5B1B-073D-411E-8F4E-0FC62419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社区问题管理与测试分析</a:t>
            </a:r>
          </a:p>
        </p:txBody>
      </p:sp>
      <p:sp>
        <p:nvSpPr>
          <p:cNvPr id="4" name="cover-subject">
            <a:extLst xmlns:a="http://schemas.openxmlformats.org/drawingml/2006/main">
              <a:ext uri="{FF2B5EF4-FFF2-40B4-BE49-F238E27FC236}">
                <a16:creationId xmlns:a16="http://schemas.microsoft.com/office/drawing/2014/main" id="{6BF82966-A2FA-432D-864B-C5458655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1590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项目改进汇报</a:t>
            </a:r>
          </a:p>
        </p:txBody>
      </p:sp>
      <p:sp>
        <p:nvSpPr>
          <p:cNvPr id="5" name="cover-body">
            <a:extLst xmlns:a="http://schemas.openxmlformats.org/drawingml/2006/main">
              <a:ext uri="{FF2B5EF4-FFF2-40B4-BE49-F238E27FC236}">
                <a16:creationId xmlns:a16="http://schemas.microsoft.com/office/drawing/2014/main" id="{3A67EC54-23D9-44CC-B1D1-9C63AFF8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86375"/>
            <a:ext cx="15525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现状调查、根因分析、目标设定</a:t>
            </a:r>
          </a:p>
          <a:p xmlns:a="http://schemas.openxmlformats.org/drawingml/2006/main">
            <a: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对策实施与效果确认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91D3BCB2-9948-43F1-90D5-B38C82B9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096250"/>
            <a:ext cx="1428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1451157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178719-CC98-4696-989F-4BB5A717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现状调查：社区 Issue 管理的五项痛点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B45718BA-3B5B-4DAD-A46F-63957B32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社区反馈持续增加，正文、评论和处理进展分散。测试人员需要先收集、阅读和判断，再准备验证材料。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以下痛点来自项目需求与使用反馈，具体耗时和遗漏比例仍需建立统计基线。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AD83D-75E7-4FAC-9C68-E32F41BB758B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10500"/>
                <a:gridCol w="5334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痛点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具体表现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对测试工作的影响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持续跟踪困难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人工整理投入大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 重点问题筛选难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 复现材料不完整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 分析经验难复用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分点-1-1">
            <a:extLst xmlns:a="http://schemas.openxmlformats.org/drawingml/2006/main">
              <a:ext uri="{FF2B5EF4-FFF2-40B4-BE49-F238E27FC236}">
                <a16:creationId xmlns:a16="http://schemas.microsoft.com/office/drawing/2014/main" id="{5295DF9C-BD82-4669-AF61-BF73B308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7543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新增问题、历史更新和维护者回复需要反复查看。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正文、评论与状态变化缺少统一的跟踪入口。</a:t>
            </a:r>
          </a:p>
        </p:txBody>
      </p:sp>
      <p:sp>
        <p:nvSpPr>
          <p:cNvPr id="6" name="分点-1-2">
            <a:extLst xmlns:a="http://schemas.openxmlformats.org/drawingml/2006/main">
              <a:ext uri="{FF2B5EF4-FFF2-40B4-BE49-F238E27FC236}">
                <a16:creationId xmlns:a16="http://schemas.microsoft.com/office/drawing/2014/main" id="{F5003126-ABAB-44C8-BE84-E87AE287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524250"/>
            <a:ext cx="5067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容易重复查找与核对。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重要更新可能未能及时跟进。</a:t>
            </a:r>
          </a:p>
        </p:txBody>
      </p:sp>
      <p:sp>
        <p:nvSpPr>
          <p:cNvPr id="7" name="分点-2-1">
            <a:extLst xmlns:a="http://schemas.openxmlformats.org/drawingml/2006/main">
              <a:ext uri="{FF2B5EF4-FFF2-40B4-BE49-F238E27FC236}">
                <a16:creationId xmlns:a16="http://schemas.microsoft.com/office/drawing/2014/main" id="{FF355945-E756-4B53-B218-A7D0F061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43450"/>
            <a:ext cx="7543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逐条阅读长正文、多轮评论和错误日志。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重复提取问题现象、环境配置与处理进展。</a:t>
            </a:r>
          </a:p>
        </p:txBody>
      </p:sp>
      <p:sp>
        <p:nvSpPr>
          <p:cNvPr id="8" name="分点-2-2">
            <a:extLst xmlns:a="http://schemas.openxmlformats.org/drawingml/2006/main">
              <a:ext uri="{FF2B5EF4-FFF2-40B4-BE49-F238E27FC236}">
                <a16:creationId xmlns:a16="http://schemas.microsoft.com/office/drawing/2014/main" id="{5CD2C7A5-818C-420A-8C69-DF0D5C7C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743450"/>
            <a:ext cx="5067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资料准备占用分析精力。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集中梳理大量问题时耗时明显。</a:t>
            </a:r>
          </a:p>
        </p:txBody>
      </p:sp>
      <p:sp>
        <p:nvSpPr>
          <p:cNvPr id="9" name="分点-3-1">
            <a:extLst xmlns:a="http://schemas.openxmlformats.org/drawingml/2006/main">
              <a:ext uri="{FF2B5EF4-FFF2-40B4-BE49-F238E27FC236}">
                <a16:creationId xmlns:a16="http://schemas.microsoft.com/office/drawing/2014/main" id="{2146A8CB-12CA-4AD2-910A-1BA36BDE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62650"/>
            <a:ext cx="7543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缺陷、文档、咨询和 RFC 混杂在完整列表中。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价值、版本适用性和复现条件需要分别判断。</a:t>
            </a:r>
          </a:p>
        </p:txBody>
      </p:sp>
      <p:sp>
        <p:nvSpPr>
          <p:cNvPr id="10" name="分点-3-2">
            <a:extLst xmlns:a="http://schemas.openxmlformats.org/drawingml/2006/main">
              <a:ext uri="{FF2B5EF4-FFF2-40B4-BE49-F238E27FC236}">
                <a16:creationId xmlns:a16="http://schemas.microsoft.com/office/drawing/2014/main" id="{F8690196-13BF-4BDE-82AE-821B8CB0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962650"/>
            <a:ext cx="5067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测试资源难以确定投入顺序。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重要缺陷可能被低相关反馈淹没。</a:t>
            </a:r>
          </a:p>
        </p:txBody>
      </p:sp>
      <p:sp>
        <p:nvSpPr>
          <p:cNvPr id="11" name="分点-4-1">
            <a:extLst xmlns:a="http://schemas.openxmlformats.org/drawingml/2006/main">
              <a:ext uri="{FF2B5EF4-FFF2-40B4-BE49-F238E27FC236}">
                <a16:creationId xmlns:a16="http://schemas.microsoft.com/office/drawing/2014/main" id="{84A80CAF-6795-449A-9966-7C22DE18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181850"/>
            <a:ext cx="7543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模型、量化、并行方式与软硬件版本组合复杂。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启动参数、触发请求或复现步骤可能缺失。</a:t>
            </a:r>
          </a:p>
        </p:txBody>
      </p:sp>
      <p:sp>
        <p:nvSpPr>
          <p:cNvPr id="12" name="分点-4-2">
            <a:extLst xmlns:a="http://schemas.openxmlformats.org/drawingml/2006/main">
              <a:ext uri="{FF2B5EF4-FFF2-40B4-BE49-F238E27FC236}">
                <a16:creationId xmlns:a16="http://schemas.microsoft.com/office/drawing/2014/main" id="{6CC2C974-2F2C-41AD-A80B-C7CBDE6E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7181850"/>
            <a:ext cx="5067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需要重新翻阅正文与评论补齐参数。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难以判断是否具备开展验证的条件。</a:t>
            </a:r>
          </a:p>
        </p:txBody>
      </p:sp>
      <p:sp>
        <p:nvSpPr>
          <p:cNvPr id="13" name="分点-5-1">
            <a:extLst xmlns:a="http://schemas.openxmlformats.org/drawingml/2006/main">
              <a:ext uri="{FF2B5EF4-FFF2-40B4-BE49-F238E27FC236}">
                <a16:creationId xmlns:a16="http://schemas.microsoft.com/office/drawing/2014/main" id="{FD37D5E7-B6CC-4F07-8902-3CBA1D0B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401050"/>
            <a:ext cx="7543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分析结论、补测建议与处理进展分散保存。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交接时缺少可直接接续的材料和判断依据。</a:t>
            </a:r>
          </a:p>
        </p:txBody>
      </p:sp>
      <p:sp>
        <p:nvSpPr>
          <p:cNvPr id="14" name="分点-5-2">
            <a:extLst xmlns:a="http://schemas.openxmlformats.org/drawingml/2006/main">
              <a:ext uri="{FF2B5EF4-FFF2-40B4-BE49-F238E27FC236}">
                <a16:creationId xmlns:a16="http://schemas.microsoft.com/office/drawing/2014/main" id="{4D7933ED-CA53-4261-9231-B0CB2074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8401050"/>
            <a:ext cx="5067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接手者重复阅读与分析。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典型问题难以积累为后续测试输入。</a:t>
            </a:r>
          </a:p>
        </p:txBody>
      </p:sp>
    </p:spTree>
    <p:extLst>
      <p:ext uri="{BB962C8B-B14F-4D97-AF65-F5344CB8AC3E}">
        <p14:creationId xmlns:p14="http://schemas.microsoft.com/office/powerpoint/2010/main" val="1615791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B147BB-ACD9-4443-B2BC-5246CD33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SIPOC：流程范围与关键指标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997F917A-10B3-4592-AB90-5D0EEE8F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使用方需要有依据、可接续的分析记录，项目通过统一台账、筛选和辅助整理减少形成这些材料的人工投入。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据此提出主指标“单条 Issue 分析平均人工耗时”，在输出质量满足要求的前提下比较改进前后变化。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BC82B-984E-4F38-A6B7-027249067E87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333750"/>
                <a:gridCol w="3429000"/>
                <a:gridCol w="3524250"/>
                <a:gridCol w="29527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供应方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 输入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 处理过程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 输出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使用方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2619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分点-1-0">
            <a:extLst xmlns:a="http://schemas.openxmlformats.org/drawingml/2006/main">
              <a:ext uri="{FF2B5EF4-FFF2-40B4-BE49-F238E27FC236}">
                <a16:creationId xmlns:a16="http://schemas.microsoft.com/office/drawing/2014/main" id="{BD2D9188-2F04-4DDC-BFCB-306DCDA5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27813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3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Issue 提交者</a:t>
            </a:r>
          </a:p>
          <a:p xmlns:a="http://schemas.openxmlformats.org/drawingml/2006/main">
            <a:pPr marL="152400" indent="-88900" algn="l">
              <a:spcAft>
                <a:spcPts val="3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社区维护者</a:t>
            </a:r>
          </a:p>
          <a:p xmlns:a="http://schemas.openxmlformats.org/drawingml/2006/main">
            <a:pPr marL="152400" indent="-88900" algn="l">
              <a:spcAft>
                <a:spcPts val="3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参与讨论的用户</a:t>
            </a:r>
          </a:p>
          <a:p xmlns:a="http://schemas.openxmlformats.org/drawingml/2006/main">
            <a:pPr algn="l">
              <a:spcBef>
                <a:spcPts val="500"/>
              </a:spcBef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提供问题与后续反馈</a:t>
            </a:r>
          </a:p>
        </p:txBody>
      </p:sp>
      <p:sp>
        <p:nvSpPr>
          <p:cNvPr id="6" name="分点-1-1">
            <a:extLst xmlns:a="http://schemas.openxmlformats.org/drawingml/2006/main">
              <a:ext uri="{FF2B5EF4-FFF2-40B4-BE49-F238E27FC236}">
                <a16:creationId xmlns:a16="http://schemas.microsoft.com/office/drawing/2014/main" id="{F59E14D5-2CEF-48AD-96AE-E9946D0C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24250"/>
            <a:ext cx="30670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3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正文、评论与日志</a:t>
            </a:r>
          </a:p>
          <a:p xmlns:a="http://schemas.openxmlformats.org/drawingml/2006/main">
            <a:pPr marL="152400" indent="-88900" algn="l">
              <a:spcAft>
                <a:spcPts val="3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标签、状态与版本</a:t>
            </a:r>
          </a:p>
          <a:p xmlns:a="http://schemas.openxmlformats.org/drawingml/2006/main">
            <a:pPr marL="152400" indent="-88900" algn="l">
              <a:spcAft>
                <a:spcPts val="3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模型、环境配置</a:t>
            </a:r>
          </a:p>
          <a:p xmlns:a="http://schemas.openxmlformats.org/drawingml/2006/main">
            <a:pPr marL="152400" indent="-88900" algn="l">
              <a:spcAft>
                <a:spcPts val="3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已有人工分析</a:t>
            </a:r>
          </a:p>
          <a:p xmlns:a="http://schemas.openxmlformats.org/drawingml/2006/main">
            <a:pPr algn="l">
              <a:spcBef>
                <a:spcPts val="500"/>
              </a:spcBef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保留来源与信息缺口</a:t>
            </a:r>
          </a:p>
        </p:txBody>
      </p:sp>
      <p:sp>
        <p:nvSpPr>
          <p:cNvPr id="7" name="分点-1-2">
            <a:extLst xmlns:a="http://schemas.openxmlformats.org/drawingml/2006/main">
              <a:ext uri="{FF2B5EF4-FFF2-40B4-BE49-F238E27FC236}">
                <a16:creationId xmlns:a16="http://schemas.microsoft.com/office/drawing/2014/main" id="{4985E2CE-CAF3-4F8B-A7B6-27EC5E20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24250"/>
            <a:ext cx="31623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同步获取与集中查看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筛选并确定分析范围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人工或 AI 辅助归纳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人员审核、修正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保存记录与专题导出</a:t>
            </a:r>
          </a:p>
        </p:txBody>
      </p:sp>
      <p:sp>
        <p:nvSpPr>
          <p:cNvPr id="8" name="分点-1-3">
            <a:extLst xmlns:a="http://schemas.openxmlformats.org/drawingml/2006/main">
              <a:ext uri="{FF2B5EF4-FFF2-40B4-BE49-F238E27FC236}">
                <a16:creationId xmlns:a16="http://schemas.microsoft.com/office/drawing/2014/main" id="{E84DAD36-7EDB-411C-88DA-A172CF9E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524250"/>
            <a:ext cx="32575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3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经审核的分析记录</a:t>
            </a:r>
          </a:p>
          <a:p xmlns:a="http://schemas.openxmlformats.org/drawingml/2006/main">
            <a:pPr marL="152400" indent="-88900" algn="l">
              <a:spcAft>
                <a:spcPts val="3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问题判断与依据</a:t>
            </a:r>
          </a:p>
          <a:p xmlns:a="http://schemas.openxmlformats.org/drawingml/2006/main">
            <a:pPr marL="152400" indent="-88900" algn="l">
              <a:spcAft>
                <a:spcPts val="3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关键配置与信息缺口</a:t>
            </a:r>
          </a:p>
          <a:p xmlns:a="http://schemas.openxmlformats.org/drawingml/2006/main">
            <a:pPr marL="152400" indent="-88900" algn="l">
              <a:spcAft>
                <a:spcPts val="3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后续验证或跟进建议</a:t>
            </a:r>
          </a:p>
          <a:p xmlns:a="http://schemas.openxmlformats.org/drawingml/2006/main">
            <a:pPr algn="l">
              <a:spcBef>
                <a:spcPts val="500"/>
              </a:spcBef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为复现提供准备材料</a:t>
            </a:r>
          </a:p>
        </p:txBody>
      </p:sp>
      <p:sp>
        <p:nvSpPr>
          <p:cNvPr id="9" name="分点-1-4">
            <a:extLst xmlns:a="http://schemas.openxmlformats.org/drawingml/2006/main">
              <a:ext uri="{FF2B5EF4-FFF2-40B4-BE49-F238E27FC236}">
                <a16:creationId xmlns:a16="http://schemas.microsoft.com/office/drawing/2014/main" id="{02082CA3-05FC-4180-96D7-C6BDBC1C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3524250"/>
            <a:ext cx="26860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3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测试人员</a:t>
            </a:r>
          </a:p>
          <a:p xmlns:a="http://schemas.openxmlformats.org/drawingml/2006/main">
            <a:pPr marL="152400" indent="-88900" algn="l">
              <a:spcAft>
                <a:spcPts val="3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开发与问题负责人</a:t>
            </a:r>
          </a:p>
          <a:p xmlns:a="http://schemas.openxmlformats.org/drawingml/2006/main">
            <a:pPr marL="152400" indent="-88900" algn="l">
              <a:spcAft>
                <a:spcPts val="3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评审和交接人员</a:t>
            </a:r>
          </a:p>
          <a:p xmlns:a="http://schemas.openxmlformats.org/drawingml/2006/main">
            <a:pPr algn="l">
              <a:spcBef>
                <a:spcPts val="500"/>
              </a:spcBef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据此判断下一步工作</a:t>
            </a:r>
          </a:p>
        </p:txBody>
      </p:sp>
      <p:sp>
        <p:nvSpPr>
          <p:cNvPr id="10" name="主指标名称">
            <a:extLst xmlns:a="http://schemas.openxmlformats.org/drawingml/2006/main">
              <a:ext uri="{FF2B5EF4-FFF2-40B4-BE49-F238E27FC236}">
                <a16:creationId xmlns:a16="http://schemas.microsoft.com/office/drawing/2014/main" id="{40974FA4-9F6A-4077-A521-479AC056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3412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关键指标：单条 Issue 分析平均人工耗时（分钟／条）</a:t>
            </a:r>
          </a:p>
        </p:txBody>
      </p:sp>
      <p:sp>
        <p:nvSpPr>
          <p:cNvPr id="11" name="主指标公式">
            <a:extLst xmlns:a="http://schemas.openxmlformats.org/drawingml/2006/main">
              <a:ext uri="{FF2B5EF4-FFF2-40B4-BE49-F238E27FC236}">
                <a16:creationId xmlns:a16="http://schemas.microsoft.com/office/drawing/2014/main" id="{43EF61D5-EBFD-4336-9219-C2B68B2D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1992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计算公式：样本全部参与人员的分析总工时（分钟） ÷ 样本 Issue 数量</a:t>
            </a:r>
          </a:p>
        </p:txBody>
      </p:sp>
      <p:sp>
        <p:nvSpPr>
          <p:cNvPr id="12" name="指标计量边界">
            <a:extLst xmlns:a="http://schemas.openxmlformats.org/drawingml/2006/main">
              <a:ext uri="{FF2B5EF4-FFF2-40B4-BE49-F238E27FC236}">
                <a16:creationId xmlns:a16="http://schemas.microsoft.com/office/drawing/2014/main" id="{D237832D-2B79-4198-9CB8-2FA9637F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715250"/>
            <a:ext cx="1609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统计口径：从收集信息到审核保存分析记录，累计查找、阅读、提取、审核、修正及返工的人工时间。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固定样本清单，逐条完成记录；AI 失败后的人工接续照计，不只统计成功项，无人值守等待不计人工工时。</a:t>
            </a:r>
          </a:p>
        </p:txBody>
      </p:sp>
      <p:sp>
        <p:nvSpPr>
          <p:cNvPr id="13" name="指标对照和质量要求">
            <a:extLst xmlns:a="http://schemas.openxmlformats.org/drawingml/2006/main">
              <a:ext uri="{FF2B5EF4-FFF2-40B4-BE49-F238E27FC236}">
                <a16:creationId xmlns:a16="http://schemas.microsoft.com/office/drawing/2014/main" id="{5908C0BC-F4CA-45A2-AC75-C2D96E3D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1609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对照要求：使用相近类型与复杂度的样本，统一完成标准，比较纯人工与辅助流程。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质量前提：结论可追溯、信息缺口明确、材料经使用方审核。当前基线待采集，目标值在首轮统计后确定。</a:t>
            </a:r>
          </a:p>
        </p:txBody>
      </p:sp>
    </p:spTree>
    <p:extLst>
      <p:ext uri="{BB962C8B-B14F-4D97-AF65-F5344CB8AC3E}">
        <p14:creationId xmlns:p14="http://schemas.microsoft.com/office/powerpoint/2010/main" val="328158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EE23DB-7463-45FE-B1CB-C666701A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根因分析：社区反馈转化为测试输入的障碍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E647912B-F072-4AB2-927F-5173F37D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从信息获取、分析方法、环境配置、人员协作、工作流程和知识沉淀六个方面展开原因。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鱼骨图列出可能因素，后续需要用流程走查、样本检查和对照验证确认主要原因。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89DEE-A35E-4AD4-9350-329E1A52F6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5a2cb99734474">
            <a:extLst>
              <a:ext uri="{96DAC541-7B7A-43D3-8B79-37D633B846F1}">
                <asvg:svgBlip xmlns:asvg="http://schemas.microsoft.com/office/drawing/2016/SVG/main" r:embed="R484b502398f14418"/>
              </a:ext>
            </a:extLst>
          </a:blip>
          <a:srcRect xmlns:a="http://schemas.openxmlformats.org/drawingml/2006/main" l="0" t="17000" r="0" b="10000"/>
          <a:stretch xmlns:a="http://schemas.openxmlformats.org/drawingml/2006/main"/>
        </p:blipFill>
        <p:spPr>
          <a:xfrm xmlns:a="http://schemas.openxmlformats.org/drawingml/2006/main">
            <a:off x="476250" y="2714625"/>
            <a:ext cx="17335500" cy="6762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054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DA6F7B-1D91-4CFA-95FF-2FDCC77B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目标设定：明确希望改善什么、如何验收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99DF6843-BF29-470F-B103-A523BCB7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整体目标是持续跟踪社区问题，减少重复整理，帮助人员选择重点验证对象，并积累可继续使用的分析材料。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目标描述的是希望取得的改进，是否达成需要结合实际使用数据和测试人员反馈判断。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3E0AB-58F7-4E1D-B352-7B510FE98BC0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334250"/>
                <a:gridCol w="58102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具体含义与项目解决方式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验收依据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提高跟踪可靠性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减少人工整理投入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 提高重点筛选效率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 提高复现材料</a:t>
                      </a:r>
                    </a:p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完整性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 提高分析材料</a:t>
                      </a:r>
                    </a:p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复用能力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分点-1-1">
            <a:extLst xmlns:a="http://schemas.openxmlformats.org/drawingml/2006/main">
              <a:ext uri="{FF2B5EF4-FFF2-40B4-BE49-F238E27FC236}">
                <a16:creationId xmlns:a16="http://schemas.microsoft.com/office/drawing/2014/main" id="{31F594DA-168D-4F3A-B44F-F04D7B4E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7067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集中维护问题列表，持续同步新增和历史更新。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统一仓库、时间和状态口径，支持全量核对。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社区字段更新时保留本地人工分析。</a:t>
            </a:r>
          </a:p>
        </p:txBody>
      </p:sp>
      <p:sp>
        <p:nvSpPr>
          <p:cNvPr id="6" name="分点-1-2">
            <a:extLst xmlns:a="http://schemas.openxmlformats.org/drawingml/2006/main">
              <a:ext uri="{FF2B5EF4-FFF2-40B4-BE49-F238E27FC236}">
                <a16:creationId xmlns:a16="http://schemas.microsoft.com/office/drawing/2014/main" id="{538EA785-AA98-456F-A53B-2D10DB69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524250"/>
            <a:ext cx="5543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同口径核对问题数量并抽查具体条目。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检查历史更新是否跟进。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确认人工结论未被同步覆盖。</a:t>
            </a:r>
          </a:p>
        </p:txBody>
      </p:sp>
      <p:sp>
        <p:nvSpPr>
          <p:cNvPr id="7" name="分点-2-1">
            <a:extLst xmlns:a="http://schemas.openxmlformats.org/drawingml/2006/main">
              <a:ext uri="{FF2B5EF4-FFF2-40B4-BE49-F238E27FC236}">
                <a16:creationId xmlns:a16="http://schemas.microsoft.com/office/drawing/2014/main" id="{7400642F-2643-4DEC-8756-5E904483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43450"/>
            <a:ext cx="7067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集中展示原文与评论，减少跨页面查找。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AI 辅助归纳摘要与补测建议，支持批量处理。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人员核对和修正后使用结果。</a:t>
            </a:r>
          </a:p>
        </p:txBody>
      </p:sp>
      <p:sp>
        <p:nvSpPr>
          <p:cNvPr id="8" name="分点-2-2">
            <a:extLst xmlns:a="http://schemas.openxmlformats.org/drawingml/2006/main">
              <a:ext uri="{FF2B5EF4-FFF2-40B4-BE49-F238E27FC236}">
                <a16:creationId xmlns:a16="http://schemas.microsoft.com/office/drawing/2014/main" id="{14229FD6-1003-4E6E-9FDC-5518F80D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743450"/>
            <a:ext cx="5543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对比单条 Issue 分析平均人工耗时。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包括查找、阅读、审核与修正。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质量标准一致，计入错误与返工。</a:t>
            </a:r>
          </a:p>
        </p:txBody>
      </p:sp>
      <p:sp>
        <p:nvSpPr>
          <p:cNvPr id="9" name="分点-3-1">
            <a:extLst xmlns:a="http://schemas.openxmlformats.org/drawingml/2006/main">
              <a:ext uri="{FF2B5EF4-FFF2-40B4-BE49-F238E27FC236}">
                <a16:creationId xmlns:a16="http://schemas.microsoft.com/office/drawing/2014/main" id="{62073D01-7D15-40A2-A5CA-19EB1CD5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62650"/>
            <a:ext cx="7067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按时间、状态、标签和版本收敛范围。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结合价值与复现条件形成优先处理候选。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保留完整列表，人工复查重要遗漏。</a:t>
            </a:r>
          </a:p>
        </p:txBody>
      </p:sp>
      <p:sp>
        <p:nvSpPr>
          <p:cNvPr id="10" name="分点-3-2">
            <a:extLst xmlns:a="http://schemas.openxmlformats.org/drawingml/2006/main">
              <a:ext uri="{FF2B5EF4-FFF2-40B4-BE49-F238E27FC236}">
                <a16:creationId xmlns:a16="http://schemas.microsoft.com/office/drawing/2014/main" id="{1784E28C-A61E-4647-9EF7-3B288BED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962650"/>
            <a:ext cx="5543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人工评审候选是否值得投入测试。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抽查筛选结果之外的重要问题。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观察筛选准备时间与判断分歧。</a:t>
            </a:r>
          </a:p>
        </p:txBody>
      </p:sp>
      <p:sp>
        <p:nvSpPr>
          <p:cNvPr id="11" name="分点-4-1">
            <a:extLst xmlns:a="http://schemas.openxmlformats.org/drawingml/2006/main">
              <a:ext uri="{FF2B5EF4-FFF2-40B4-BE49-F238E27FC236}">
                <a16:creationId xmlns:a16="http://schemas.microsoft.com/office/drawing/2014/main" id="{B8DC8645-07C8-4453-865C-AD8B12C8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181850"/>
            <a:ext cx="7067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辅助提取模型配置、硬件环境和软件版本。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整理触发条件、预期结果和已知错误现象。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明确缺失信息，实际复现仍由测试人员执行。</a:t>
            </a:r>
          </a:p>
        </p:txBody>
      </p:sp>
      <p:sp>
        <p:nvSpPr>
          <p:cNvPr id="12" name="分点-4-2">
            <a:extLst xmlns:a="http://schemas.openxmlformats.org/drawingml/2006/main">
              <a:ext uri="{FF2B5EF4-FFF2-40B4-BE49-F238E27FC236}">
                <a16:creationId xmlns:a16="http://schemas.microsoft.com/office/drawing/2014/main" id="{32A00070-866A-428C-AFF5-DD6A4D55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7181850"/>
            <a:ext cx="5543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检查关键参数与待确认项是否清楚。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由测试人员评估材料能否用于验证。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不能将材料生成等同于复现成功。</a:t>
            </a:r>
          </a:p>
        </p:txBody>
      </p:sp>
      <p:sp>
        <p:nvSpPr>
          <p:cNvPr id="13" name="分点-5-1">
            <a:extLst xmlns:a="http://schemas.openxmlformats.org/drawingml/2006/main">
              <a:ext uri="{FF2B5EF4-FFF2-40B4-BE49-F238E27FC236}">
                <a16:creationId xmlns:a16="http://schemas.microsoft.com/office/drawing/2014/main" id="{2532DA16-CDEB-4C00-B684-8F02B525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401050"/>
            <a:ext cx="7067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将人工结论、补测建议和进展保存在台账。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支持按专题整理与导出，便于评审交接。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关联来源问题，积累典型测试场景。</a:t>
            </a:r>
          </a:p>
        </p:txBody>
      </p:sp>
      <p:sp>
        <p:nvSpPr>
          <p:cNvPr id="14" name="分点-5-2">
            <a:extLst xmlns:a="http://schemas.openxmlformats.org/drawingml/2006/main">
              <a:ext uri="{FF2B5EF4-FFF2-40B4-BE49-F238E27FC236}">
                <a16:creationId xmlns:a16="http://schemas.microsoft.com/office/drawing/2014/main" id="{21C0E9D5-153F-43DE-BD54-B022CA0F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8401050"/>
            <a:ext cx="5543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检查接手者能否继续分析而非重做。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记录材料在同类问题中的实际使用。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跟踪与测试验证记录的关联。</a:t>
            </a:r>
          </a:p>
        </p:txBody>
      </p:sp>
    </p:spTree>
    <p:extLst>
      <p:ext uri="{BB962C8B-B14F-4D97-AF65-F5344CB8AC3E}">
        <p14:creationId xmlns:p14="http://schemas.microsoft.com/office/powerpoint/2010/main" val="1030705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18AFDD-6BFB-49D9-B256-0C258221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主要原因与改进方向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B6A3ABDC-2B24-472A-B0A5-AAB4AE96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根据现状与鱼骨图，将需要重点改善的原因归纳为三个方面，并对应到后续五项具体对策。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以下是基于需求与使用反馈的初步判断，实际作用需结合工时、遗漏和材料使用记录持续核验。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9644E-5FBD-4334-9025-F3799C57369C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6191250"/>
                <a:gridCol w="63817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主要原因判断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对工作的影响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对应的改进方向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信息与分析记录</a:t>
                      </a:r>
                    </a:p>
                    <a:p>
                      <a:r>
                        <a:rPr sz="2100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分散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阅读归纳与配置提取</a:t>
                      </a:r>
                    </a:p>
                    <a:p>
                      <a:r>
                        <a:rPr sz="2100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依赖人工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 价值与复现性判断</a:t>
                      </a:r>
                    </a:p>
                    <a:p>
                      <a:r>
                        <a:rPr sz="2100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缺少统一口径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分点-1-1">
            <a:extLst xmlns:a="http://schemas.openxmlformats.org/drawingml/2006/main">
              <a:ext uri="{FF2B5EF4-FFF2-40B4-BE49-F238E27FC236}">
                <a16:creationId xmlns:a16="http://schemas.microsoft.com/office/drawing/2014/main" id="{CBDBE86D-7AC0-419D-B560-5DC5F769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24250"/>
            <a:ext cx="5924550" cy="184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新增、历史更新和人工结论缺少集中管理。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人员在不同页面与材料间反复查找、核对。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交接时难以接续已有判断，容易重复收集信息。</a:t>
            </a:r>
          </a:p>
        </p:txBody>
      </p:sp>
      <p:sp>
        <p:nvSpPr>
          <p:cNvPr id="6" name="分点-1-2">
            <a:extLst xmlns:a="http://schemas.openxmlformats.org/drawingml/2006/main">
              <a:ext uri="{FF2B5EF4-FFF2-40B4-BE49-F238E27FC236}">
                <a16:creationId xmlns:a16="http://schemas.microsoft.com/office/drawing/2014/main" id="{85F04A0C-73CA-4BF5-9F05-6918B943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524250"/>
            <a:ext cx="6115050" cy="184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持续同步与统一问题列表：集中获取、跟进更新。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分析记录与协作复用：保留结论、进展和依据。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通过专题导出支持评审交接，减少重复查找。</a:t>
            </a:r>
          </a:p>
        </p:txBody>
      </p:sp>
      <p:sp>
        <p:nvSpPr>
          <p:cNvPr id="7" name="分点-2-1">
            <a:extLst xmlns:a="http://schemas.openxmlformats.org/drawingml/2006/main">
              <a:ext uri="{FF2B5EF4-FFF2-40B4-BE49-F238E27FC236}">
                <a16:creationId xmlns:a16="http://schemas.microsoft.com/office/drawing/2014/main" id="{AF5B4657-15B0-4DB8-83AB-ADD8F3DA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556250"/>
            <a:ext cx="5924550" cy="184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长正文、多轮评论与日志需要逐条阅读整理。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模型、软硬件环境和触发参数分散，容易遗漏。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缺少固定检查项时，需要再次翻阅和补采。</a:t>
            </a:r>
          </a:p>
        </p:txBody>
      </p:sp>
      <p:sp>
        <p:nvSpPr>
          <p:cNvPr id="8" name="分点-2-2">
            <a:extLst xmlns:a="http://schemas.openxmlformats.org/drawingml/2006/main">
              <a:ext uri="{FF2B5EF4-FFF2-40B4-BE49-F238E27FC236}">
                <a16:creationId xmlns:a16="http://schemas.microsoft.com/office/drawing/2014/main" id="{6390D9CF-2501-4196-BD73-A58E3389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556250"/>
            <a:ext cx="6115050" cy="184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AI 辅助与批量任务：减少重复阅读和资料归纳。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复现材料整理：在“补充测试”中梳理关键条件。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明确缺失参数，由人员审核、补齐并执行验证。</a:t>
            </a:r>
          </a:p>
        </p:txBody>
      </p:sp>
      <p:sp>
        <p:nvSpPr>
          <p:cNvPr id="9" name="分点-3-1">
            <a:extLst xmlns:a="http://schemas.openxmlformats.org/drawingml/2006/main">
              <a:ext uri="{FF2B5EF4-FFF2-40B4-BE49-F238E27FC236}">
                <a16:creationId xmlns:a16="http://schemas.microsoft.com/office/drawing/2014/main" id="{BFA464FB-1FC4-4B6B-9EDB-72F47E7C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7588250"/>
            <a:ext cx="5924550" cy="184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对问题价值、版本适用性和复现条件判断不一。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重点候选难以确定，人员评审容易出现分歧。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高价值但信息不足的问题可能过早排除。</a:t>
            </a:r>
          </a:p>
        </p:txBody>
      </p:sp>
      <p:sp>
        <p:nvSpPr>
          <p:cNvPr id="10" name="分点-3-2">
            <a:extLst xmlns:a="http://schemas.openxmlformats.org/drawingml/2006/main">
              <a:ext uri="{FF2B5EF4-FFF2-40B4-BE49-F238E27FC236}">
                <a16:creationId xmlns:a16="http://schemas.microsoft.com/office/drawing/2014/main" id="{C893D1D9-3313-4E0D-9B15-B3B868A4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7588250"/>
            <a:ext cx="6115050" cy="184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多维筛选与统一评价：明确候选选择和排序依据。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保留完整列表，对重要但信息不足的问题复查。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结合人工评审与遗漏检查，持续调整筛选规则。</a:t>
            </a:r>
          </a:p>
        </p:txBody>
      </p:sp>
    </p:spTree>
    <p:extLst>
      <p:ext uri="{BB962C8B-B14F-4D97-AF65-F5344CB8AC3E}">
        <p14:creationId xmlns:p14="http://schemas.microsoft.com/office/powerpoint/2010/main" val="6776439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947FA5-CD41-4C2A-90DA-759233BB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拟定对策：针对每项痛点设计解决方案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D1C00CD3-A02E-48BC-8AF6-403FECD8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各项对策共同服务于项目整体目标。AI 主要用于辅助整理，统一台账、筛选和人工记录也能独立提供价值。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方案是否有效，需要同时考虑人员投入、分析质量及后续测试使用情况。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3BC6D-C9BC-4C52-B7F2-99CC43B39EF3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10500"/>
                <a:gridCol w="5334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针对的痛点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解决方案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预期形成的工作材料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持续跟踪困难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人工整理投入大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 重点问题筛选难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 复现材料不完整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 分析经验难复用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分点-1-1">
            <a:extLst xmlns:a="http://schemas.openxmlformats.org/drawingml/2006/main">
              <a:ext uri="{FF2B5EF4-FFF2-40B4-BE49-F238E27FC236}">
                <a16:creationId xmlns:a16="http://schemas.microsoft.com/office/drawing/2014/main" id="{7D5CE799-F46C-4364-B702-BE11C001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7543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全量同步与增量更新结合，提供手动校准入口。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统一仓库、时间和状态口径，集中查看问题。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分别维护社区信息与本地人工分析。</a:t>
            </a:r>
          </a:p>
        </p:txBody>
      </p:sp>
      <p:sp>
        <p:nvSpPr>
          <p:cNvPr id="6" name="分点-1-2">
            <a:extLst xmlns:a="http://schemas.openxmlformats.org/drawingml/2006/main">
              <a:ext uri="{FF2B5EF4-FFF2-40B4-BE49-F238E27FC236}">
                <a16:creationId xmlns:a16="http://schemas.microsoft.com/office/drawing/2014/main" id="{F90B78AE-A3E5-452C-9D6C-EC84967E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524250"/>
            <a:ext cx="5067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持续更新的问题台账。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可核对的专项清单。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历史更新与人工分析记录。</a:t>
            </a:r>
          </a:p>
        </p:txBody>
      </p:sp>
      <p:sp>
        <p:nvSpPr>
          <p:cNvPr id="7" name="分点-2-1">
            <a:extLst xmlns:a="http://schemas.openxmlformats.org/drawingml/2006/main">
              <a:ext uri="{FF2B5EF4-FFF2-40B4-BE49-F238E27FC236}">
                <a16:creationId xmlns:a16="http://schemas.microsoft.com/office/drawing/2014/main" id="{84689153-1C69-42F9-9AE6-B676D065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43450"/>
            <a:ext cx="7543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集中提供正文、评论和已有分析作为上下文。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AI 辅助归纳，支持选中问题和筛选范围批量处理。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人员审核、修正并决定是否采纳建议。</a:t>
            </a:r>
          </a:p>
        </p:txBody>
      </p:sp>
      <p:sp>
        <p:nvSpPr>
          <p:cNvPr id="8" name="分点-2-2">
            <a:extLst xmlns:a="http://schemas.openxmlformats.org/drawingml/2006/main">
              <a:ext uri="{FF2B5EF4-FFF2-40B4-BE49-F238E27FC236}">
                <a16:creationId xmlns:a16="http://schemas.microsoft.com/office/drawing/2014/main" id="{8315D43A-52D7-4DCE-BC2A-EEC7B7DB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743450"/>
            <a:ext cx="5067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待审核的结构化建议。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批量任务进度与失败项。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人工审核后的分析结果。</a:t>
            </a:r>
          </a:p>
        </p:txBody>
      </p:sp>
      <p:sp>
        <p:nvSpPr>
          <p:cNvPr id="9" name="分点-3-1">
            <a:extLst xmlns:a="http://schemas.openxmlformats.org/drawingml/2006/main">
              <a:ext uri="{FF2B5EF4-FFF2-40B4-BE49-F238E27FC236}">
                <a16:creationId xmlns:a16="http://schemas.microsoft.com/office/drawing/2014/main" id="{918B85D1-E34D-485E-8F48-BBFDA799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62650"/>
            <a:ext cx="7543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按日期、状态、标签和版本缩小分析范围。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结合价值与复现条件形成候选排序。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过滤文档、RFC 等类型时保留完整列表供复查。</a:t>
            </a:r>
          </a:p>
        </p:txBody>
      </p:sp>
      <p:sp>
        <p:nvSpPr>
          <p:cNvPr id="10" name="分点-3-2">
            <a:extLst xmlns:a="http://schemas.openxmlformats.org/drawingml/2006/main">
              <a:ext uri="{FF2B5EF4-FFF2-40B4-BE49-F238E27FC236}">
                <a16:creationId xmlns:a16="http://schemas.microsoft.com/office/drawing/2014/main" id="{661658B8-806E-4F97-9E8B-FF400538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962650"/>
            <a:ext cx="5067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重点验证候选及筛选依据。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人工补充的价值判断。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重要遗漏的复查记录。</a:t>
            </a:r>
          </a:p>
        </p:txBody>
      </p:sp>
      <p:sp>
        <p:nvSpPr>
          <p:cNvPr id="11" name="分点-4-1">
            <a:extLst xmlns:a="http://schemas.openxmlformats.org/drawingml/2006/main">
              <a:ext uri="{FF2B5EF4-FFF2-40B4-BE49-F238E27FC236}">
                <a16:creationId xmlns:a16="http://schemas.microsoft.com/office/drawing/2014/main" id="{FB53BBF4-9DB3-4BE7-931C-60CDCA5C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181850"/>
            <a:ext cx="7543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按模型、配置、环境和触发场景整理补测材料。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明确哪些参数来自原文，哪些信息尚未提供。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测试人员补齐条件后执行验证并记录结果。</a:t>
            </a:r>
          </a:p>
        </p:txBody>
      </p:sp>
      <p:sp>
        <p:nvSpPr>
          <p:cNvPr id="12" name="分点-4-2">
            <a:extLst xmlns:a="http://schemas.openxmlformats.org/drawingml/2006/main">
              <a:ext uri="{FF2B5EF4-FFF2-40B4-BE49-F238E27FC236}">
                <a16:creationId xmlns:a16="http://schemas.microsoft.com/office/drawing/2014/main" id="{5746160F-FB20-4CAB-9553-2DA04A88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7181850"/>
            <a:ext cx="5067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模型与软硬件配置清单。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复现场景及缺失参数。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后续验证动作与结果记录。</a:t>
            </a:r>
          </a:p>
        </p:txBody>
      </p:sp>
      <p:sp>
        <p:nvSpPr>
          <p:cNvPr id="13" name="分点-5-1">
            <a:extLst xmlns:a="http://schemas.openxmlformats.org/drawingml/2006/main">
              <a:ext uri="{FF2B5EF4-FFF2-40B4-BE49-F238E27FC236}">
                <a16:creationId xmlns:a16="http://schemas.microsoft.com/office/drawing/2014/main" id="{36D4F935-BB5F-4851-B873-DA906B75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401050"/>
            <a:ext cx="7543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集中保存分析结论、补测建议与处理进展。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支持按专题整理、导出和交接。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在测试材料中保留来源 Issue 及判断依据。</a:t>
            </a:r>
          </a:p>
        </p:txBody>
      </p:sp>
      <p:sp>
        <p:nvSpPr>
          <p:cNvPr id="14" name="分点-5-2">
            <a:extLst xmlns:a="http://schemas.openxmlformats.org/drawingml/2006/main">
              <a:ext uri="{FF2B5EF4-FFF2-40B4-BE49-F238E27FC236}">
                <a16:creationId xmlns:a16="http://schemas.microsoft.com/office/drawing/2014/main" id="{4AC3D2F7-77E0-438C-A676-6D342414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8401050"/>
            <a:ext cx="5067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可接续的分析台账。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专题评审与交接材料。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典型场景及其来源记录。</a:t>
            </a:r>
          </a:p>
        </p:txBody>
      </p:sp>
    </p:spTree>
    <p:extLst>
      <p:ext uri="{BB962C8B-B14F-4D97-AF65-F5344CB8AC3E}">
        <p14:creationId xmlns:p14="http://schemas.microsoft.com/office/powerpoint/2010/main" val="17655973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E88DEF-30E3-4FD4-B909-E0666BE6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对策实施：持续同步与统一台账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3A2D26EF-2D79-4785-866B-5C0C98BE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解决“持续跟踪困难”：把分散的问题信息收敛到统一入口，支持持续更新、专项筛选和完整性核对。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统计时需要统一仓库、时间、状态以及是否包含 PR，避免把统计口径差异误判为数据遗漏。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D6940AF3-66AD-4509-B568-C58FE34B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1. 明确同步与核对范围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F317D287-412D-42A4-8BCE-874EB1F0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统一仓库、日期和状态条件。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对照同一口径的问题数量与具体条目，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同时检查新增问题和历史更新。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137AF227-ADCE-4E57-BC38-18101629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2. 持续维护问题台账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ECA9EB75-6B1B-4AEB-99D1-31812F3B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全量获取用于建立和校准台账，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增量同步用于日常跟进。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同步完成后仍需关注异常与漏项。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2EDC8F00-22D3-4583-84DD-4BB77C28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3. 保护本地人工分析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3CA73E4A-109E-410D-A8AA-20FC7A19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社区字段与人工结论分开维护。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更新标题、正文和状态时，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保留已有分析、备注与补测建议。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1B58B8C0-58DD-4284-A002-FF093913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4. 形成可检查的专项清单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340AA6EE-1099-4905-A4AD-2F457C70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按时间、状态、标签等收敛范围。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通过清单逐项核对更新与遗漏，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减少反复打开社区页面查找。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0363D3AB-12F9-4C32-BB1B-EEBA46F0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实际界面：问题列表与同步状态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801E63C9-F688-4410-9DC0-6EE3D12E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9265641F-CB48-4550-978A-5F592BB7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07F55F61-084D-401F-84C7-A611D3B4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建议粘贴问题列表、同步状态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或同口径数量核对截图</a:t>
            </a:r>
          </a:p>
        </p:txBody>
      </p:sp>
    </p:spTree>
    <p:extLst>
      <p:ext uri="{BB962C8B-B14F-4D97-AF65-F5344CB8AC3E}">
        <p14:creationId xmlns:p14="http://schemas.microsoft.com/office/powerpoint/2010/main" val="21071870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6166A7-4989-45D7-9EC6-F475270F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对策实施：AI 辅助分析与批量任务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504EDF2F-E8F6-4A6B-82DB-CFC93B81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解决“人工整理投入大”：由模型先整理材料，人员再核对证据、修正结论并决定是否采纳。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AI 模块仍需持续评估，效率收益应包含审核、修正和失败重试成本，不能仅看生成建议数量。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DA3749A3-2B92-41CC-AB47-DBA672AD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1. 准备可靠的分析上下文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20980DEC-54B9-4241-A517-FCADE71C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结合正文、评论和已有分析。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明确材料来源与缺失部分，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避免模型把推测当成已确认事实。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F1F6F07E-5695-449C-97A6-528C1A6F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2. 生成待审核的结构化建议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DC6E2662-D341-4B21-A380-8CCE450F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归纳问题摘要、现象和补测建议。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区分事实、可能原因与待确认参数，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漏测原因结合实际测试覆盖人工判断。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659E9CEC-DFD2-45D8-BAE4-2505DDF9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3. 批量处理与异常跟进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A3958ADB-D9B0-44F1-B823-C2BFFADA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支持勾选问题或按筛选范围执行。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通过并发任务处理多条问题，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查看进度及失败项并跟进重试。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3FE9F1F0-E248-4156-B78A-FB654601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4. 人工核对后保存结果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781E3D7F-A243-4B70-A672-799D9565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对照原文检查版本、配置和判断。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修正后决定是否采纳并保存，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保留已有人工内容及必要说明。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645AEFF5-CB30-42ED-A1DA-35F1EB22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实际界面：分析建议与批量任务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E3BAAACD-D221-44A4-B4B7-CB682FBD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6D07F487-E1C2-4E27-8F88-1EDFCF19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4EF18137-1F2B-41D9-9601-D342F955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 AI 建议、审核采纳界面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或批量分析进度截图</a:t>
            </a:r>
          </a:p>
        </p:txBody>
      </p:sp>
    </p:spTree>
    <p:extLst>
      <p:ext uri="{BB962C8B-B14F-4D97-AF65-F5344CB8AC3E}">
        <p14:creationId xmlns:p14="http://schemas.microsoft.com/office/powerpoint/2010/main" val="11999776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49AE30-B6A7-4A28-8800-FBA0C1B8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对策实施：重点筛选与复现材料整理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2BD0CA93-2B67-4824-A671-A0BB63A6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解决“筛选难、复现材料不完整”：先选择值得投入的问题，再整理开展验证所需的配置与条件。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系统辅助完成复现前的材料准备，不能代替测试人员部署环境、执行请求或确认根因。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EC335AF0-4EEA-45F8-9117-C47B218E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1. 筛选值得验证的候选问题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0A8CE308-F7CE-4C2E-BFE4-4CEF70D5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按时间、版本、类型等缩小范围。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结合价值与复现条件排序，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保留完整列表复查重要问题遗漏。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C37E3803-C070-41C4-B0D4-65ECD6C7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2. 提取模型与环境配置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FB360A9E-004B-41C2-952F-8F641187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整理模型名称、量化与并行配置。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提取 A2/A3/A5 硬件及软件版本，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没有来源支持的参数标为待确认。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C399C60E-6D53-454A-A204-27D8F84A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3. 梳理触发条件与错误现象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FAA80258-64DD-4C56-AC67-42BF1E22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整理启动命令、请求和执行阶段。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关注并发、输入长度与异常日志，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写清预期结果和实际差异。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6CEF77FB-65B0-46C5-A577-EFC5C6E9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4. 由测试人员补齐并验证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304A6EEB-3D48-4B51-B0B0-065C5483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列出缺失参数和需要追问的信息。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人员准备环境并执行验证，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将复现是否成功及结果补回记录。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81FC64F3-C0FC-491C-8F70-5B79048C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实际界面：候选清单与配置材料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E7BFF916-E011-4E2A-B2B5-981AB90A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DC28D75D-BA4B-4615-9B29-3CEADCC9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DBC257FE-EAFE-427D-9809-AD7C24B7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建议粘贴重点候选列表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或模型、环境、复现场景分析截图</a:t>
            </a:r>
          </a:p>
        </p:txBody>
      </p:sp>
    </p:spTree>
    <p:extLst>
      <p:ext uri="{BB962C8B-B14F-4D97-AF65-F5344CB8AC3E}">
        <p14:creationId xmlns:p14="http://schemas.microsoft.com/office/powerpoint/2010/main" val="13386283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1EA9AB-FF2A-4704-A26A-20EC3FF3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对策实施：分析记录、评审交接与材料复用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48FD4306-9370-4F2F-9F94-E9316FE2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解决“分析经验难复用”：将结论、依据、补测建议和处理进展保留在统一台账，便于接手者继续工作。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典型问题转化为测试场景时，还需要人员补充实际执行结果，并保留来源问题与验证记录的关联。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305CBD5D-7C8E-4A9C-AD20-EDA769DD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1. 统一维护人工分析记录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0A69EAFE-1268-4DBA-959B-2A106C1C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保存问题识别、结论与补测建议。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持续补充版本支持和处理进展，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让后续人员了解当前判断与待办。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851C0F2C-5E4D-46F2-AB1E-8B4E720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2. 按专题组织评审材料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6036D48A-357E-4F94-910B-E2059B7C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利用筛选结果形成专项清单。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导出后结合原文与已有结论评审，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保留判断依据与尚未解决的信息缺口。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C254118F-10FE-4766-BEFF-DF6C5DD2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3. 减少交接中的重复工作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AA14D073-EE48-4091-AE0A-95223CB5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接手者先查看已有分析和验证情况。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在此前记录上补充、修正和跟进，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减少重新阅读和重复收集材料。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E4EE2C9C-F860-4257-B054-9D183783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4. 积累可追溯的典型场景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657BB821-39EC-4B0B-B448-CB61985C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整理配置、触发条件与验证结果。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转化测试材料时关联来源 Issue，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通过再次使用判断材料是否有价值。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E6F1C2BC-5D3A-4C00-8466-9E62C6ED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实际界面：分析记录与评审导出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1ACC1F69-0438-4548-911A-EDA848AC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DFD44C54-6FF9-454B-BF34-D2AE2826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95E7237D-1698-4311-A460-2733E7EA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建议粘贴人工分析、处理进展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或专题清单导出结果截图</a:t>
            </a:r>
          </a:p>
        </p:txBody>
      </p:sp>
    </p:spTree>
    <p:extLst>
      <p:ext uri="{BB962C8B-B14F-4D97-AF65-F5344CB8AC3E}">
        <p14:creationId xmlns:p14="http://schemas.microsoft.com/office/powerpoint/2010/main" val="17142914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87C4BA-9ED7-4AFD-B93D-B83FA071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实施案例：Issue #16608 分析、复现与工单转化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7BD73927-A0CA-487F-ADC6-D8E71A67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处理流程包括社区反馈、AI 辅助分析、人工复现、工单处理及后续测试用例补充。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AI 辅助整理验证线索，人员核对并执行复现；当前已完成复现与工单转化，修复和补测继续跟进。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8DD0F-D9AC-4402-A37E-9DB8A7C6F265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9715500"/>
                <a:gridCol w="3429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实施环节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案例内容与处理动作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社区问题与验证线索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来源明确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GitHub Issue #16608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AI 辅助分析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辅助整理与分析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建议需人工审核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 人工执行复现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已完成复现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项目负责人确认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 转为工单推进解决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已转为工单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修复完成状态未确认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 安排补充测试用例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后续安排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用例完成情况待跟进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分点-1-1">
            <a:extLst xmlns:a="http://schemas.openxmlformats.org/drawingml/2006/main">
              <a:ext uri="{FF2B5EF4-FFF2-40B4-BE49-F238E27FC236}">
                <a16:creationId xmlns:a16="http://schemas.microsoft.com/office/drawing/2014/main" id="{83354F37-D009-4B94-9E78-3D1D2ECE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9448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原帖报告：PP=2、TP=1 时推理乱码，切换为 TP=2、PP=1 后正常。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报告模型为 Qwen3.8-27B W8A8，并提供环境与启动参数。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这些是社区报告的信息，内部实际配置以复现记录为准。</a:t>
            </a:r>
          </a:p>
        </p:txBody>
      </p:sp>
      <p:sp>
        <p:nvSpPr>
          <p:cNvPr id="6" name="分点-2-1">
            <a:extLst xmlns:a="http://schemas.openxmlformats.org/drawingml/2006/main">
              <a:ext uri="{FF2B5EF4-FFF2-40B4-BE49-F238E27FC236}">
                <a16:creationId xmlns:a16="http://schemas.microsoft.com/office/drawing/2014/main" id="{68281A68-02A4-40D6-95B8-05BD7102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43450"/>
            <a:ext cx="9448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利用项目 AI 分析辅助归纳问题现象、模型配置和环境参数。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围绕 PP/TP 对照条件整理验证建议，明确需要确认的信息。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人员核对后用于复现准备，可能原因仍需实际验证。</a:t>
            </a:r>
          </a:p>
        </p:txBody>
      </p:sp>
      <p:sp>
        <p:nvSpPr>
          <p:cNvPr id="7" name="分点-3-1">
            <a:extLst xmlns:a="http://schemas.openxmlformats.org/drawingml/2006/main">
              <a:ext uri="{FF2B5EF4-FFF2-40B4-BE49-F238E27FC236}">
                <a16:creationId xmlns:a16="http://schemas.microsoft.com/office/drawing/2014/main" id="{8300A56F-4B60-4842-BB23-8191555F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62650"/>
            <a:ext cx="9448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项目负责人已在实际环境中完成该问题的复现。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人工验证为转工单提供实际的问题依据。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内部环境配置、触发请求与结果建议随工单留存。</a:t>
            </a:r>
          </a:p>
        </p:txBody>
      </p:sp>
      <p:sp>
        <p:nvSpPr>
          <p:cNvPr id="8" name="分点-4-1">
            <a:extLst xmlns:a="http://schemas.openxmlformats.org/drawingml/2006/main">
              <a:ext uri="{FF2B5EF4-FFF2-40B4-BE49-F238E27FC236}">
                <a16:creationId xmlns:a16="http://schemas.microsoft.com/office/drawing/2014/main" id="{3AD97ADB-6D6D-4FD5-84C4-5E4448AA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181850"/>
            <a:ext cx="9448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已将复现问题转换为工单，进入问题处理流程。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后续结合工单跟进定位、修复和验证。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工单编号与处理进展可按实际记录补充。</a:t>
            </a:r>
          </a:p>
        </p:txBody>
      </p:sp>
      <p:sp>
        <p:nvSpPr>
          <p:cNvPr id="9" name="分点-5-1">
            <a:extLst xmlns:a="http://schemas.openxmlformats.org/drawingml/2006/main">
              <a:ext uri="{FF2B5EF4-FFF2-40B4-BE49-F238E27FC236}">
                <a16:creationId xmlns:a16="http://schemas.microsoft.com/office/drawing/2014/main" id="{06C8588F-51DC-4833-A347-DD179E48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401050"/>
            <a:ext cx="9448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后续安排测试人员补充相关场景的测试用例。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建议结合 PP/TP 对照场景与修复结果评审回归范围。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用例完成、执行通过和纳入回归需要后续记录确认。</a:t>
            </a:r>
          </a:p>
        </p:txBody>
      </p:sp>
    </p:spTree>
    <p:extLst>
      <p:ext uri="{BB962C8B-B14F-4D97-AF65-F5344CB8AC3E}">
        <p14:creationId xmlns:p14="http://schemas.microsoft.com/office/powerpoint/2010/main" val="2249270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596F6B-C337-438B-93B5-195B4F6A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效果确认：已有案例与预期改善（未实测）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C4059190-D9CA-4C97-93F9-80EAD659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已确认事实：负责人已复现 Issue #16608 并转为工单，测试用例补充为后续安排。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以下百分比区分“情景估算”与“建议目标”，均未经试验验证，不作为已达成的收益或质量结论。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5379C-0E8E-4F46-9676-58F78E0FDC0B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620000"/>
                <a:gridCol w="55245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改善方面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改善来源与适用前提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情景估算或建议目标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减少人工整理投入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提高跟踪可靠性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 提高重点筛选效率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 提高复现材料</a:t>
                      </a:r>
                    </a:p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完整性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 提高材料复用能力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分点-1-1">
            <a:extLst xmlns:a="http://schemas.openxmlformats.org/drawingml/2006/main">
              <a:ext uri="{FF2B5EF4-FFF2-40B4-BE49-F238E27FC236}">
                <a16:creationId xmlns:a16="http://schemas.microsoft.com/office/drawing/2014/main" id="{7C4690A4-64AF-4BED-A0D5-3167E37C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7353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中文归纳减少英文理解与反复翻译，集中整理正文和评论。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批量任务减少逐条发起与页面切换，人员仍逐条审核。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假设中等复杂度英文问题，包含审核修正的人工投入。</a:t>
            </a:r>
          </a:p>
        </p:txBody>
      </p:sp>
      <p:sp>
        <p:nvSpPr>
          <p:cNvPr id="6" name="分点-1-2">
            <a:extLst xmlns:a="http://schemas.openxmlformats.org/drawingml/2006/main">
              <a:ext uri="{FF2B5EF4-FFF2-40B4-BE49-F238E27FC236}">
                <a16:creationId xmlns:a16="http://schemas.microsoft.com/office/drawing/2014/main" id="{4D4E965C-CC9C-4766-A5D4-CC756513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524250"/>
            <a:ext cx="525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情景估算：人工耗时降低 30%—40%。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假设 20 分钟降至 12—14 分钟。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实际基线与改善幅度尚未测量。</a:t>
            </a:r>
          </a:p>
        </p:txBody>
      </p:sp>
      <p:sp>
        <p:nvSpPr>
          <p:cNvPr id="7" name="分点-2-1">
            <a:extLst xmlns:a="http://schemas.openxmlformats.org/drawingml/2006/main">
              <a:ext uri="{FF2B5EF4-FFF2-40B4-BE49-F238E27FC236}">
                <a16:creationId xmlns:a16="http://schemas.microsoft.com/office/drawing/2014/main" id="{52A61ACB-E726-46AA-87EA-F513E6FA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43450"/>
            <a:ext cx="7353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统一同步入口跟进新增与历史更新，并保留人工分析。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完整性需核对 ID 集合，更新及时性需检查同步记录。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不能从功能存在直接推断真实漏项率和故障率。</a:t>
            </a:r>
          </a:p>
        </p:txBody>
      </p:sp>
      <p:sp>
        <p:nvSpPr>
          <p:cNvPr id="8" name="分点-2-2">
            <a:extLst xmlns:a="http://schemas.openxmlformats.org/drawingml/2006/main">
              <a:ext uri="{FF2B5EF4-FFF2-40B4-BE49-F238E27FC236}">
                <a16:creationId xmlns:a16="http://schemas.microsoft.com/office/drawing/2014/main" id="{9CCB9127-CCDB-4406-9DC0-92E8A7BE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743450"/>
            <a:ext cx="525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建议目标：指定范围 ID 匹配率 100%。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同步时人工分析内容保持不变。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这是验收要求，尚未核验达成。</a:t>
            </a:r>
          </a:p>
        </p:txBody>
      </p:sp>
      <p:sp>
        <p:nvSpPr>
          <p:cNvPr id="9" name="分点-3-1">
            <a:extLst xmlns:a="http://schemas.openxmlformats.org/drawingml/2006/main">
              <a:ext uri="{FF2B5EF4-FFF2-40B4-BE49-F238E27FC236}">
                <a16:creationId xmlns:a16="http://schemas.microsoft.com/office/drawing/2014/main" id="{419B9B81-5261-44A0-B7FD-F68A7645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62650"/>
            <a:ext cx="7353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按日期、状态、类型和版本信息缩小需详细阅读的范围。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Doc/RFC 等不适合本次缺陷验证目标的类型可排除。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需保留完整列表复查，候选少不等于筛选准确。</a:t>
            </a:r>
          </a:p>
        </p:txBody>
      </p:sp>
      <p:sp>
        <p:nvSpPr>
          <p:cNvPr id="10" name="分点-3-2">
            <a:extLst xmlns:a="http://schemas.openxmlformats.org/drawingml/2006/main">
              <a:ext uri="{FF2B5EF4-FFF2-40B4-BE49-F238E27FC236}">
                <a16:creationId xmlns:a16="http://schemas.microsoft.com/office/drawing/2014/main" id="{B2431A6B-EF27-4ADE-9307-82DEC248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962650"/>
            <a:ext cx="525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情景估算：待细看条数减少 30%—50%。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假设 20 条保留 10—14 条。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取决于问题构成，不代表准确率。</a:t>
            </a:r>
          </a:p>
        </p:txBody>
      </p:sp>
      <p:sp>
        <p:nvSpPr>
          <p:cNvPr id="11" name="分点-4-1">
            <a:extLst xmlns:a="http://schemas.openxmlformats.org/drawingml/2006/main">
              <a:ext uri="{FF2B5EF4-FFF2-40B4-BE49-F238E27FC236}">
                <a16:creationId xmlns:a16="http://schemas.microsoft.com/office/drawing/2014/main" id="{3F02B460-9AC0-4016-A2F4-5B96FB45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181850"/>
            <a:ext cx="7353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在“补充测试”中整理模型、环境、触发条件和验证建议。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来源中已给参数准确提取，未给出的信息列为待确认。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已有 #16608 复现及工单案例，不等同整体材料质量达标。</a:t>
            </a:r>
          </a:p>
        </p:txBody>
      </p:sp>
      <p:sp>
        <p:nvSpPr>
          <p:cNvPr id="12" name="分点-4-2">
            <a:extLst xmlns:a="http://schemas.openxmlformats.org/drawingml/2006/main">
              <a:ext uri="{FF2B5EF4-FFF2-40B4-BE49-F238E27FC236}">
                <a16:creationId xmlns:a16="http://schemas.microsoft.com/office/drawing/2014/main" id="{BE505437-2D9B-45EB-AEA9-1480347A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181850"/>
            <a:ext cx="525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建议目标：已知参数提取率 ≥90%。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缺失参数明确标注，不算已补齐。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不是已测完整率或复现成功率。</a:t>
            </a:r>
          </a:p>
        </p:txBody>
      </p:sp>
      <p:sp>
        <p:nvSpPr>
          <p:cNvPr id="13" name="分点-5-1">
            <a:extLst xmlns:a="http://schemas.openxmlformats.org/drawingml/2006/main">
              <a:ext uri="{FF2B5EF4-FFF2-40B4-BE49-F238E27FC236}">
                <a16:creationId xmlns:a16="http://schemas.microsoft.com/office/drawing/2014/main" id="{111430B9-6853-44F1-9312-DD129A7C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401050"/>
            <a:ext cx="7353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结论、来源和待办集中保存，支持专题清单与导出。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假设接手者可以直接利用记录，减少查找和重复摘录。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归档数量和导出次数不直接等于实际复用。</a:t>
            </a:r>
          </a:p>
        </p:txBody>
      </p:sp>
      <p:sp>
        <p:nvSpPr>
          <p:cNvPr id="14" name="分点-5-2">
            <a:extLst xmlns:a="http://schemas.openxmlformats.org/drawingml/2006/main">
              <a:ext uri="{FF2B5EF4-FFF2-40B4-BE49-F238E27FC236}">
                <a16:creationId xmlns:a16="http://schemas.microsoft.com/office/drawing/2014/main" id="{6AF248F7-DE3E-450C-B580-6C760F6B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8401050"/>
            <a:ext cx="525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情景估算：查找交接耗时降 20%—40%。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假设 10 分钟降至 6—8 分钟。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实际复用次数和收益尚未统计。</a:t>
            </a:r>
          </a:p>
        </p:txBody>
      </p:sp>
    </p:spTree>
    <p:extLst>
      <p:ext uri="{BB962C8B-B14F-4D97-AF65-F5344CB8AC3E}">
        <p14:creationId xmlns:p14="http://schemas.microsoft.com/office/powerpoint/2010/main" val="2670504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3ED14A-6B92-4683-9D54-FB9D0ECE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预期效果测算：人工整理投入（示意假设）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E811575D-7ACD-41C7-88CC-DA5C952A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适用情景：需阅读英文正文及评论、提取环境配置并填写分析记录的中等复杂度 Issue。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所有分钟数是流程测算假设，并非实测；模型建议可用且完成同等质量审核，是估算成立的前提。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52C4F-6ADB-4F26-94BE-8B76176E348A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857500"/>
                <a:gridCol w="2857500"/>
                <a:gridCol w="52387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人工工作环节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原方式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辅助方式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假设的变化来源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查阅资料与理解英文内容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分钟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分钟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中文归纳减少翻译与查找。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提取配置、归纳现象与进展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分钟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分钟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核对归纳结果并回查原文。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填写或修改分析记录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分钟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分钟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仍需人工修改、确认与保存。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操作切换及异常处理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分钟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分钟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保留任务操作与异常处理时间。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人工投入合计（假设）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分钟／条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分钟／条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不计无人值守模型等待时间。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工时情景计算">
            <a:extLst xmlns:a="http://schemas.openxmlformats.org/drawingml/2006/main">
              <a:ext uri="{FF2B5EF4-FFF2-40B4-BE49-F238E27FC236}">
                <a16:creationId xmlns:a16="http://schemas.microsoft.com/office/drawing/2014/main" id="{FEB88A7A-6699-47D3-B5B9-A58F1154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762875"/>
            <a:ext cx="1609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示意结果：（20 − 12）÷ 20 = 40% 人工耗时降低</a:t>
            </a:r>
          </a:p>
        </p:txBody>
      </p:sp>
      <p:sp>
        <p:nvSpPr>
          <p:cNvPr id="6" name="工时敏感性说明">
            <a:extLst xmlns:a="http://schemas.openxmlformats.org/drawingml/2006/main">
              <a:ext uri="{FF2B5EF4-FFF2-40B4-BE49-F238E27FC236}">
                <a16:creationId xmlns:a16="http://schemas.microsoft.com/office/drawing/2014/main" id="{1AC49AAD-670D-4770-9603-4F6F60B2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0"/>
            <a:ext cx="1609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若审核或返工再增加 2 分钟，辅助投入为 14 分钟，对应降低 30%，因此采用 30%—40% 情景区间。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英文较短、参数缺失或 AI 输出错误较多时，收益可能更低，甚至增加人工投入；不外推为总体已节省工时。</a:t>
            </a:r>
          </a:p>
        </p:txBody>
      </p:sp>
    </p:spTree>
    <p:extLst>
      <p:ext uri="{BB962C8B-B14F-4D97-AF65-F5344CB8AC3E}">
        <p14:creationId xmlns:p14="http://schemas.microsoft.com/office/powerpoint/2010/main" val="13517083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11FD50-83B8-4D6D-B86E-49374A8D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预期效果：跟踪、筛选与材料使用（未实测）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C1B2C53F-B292-4F26-A38E-F3AC9199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有明确数据定义的质量项列为建议验收目标；缺少基线的效率项采用假设例子说明潜在改善。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不报告未经核验的准确率、漏项率、真实复用率，也不把原始材料缺失归因于提取功能。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1425D-BE65-48B3-88A5-E87D15EB04F9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620000"/>
                <a:gridCol w="55245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评价方面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计算口径与估算依据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解释与使用边界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跟踪可靠性</a:t>
                      </a:r>
                    </a:p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建议目标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重点筛选</a:t>
                      </a:r>
                    </a:p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情景估算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 复现材料</a:t>
                      </a:r>
                    </a:p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建议目标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 归档与复用</a:t>
                      </a:r>
                    </a:p>
                    <a:p>
                      <a:r>
                        <a:rPr sz="2025" b="1">
                          <a:solidFill>
                            <a:srgbClr val="B326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情景估算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分点-1-1">
            <a:extLst xmlns:a="http://schemas.openxmlformats.org/drawingml/2006/main">
              <a:ext uri="{FF2B5EF4-FFF2-40B4-BE49-F238E27FC236}">
                <a16:creationId xmlns:a16="http://schemas.microsoft.com/office/drawing/2014/main" id="{42D1E910-95A4-452C-B2A3-1B16ABBF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7353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ID 匹配率 = 本地与源端匹配条数 ÷ 源端条数。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建议指定范围目标为 100%，人工分析内容保持不变。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统一仓库、时间截止点、状态以及是否包含 PR。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更新及时性另看是否在约定同步周期内跟进。</a:t>
            </a:r>
          </a:p>
        </p:txBody>
      </p:sp>
      <p:sp>
        <p:nvSpPr>
          <p:cNvPr id="6" name="分点-1-2">
            <a:extLst xmlns:a="http://schemas.openxmlformats.org/drawingml/2006/main">
              <a:ext uri="{FF2B5EF4-FFF2-40B4-BE49-F238E27FC236}">
                <a16:creationId xmlns:a16="http://schemas.microsoft.com/office/drawing/2014/main" id="{DEC98CAE-5653-4FD1-895D-0B21C4E4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524250"/>
            <a:ext cx="5257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100% 为建议验收要求，不是实测值。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当前不能据此宣称全量无遗漏。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更新周期达标也需实际同步记录支持。</a:t>
            </a:r>
          </a:p>
        </p:txBody>
      </p:sp>
      <p:sp>
        <p:nvSpPr>
          <p:cNvPr id="7" name="分点-2-1">
            <a:extLst xmlns:a="http://schemas.openxmlformats.org/drawingml/2006/main">
              <a:ext uri="{FF2B5EF4-FFF2-40B4-BE49-F238E27FC236}">
                <a16:creationId xmlns:a16="http://schemas.microsoft.com/office/drawing/2014/main" id="{CB58BBFE-ABD4-426F-885C-CA72E65A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48250"/>
            <a:ext cx="7353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假设原范围 20 条，按专题条件筛至 10—14 条。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减少比例 =（20 − 候选数）÷ 20，即 30%—50%。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数字只为示意，不代表实际 Doc/RFC 占比。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现有版本信息主要参与排序，不是旧版本阈值过滤。</a:t>
            </a:r>
          </a:p>
        </p:txBody>
      </p:sp>
      <p:sp>
        <p:nvSpPr>
          <p:cNvPr id="8" name="分点-2-2">
            <a:extLst xmlns:a="http://schemas.openxmlformats.org/drawingml/2006/main">
              <a:ext uri="{FF2B5EF4-FFF2-40B4-BE49-F238E27FC236}">
                <a16:creationId xmlns:a16="http://schemas.microsoft.com/office/drawing/2014/main" id="{201AFC91-8CEA-4636-8726-A61DB8E0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048250"/>
            <a:ext cx="5257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减少条数不等于有效候选准确率。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老版本问题也可能影响当前版本。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需人工复查重要但信息不足的问题。</a:t>
            </a:r>
          </a:p>
        </p:txBody>
      </p:sp>
      <p:sp>
        <p:nvSpPr>
          <p:cNvPr id="9" name="分点-3-1">
            <a:extLst xmlns:a="http://schemas.openxmlformats.org/drawingml/2006/main">
              <a:ext uri="{FF2B5EF4-FFF2-40B4-BE49-F238E27FC236}">
                <a16:creationId xmlns:a16="http://schemas.microsoft.com/office/drawing/2014/main" id="{82F01D64-9377-4465-A20D-525068D1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72250"/>
            <a:ext cx="7353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已知参数提取率 = 准确提取项 ÷ 原文已提供适用项。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建议目标 ≥90%，未提供的参数明确标为待确认。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缺失标记不计作参数齐全，不预测复现成功率。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已有 #16608 人工复现并转工单，用例补充待跟进。</a:t>
            </a:r>
          </a:p>
        </p:txBody>
      </p:sp>
      <p:sp>
        <p:nvSpPr>
          <p:cNvPr id="10" name="分点-3-2">
            <a:extLst xmlns:a="http://schemas.openxmlformats.org/drawingml/2006/main">
              <a:ext uri="{FF2B5EF4-FFF2-40B4-BE49-F238E27FC236}">
                <a16:creationId xmlns:a16="http://schemas.microsoft.com/office/drawing/2014/main" id="{BD2F3B12-7260-474B-8A53-F7DF5641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572250"/>
            <a:ext cx="5257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90% 是建议目标，并无已测基线。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AI 不能补造设备、版本和模型参数。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是否具备验证条件仍由人员判断。</a:t>
            </a:r>
          </a:p>
        </p:txBody>
      </p:sp>
      <p:sp>
        <p:nvSpPr>
          <p:cNvPr id="11" name="分点-4-1">
            <a:extLst xmlns:a="http://schemas.openxmlformats.org/drawingml/2006/main">
              <a:ext uri="{FF2B5EF4-FFF2-40B4-BE49-F238E27FC236}">
                <a16:creationId xmlns:a16="http://schemas.microsoft.com/office/drawing/2014/main" id="{8F99B5AE-2DFE-46A1-BB8F-0E5931EE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096250"/>
            <a:ext cx="7353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假设查找和交接准备原需 10 分钟，集中记录后需 6—8 分钟。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减少比例 =（10 − 辅助耗时）÷ 10，即 20%—40%。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假设接手者能直接使用来源、结论和待办信息。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不含缺陷定位、修复和执行测试本身的耗时。</a:t>
            </a:r>
          </a:p>
        </p:txBody>
      </p:sp>
      <p:sp>
        <p:nvSpPr>
          <p:cNvPr id="12" name="分点-4-2">
            <a:extLst xmlns:a="http://schemas.openxmlformats.org/drawingml/2006/main">
              <a:ext uri="{FF2B5EF4-FFF2-40B4-BE49-F238E27FC236}">
                <a16:creationId xmlns:a16="http://schemas.microsoft.com/office/drawing/2014/main" id="{F06B82A1-C55D-4E65-8BAB-0B4CB767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8096250"/>
            <a:ext cx="5257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估算只针对查找与交接准备环节。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归档与导出不自动证明材料已复用。</a:t>
            </a:r>
          </a:p>
          <a:p xmlns:a="http://schemas.openxmlformats.org/drawingml/2006/main">
            <a:pPr marL="152400" indent="-88900" algn="l">
              <a:spcAft>
                <a:spcPts val="200"/>
              </a:spcAft>
              <a:buChar char="•"/>
              <a:def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实际复用案例及次数目前仍未统计。</a:t>
            </a:r>
          </a:p>
        </p:txBody>
      </p:sp>
    </p:spTree>
    <p:extLst>
      <p:ext uri="{BB962C8B-B14F-4D97-AF65-F5344CB8AC3E}">
        <p14:creationId xmlns:p14="http://schemas.microsoft.com/office/powerpoint/2010/main" val="1506244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0184E8-AD0A-4F19-8CF5-C808A1CF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总结：项目价值与后续优化重点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AB4E30F4-0F0D-4A8F-83E7-DB89691B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issue-tracker 将社区问题获取、筛选、分析和材料保存集中到同一工作入口，支持测试人员持续开展分析。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项目价值需要结合实际使用、人工投入变化和测试验证贡献持续确认。</a:t>
            </a:r>
          </a:p>
        </p:txBody>
      </p:sp>
      <p:sp>
        <p:nvSpPr>
          <p:cNvPr id="4" name="总结标题-0">
            <a:extLst xmlns:a="http://schemas.openxmlformats.org/drawingml/2006/main">
              <a:ext uri="{FF2B5EF4-FFF2-40B4-BE49-F238E27FC236}">
                <a16:creationId xmlns:a16="http://schemas.microsoft.com/office/drawing/2014/main" id="{3B734FFA-E556-482D-BA87-2EFD6808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1. 统一台账提供基础价值</a:t>
            </a:r>
          </a:p>
        </p:txBody>
      </p:sp>
      <p:sp>
        <p:nvSpPr>
          <p:cNvPr id="5" name="总结说明-0">
            <a:extLst xmlns:a="http://schemas.openxmlformats.org/drawingml/2006/main">
              <a:ext uri="{FF2B5EF4-FFF2-40B4-BE49-F238E27FC236}">
                <a16:creationId xmlns:a16="http://schemas.microsoft.com/office/drawing/2014/main" id="{D32335AD-DEF4-4093-8607-F8F8FB4B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38525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持续跟进新增与历史更新，保留本地人工分析，减少跨页面查找、重复核对和交接中的资料分散。</a:t>
            </a:r>
          </a:p>
        </p:txBody>
      </p:sp>
      <p:sp>
        <p:nvSpPr>
          <p:cNvPr id="6" name="总结标题-1">
            <a:extLst xmlns:a="http://schemas.openxmlformats.org/drawingml/2006/main">
              <a:ext uri="{FF2B5EF4-FFF2-40B4-BE49-F238E27FC236}">
                <a16:creationId xmlns:a16="http://schemas.microsoft.com/office/drawing/2014/main" id="{9192BA55-5171-4D67-B980-8554A2BB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2. AI 辅助降低重复整理工作</a:t>
            </a:r>
          </a:p>
        </p:txBody>
      </p:sp>
      <p:sp>
        <p:nvSpPr>
          <p:cNvPr id="7" name="总结说明-1">
            <a:extLst xmlns:a="http://schemas.openxmlformats.org/drawingml/2006/main">
              <a:ext uri="{FF2B5EF4-FFF2-40B4-BE49-F238E27FC236}">
                <a16:creationId xmlns:a16="http://schemas.microsoft.com/office/drawing/2014/main" id="{DBE2AF5A-4426-412D-81AD-4847DCF4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帮助人员阅读、归纳和提取材料，支持批量处理。人员负责证据核对和结论把关，持续评估审核后的实际收益。</a:t>
            </a:r>
          </a:p>
        </p:txBody>
      </p:sp>
      <p:sp>
        <p:nvSpPr>
          <p:cNvPr id="8" name="总结标题-2">
            <a:extLst xmlns:a="http://schemas.openxmlformats.org/drawingml/2006/main">
              <a:ext uri="{FF2B5EF4-FFF2-40B4-BE49-F238E27FC236}">
                <a16:creationId xmlns:a16="http://schemas.microsoft.com/office/drawing/2014/main" id="{3D2BC4C2-D64D-47AE-8360-4C8AB532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91250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3. 筛选与材料整理支撑测试准备</a:t>
            </a:r>
          </a:p>
        </p:txBody>
      </p:sp>
      <p:sp>
        <p:nvSpPr>
          <p:cNvPr id="9" name="总结说明-2">
            <a:extLst xmlns:a="http://schemas.openxmlformats.org/drawingml/2006/main">
              <a:ext uri="{FF2B5EF4-FFF2-40B4-BE49-F238E27FC236}">
                <a16:creationId xmlns:a16="http://schemas.microsoft.com/office/drawing/2014/main" id="{4C731963-F87B-43DB-BBB3-5F033F4A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72275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形成重点候选，整理模型、环境与触发条件，明确缺失信息。实际复现和根因确认仍需人员与实验环境完成。</a:t>
            </a:r>
          </a:p>
        </p:txBody>
      </p:sp>
      <p:sp>
        <p:nvSpPr>
          <p:cNvPr id="10" name="总结标题-3">
            <a:extLst xmlns:a="http://schemas.openxmlformats.org/drawingml/2006/main">
              <a:ext uri="{FF2B5EF4-FFF2-40B4-BE49-F238E27FC236}">
                <a16:creationId xmlns:a16="http://schemas.microsoft.com/office/drawing/2014/main" id="{D9881B7B-E14D-4D9E-A644-287906FB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58125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4. 后续优化以证据为依据</a:t>
            </a:r>
          </a:p>
        </p:txBody>
      </p:sp>
      <p:sp>
        <p:nvSpPr>
          <p:cNvPr id="11" name="总结说明-3">
            <a:extLst xmlns:a="http://schemas.openxmlformats.org/drawingml/2006/main">
              <a:ext uri="{FF2B5EF4-FFF2-40B4-BE49-F238E27FC236}">
                <a16:creationId xmlns:a16="http://schemas.microsoft.com/office/drawing/2014/main" id="{96DA7DEB-44D4-491A-A2F2-A22C6C54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439150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补充完整性核对、人工工时、候选有效性和材料复用记录。根据错误与返工情况优化提示词、筛选规则和分析流程。</a:t>
            </a:r>
          </a:p>
        </p:txBody>
      </p:sp>
    </p:spTree>
    <p:extLst>
      <p:ext uri="{BB962C8B-B14F-4D97-AF65-F5344CB8AC3E}">
        <p14:creationId xmlns:p14="http://schemas.microsoft.com/office/powerpoint/2010/main" val="1485665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2026-10-29T01:24:06.7530000Z</dcterms:created>
  <dcterms:modified xsi:type="dcterms:W3CDTF">2026-10-29T01:24:06.7530000Z</dcterms:modified>
</coreProperties>
</file>