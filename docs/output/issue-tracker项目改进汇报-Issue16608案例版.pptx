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2b4c3295554021" /><Relationship Type="http://schemas.openxmlformats.org/officeDocument/2006/relationships/extended-properties" Target="/docProps/app.xml" Id="R59b0d913def34cb6" /><Relationship Type="http://schemas.openxmlformats.org/officeDocument/2006/relationships/officeDocument" Target="/ppt/presentation.xml" Id="Rfa6b4ed55ec141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a4a2996f3e4790"/>
  </p:sldMasterIdLst>
  <p:notesMasterIdLst>
    <p:notesMasterId xmlns:r="http://schemas.openxmlformats.org/officeDocument/2006/relationships" r:id="Reba27a38cb3547fe"/>
  </p:notesMasterIdLst>
  <p:sldIdLst>
    <p:sldId xmlns:r="http://schemas.openxmlformats.org/officeDocument/2006/relationships" id="256" r:id="R61b9972ff4aa49cb"/>
    <p:sldId xmlns:r="http://schemas.openxmlformats.org/officeDocument/2006/relationships" id="257" r:id="R2e7a5c734bac4ba8"/>
    <p:sldId xmlns:r="http://schemas.openxmlformats.org/officeDocument/2006/relationships" id="258" r:id="Rbec6afbe29014375"/>
    <p:sldId xmlns:r="http://schemas.openxmlformats.org/officeDocument/2006/relationships" id="259" r:id="R15a94519e61343ee"/>
    <p:sldId xmlns:r="http://schemas.openxmlformats.org/officeDocument/2006/relationships" id="260" r:id="R2a83b71860034f51"/>
    <p:sldId xmlns:r="http://schemas.openxmlformats.org/officeDocument/2006/relationships" id="261" r:id="R93cae68cdf2e426d"/>
    <p:sldId xmlns:r="http://schemas.openxmlformats.org/officeDocument/2006/relationships" id="262" r:id="R5f35effe274248e8"/>
    <p:sldId xmlns:r="http://schemas.openxmlformats.org/officeDocument/2006/relationships" id="263" r:id="R7470db0eb0ca43b0"/>
    <p:sldId xmlns:r="http://schemas.openxmlformats.org/officeDocument/2006/relationships" id="264" r:id="Rea6a500aa9b34244"/>
    <p:sldId xmlns:r="http://schemas.openxmlformats.org/officeDocument/2006/relationships" id="265" r:id="Rf22ba0c5e3d34cdb"/>
    <p:sldId xmlns:r="http://schemas.openxmlformats.org/officeDocument/2006/relationships" id="266" r:id="R51e2c2494c7d4388"/>
    <p:sldId xmlns:r="http://schemas.openxmlformats.org/officeDocument/2006/relationships" id="267" r:id="R7e3a8c4a4e764508"/>
    <p:sldId xmlns:r="http://schemas.openxmlformats.org/officeDocument/2006/relationships" id="268" r:id="R78b7b6cf49024afc"/>
    <p:sldId xmlns:r="http://schemas.openxmlformats.org/officeDocument/2006/relationships" id="269" r:id="R4f3f016a4dcf4a06"/>
    <p:sldId xmlns:r="http://schemas.openxmlformats.org/officeDocument/2006/relationships" id="270" r:id="R4717de73290e4d1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b52c51c35a4185" /><Relationship Type="http://schemas.openxmlformats.org/officeDocument/2006/relationships/slideMaster" Target="/ppt/slideMasters/slideMaster1.xml" Id="R9aa4a2996f3e4790" /><Relationship Type="http://schemas.openxmlformats.org/officeDocument/2006/relationships/notesMaster" Target="/ppt/notesMasters/notesMaster1.xml" Id="Reba27a38cb3547fe" /><Relationship Type="http://schemas.openxmlformats.org/officeDocument/2006/relationships/presProps" Target="/ppt/presProps.xml" Id="Ra6573cb8f3664003" /><Relationship Type="http://schemas.openxmlformats.org/officeDocument/2006/relationships/tableStyles" Target="/ppt/tableStyles.xml" Id="R407b8e333ae445b1" /><Relationship Type="http://schemas.openxmlformats.org/officeDocument/2006/relationships/slide" Target="/ppt/slides/slide1.xml" Id="R61b9972ff4aa49cb" /><Relationship Type="http://schemas.openxmlformats.org/officeDocument/2006/relationships/slide" Target="/ppt/slides/slide2.xml" Id="R2e7a5c734bac4ba8" /><Relationship Type="http://schemas.openxmlformats.org/officeDocument/2006/relationships/slide" Target="/ppt/slides/slide3.xml" Id="Rbec6afbe29014375" /><Relationship Type="http://schemas.openxmlformats.org/officeDocument/2006/relationships/slide" Target="/ppt/slides/slide4.xml" Id="R15a94519e61343ee" /><Relationship Type="http://schemas.openxmlformats.org/officeDocument/2006/relationships/slide" Target="/ppt/slides/slide5.xml" Id="R2a83b71860034f51" /><Relationship Type="http://schemas.openxmlformats.org/officeDocument/2006/relationships/slide" Target="/ppt/slides/slide6.xml" Id="R93cae68cdf2e426d" /><Relationship Type="http://schemas.openxmlformats.org/officeDocument/2006/relationships/slide" Target="/ppt/slides/slide7.xml" Id="R5f35effe274248e8" /><Relationship Type="http://schemas.openxmlformats.org/officeDocument/2006/relationships/slide" Target="/ppt/slides/slide8.xml" Id="R7470db0eb0ca43b0" /><Relationship Type="http://schemas.openxmlformats.org/officeDocument/2006/relationships/slide" Target="/ppt/slides/slide9.xml" Id="Rea6a500aa9b34244" /><Relationship Type="http://schemas.openxmlformats.org/officeDocument/2006/relationships/slide" Target="/ppt/slides/slide10.xml" Id="Rf22ba0c5e3d34cdb" /><Relationship Type="http://schemas.openxmlformats.org/officeDocument/2006/relationships/slide" Target="/ppt/slides/slide11.xml" Id="R51e2c2494c7d4388" /><Relationship Type="http://schemas.openxmlformats.org/officeDocument/2006/relationships/slide" Target="/ppt/slides/slide12.xml" Id="R7e3a8c4a4e764508" /><Relationship Type="http://schemas.openxmlformats.org/officeDocument/2006/relationships/slide" Target="/ppt/slides/slide13.xml" Id="R78b7b6cf49024afc" /><Relationship Type="http://schemas.openxmlformats.org/officeDocument/2006/relationships/slide" Target="/ppt/slides/slide14.xml" Id="R4f3f016a4dcf4a06" /><Relationship Type="http://schemas.openxmlformats.org/officeDocument/2006/relationships/slide" Target="/ppt/slides/slide15.xml" Id="R4717de73290e4d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402364d2349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5bbb81fb774b3b" /><Relationship Type="http://schemas.openxmlformats.org/officeDocument/2006/relationships/notesMaster" Target="/ppt/notesMasters/notesMaster1.xml" Id="R804dfc03fa1d41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671a2130d54bef" /><Relationship Type="http://schemas.openxmlformats.org/officeDocument/2006/relationships/notesMaster" Target="/ppt/notesMasters/notesMaster1.xml" Id="R86b5c5e046064e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ccdd31893e4b87" /><Relationship Type="http://schemas.openxmlformats.org/officeDocument/2006/relationships/notesMaster" Target="/ppt/notesMasters/notesMaster1.xml" Id="R86e985a5fe074c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b471cd682c4276" /><Relationship Type="http://schemas.openxmlformats.org/officeDocument/2006/relationships/notesMaster" Target="/ppt/notesMasters/notesMaster1.xml" Id="R57dfd66fe0454b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4d1a779a1b470c" /><Relationship Type="http://schemas.openxmlformats.org/officeDocument/2006/relationships/notesMaster" Target="/ppt/notesMasters/notesMaster1.xml" Id="R1f95038c950c4a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eb6bce615d4273" /><Relationship Type="http://schemas.openxmlformats.org/officeDocument/2006/relationships/notesMaster" Target="/ppt/notesMasters/notesMaster1.xml" Id="R37e3df6f050648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9adecb23e941e4" /><Relationship Type="http://schemas.openxmlformats.org/officeDocument/2006/relationships/notesMaster" Target="/ppt/notesMasters/notesMaster1.xml" Id="R5c31a0af098442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536d1babff480a" /><Relationship Type="http://schemas.openxmlformats.org/officeDocument/2006/relationships/notesMaster" Target="/ppt/notesMasters/notesMaster1.xml" Id="R30c7d2443d2d4d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9e7053cbc2496e" /><Relationship Type="http://schemas.openxmlformats.org/officeDocument/2006/relationships/notesMaster" Target="/ppt/notesMasters/notesMaster1.xml" Id="R22f9eca9e2ee4d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c6e718811f492c" /><Relationship Type="http://schemas.openxmlformats.org/officeDocument/2006/relationships/notesMaster" Target="/ppt/notesMasters/notesMaster1.xml" Id="R36240a09272d43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0dad1cf524401d" /><Relationship Type="http://schemas.openxmlformats.org/officeDocument/2006/relationships/notesMaster" Target="/ppt/notesMasters/notesMaster1.xml" Id="R745c1eab20844f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1cdb2dca8c45c8" /><Relationship Type="http://schemas.openxmlformats.org/officeDocument/2006/relationships/notesMaster" Target="/ppt/notesMasters/notesMaster1.xml" Id="Race87700c43e47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3d1433b20944d8" /><Relationship Type="http://schemas.openxmlformats.org/officeDocument/2006/relationships/notesMaster" Target="/ppt/notesMasters/notesMaster1.xml" Id="Rdbba8fb35ce24b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92cf5f804c4a4a" /><Relationship Type="http://schemas.openxmlformats.org/officeDocument/2006/relationships/notesMaster" Target="/ppt/notesMasters/notesMaster1.xml" Id="Rb5fde307d3af4f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90c33329fc4632" /><Relationship Type="http://schemas.openxmlformats.org/officeDocument/2006/relationships/notesMaster" Target="/ppt/notesMasters/notesMaster1.xml" Id="Re10fc2e59a2c42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issue-tracker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社区问题管理与测试分析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现状调查：社区 Issue 管理的五项痛点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r>
              <a:t>以下痛点来自项目需求与使用反馈，具体耗时和遗漏比例仍需建立统计基线。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痛点：具体表现：对测试工作的影响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持续跟踪困难：新增问题、历史更新和维护者回复需要反复查看。</a:t>
            </a:r>
          </a:p>
          <a:p xmlns:a="http://schemas.openxmlformats.org/drawingml/2006/main">
            <a:r>
              <a:t>正文、评论与状态变化缺少统一的跟踪入口。：容易重复查找与核对。</a:t>
            </a:r>
          </a:p>
          <a:p xmlns:a="http://schemas.openxmlformats.org/drawingml/2006/main">
            <a:r>
              <a:t>重要更新可能未能及时跟进。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人工整理投入大：逐条阅读长正文、多轮评论和错误日志。</a:t>
            </a:r>
          </a:p>
          <a:p xmlns:a="http://schemas.openxmlformats.org/drawingml/2006/main">
            <a:r>
              <a:t>重复提取问题现象、环境配置与处理进展。：资料准备占用分析精力。</a:t>
            </a:r>
          </a:p>
          <a:p xmlns:a="http://schemas.openxmlformats.org/drawingml/2006/main">
            <a:r>
              <a:t>集中梳理大量问题时耗时明显。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重点问题筛选难：缺陷、文档、咨询和 RFC 混杂在完整列表中。</a:t>
            </a:r>
          </a:p>
          <a:p xmlns:a="http://schemas.openxmlformats.org/drawingml/2006/main">
            <a:r>
              <a:t>价值、版本适用性和复现条件需要分别判断。：测试资源难以确定投入顺序。</a:t>
            </a:r>
          </a:p>
          <a:p xmlns:a="http://schemas.openxmlformats.org/drawingml/2006/main">
            <a:r>
              <a:t>重要缺陷可能被低相关反馈淹没。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复现材料不完整：模型、量化、并行方式与软硬件版本组合复杂。</a:t>
            </a:r>
          </a:p>
          <a:p xmlns:a="http://schemas.openxmlformats.org/drawingml/2006/main">
            <a:r>
              <a:t>启动参数、触发请求或复现步骤可能缺失。：需要重新翻阅正文与评论补齐参数。</a:t>
            </a:r>
          </a:p>
          <a:p xmlns:a="http://schemas.openxmlformats.org/drawingml/2006/main">
            <a:r>
              <a:t>难以判断是否具备开展验证的条件。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分析经验难复用：分析结论、补测建议与处理进展分散保存。</a:t>
            </a:r>
          </a:p>
          <a:p xmlns:a="http://schemas.openxmlformats.org/drawingml/2006/main">
            <a:r>
              <a:t>交接时缺少可直接接续的材料和判断依据。：接手者重复阅读与分析。</a:t>
            </a:r>
          </a:p>
          <a:p xmlns:a="http://schemas.openxmlformats.org/drawingml/2006/main">
            <a:r>
              <a:t>典型问题难以积累为后续测试输入。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SIPOC：流程范围与关键指标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使用方需要有依据、可接续的分析记录，项目通过统一台账、筛选和辅助整理减少形成这些材料的人工投入。</a:t>
            </a:r>
          </a:p>
          <a:p xmlns:a="http://schemas.openxmlformats.org/drawingml/2006/main">
            <a:r>
              <a:t>据此提出主指标“单条 Issue 分析平均人工耗时”，在输出质量满足要求的前提下比较改进前后变化。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 供应方：I 输入：P 处理过程：O 输出：C 使用方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 提交者</a:t>
            </a:r>
          </a:p>
          <a:p xmlns:a="http://schemas.openxmlformats.org/drawingml/2006/main">
            <a:r>
              <a:t>社区维护者</a:t>
            </a:r>
          </a:p>
          <a:p xmlns:a="http://schemas.openxmlformats.org/drawingml/2006/main">
            <a:r>
              <a:t>参与讨论的用户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提供问题与后续反馈：正文、评论与日志</a:t>
            </a:r>
          </a:p>
          <a:p xmlns:a="http://schemas.openxmlformats.org/drawingml/2006/main">
            <a:r>
              <a:t>标签、状态与版本</a:t>
            </a:r>
          </a:p>
          <a:p xmlns:a="http://schemas.openxmlformats.org/drawingml/2006/main">
            <a:r>
              <a:t>模型、环境配置</a:t>
            </a:r>
          </a:p>
          <a:p xmlns:a="http://schemas.openxmlformats.org/drawingml/2006/main">
            <a:r>
              <a:t>已有人工分析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保留来源与信息缺口：同步获取与集中查看</a:t>
            </a:r>
          </a:p>
          <a:p xmlns:a="http://schemas.openxmlformats.org/drawingml/2006/main">
            <a:r>
              <a:t>筛选并确定分析范围</a:t>
            </a:r>
          </a:p>
          <a:p xmlns:a="http://schemas.openxmlformats.org/drawingml/2006/main">
            <a:r>
              <a:t>人工或 AI 辅助归纳</a:t>
            </a:r>
          </a:p>
          <a:p xmlns:a="http://schemas.openxmlformats.org/drawingml/2006/main">
            <a:r>
              <a:t>人员审核、修正</a:t>
            </a:r>
          </a:p>
          <a:p xmlns:a="http://schemas.openxmlformats.org/drawingml/2006/main">
            <a:r>
              <a:t>保存记录与专题导出：经审核的分析记录</a:t>
            </a:r>
          </a:p>
          <a:p xmlns:a="http://schemas.openxmlformats.org/drawingml/2006/main">
            <a:r>
              <a:t>问题判断与依据</a:t>
            </a:r>
          </a:p>
          <a:p xmlns:a="http://schemas.openxmlformats.org/drawingml/2006/main">
            <a:r>
              <a:t>关键配置与信息缺口</a:t>
            </a:r>
          </a:p>
          <a:p xmlns:a="http://schemas.openxmlformats.org/drawingml/2006/main">
            <a:r>
              <a:t>后续验证或跟进建议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为复现提供准备材料：测试人员</a:t>
            </a:r>
          </a:p>
          <a:p xmlns:a="http://schemas.openxmlformats.org/drawingml/2006/main">
            <a:r>
              <a:t>开发与问题负责人</a:t>
            </a:r>
          </a:p>
          <a:p xmlns:a="http://schemas.openxmlformats.org/drawingml/2006/main">
            <a:r>
              <a:t>评审和交接人员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据此判断下一步工作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把社区反馈的供应方、输入、处理过程、输出和使用方放在同一流程中。使用方需要的是可继续使用的分析记录，因此建议将形成审核合格记录的平均人工投入作为主指标。分子为固定样本所有参与人员的实际人工分钟之和，多人并行要相加，返工及 AI 失败后的人工处理都计入，不能只计算生成成功项。分母为预先选定并逐条完成分析的样本数量。若有未完成项，披露数量和原因，待完成后形成完整批次结果，不排除困难样本来降低均值。该指标不是模型接口耗时或缺陷自动复现率。没有实测数据时不填当前值与改善比例。质量审核是使用指标的前提，不能通过减少核对、遗漏信息或降低交付标准换取更低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根因分析：社区反馈转化为测试输入的障碍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从信息获取、分析方法、环境配置、人员协作、工作流程和知识沉淀六个方面展开原因。</a:t>
            </a:r>
          </a:p>
          <a:p xmlns:a="http://schemas.openxmlformats.org/drawingml/2006/main">
            <a:r>
              <a:t>鱼骨图列出可能因素，后续需要用流程走查、样本检查和对照验证确认主要原因。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目标设定：明确希望改善什么、如何验收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r>
              <a:t>目标描述的是希望取得的改进，是否达成需要结合实际使用数据和测试人员反馈判断。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目标：具体含义与项目解决方式：验收依据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提高跟踪可靠性：集中维护问题列表，持续同步新增和历史更新。</a:t>
            </a:r>
          </a:p>
          <a:p xmlns:a="http://schemas.openxmlformats.org/drawingml/2006/main">
            <a:r>
              <a:t>统一仓库、时间和状态口径，支持全量核对。</a:t>
            </a:r>
          </a:p>
          <a:p xmlns:a="http://schemas.openxmlformats.org/drawingml/2006/main">
            <a:r>
              <a:t>社区字段更新时保留本地人工分析。：同口径核对问题数量并抽查具体条目。</a:t>
            </a:r>
          </a:p>
          <a:p xmlns:a="http://schemas.openxmlformats.org/drawingml/2006/main">
            <a:r>
              <a:t>检查历史更新是否跟进。</a:t>
            </a:r>
          </a:p>
          <a:p xmlns:a="http://schemas.openxmlformats.org/drawingml/2006/main">
            <a:r>
              <a:t>确认人工结论未被同步覆盖。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减少人工整理投入：集中展示原文与评论，减少跨页面查找。</a:t>
            </a:r>
          </a:p>
          <a:p xmlns:a="http://schemas.openxmlformats.org/drawingml/2006/main">
            <a:r>
              <a:t>AI 辅助归纳摘要与补测建议，支持批量处理。</a:t>
            </a:r>
          </a:p>
          <a:p xmlns:a="http://schemas.openxmlformats.org/drawingml/2006/main">
            <a:r>
              <a:t>人员核对和修正后使用结果。：对比单条 Issue 分析平均人工耗时。</a:t>
            </a:r>
          </a:p>
          <a:p xmlns:a="http://schemas.openxmlformats.org/drawingml/2006/main">
            <a:r>
              <a:t>包括查找、阅读、审核与修正。</a:t>
            </a:r>
          </a:p>
          <a:p xmlns:a="http://schemas.openxmlformats.org/drawingml/2006/main">
            <a:r>
              <a:t>质量标准一致，计入错误与返工。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提高重点筛选效率：按时间、状态、标签和版本收敛范围。</a:t>
            </a:r>
          </a:p>
          <a:p xmlns:a="http://schemas.openxmlformats.org/drawingml/2006/main">
            <a:r>
              <a:t>结合价值与复现条件形成优先处理候选。</a:t>
            </a:r>
          </a:p>
          <a:p xmlns:a="http://schemas.openxmlformats.org/drawingml/2006/main">
            <a:r>
              <a:t>保留完整列表，人工复查重要遗漏。：人工评审候选是否值得投入测试。</a:t>
            </a:r>
          </a:p>
          <a:p xmlns:a="http://schemas.openxmlformats.org/drawingml/2006/main">
            <a:r>
              <a:t>抽查筛选结果之外的重要问题。</a:t>
            </a:r>
          </a:p>
          <a:p xmlns:a="http://schemas.openxmlformats.org/drawingml/2006/main">
            <a:r>
              <a:t>观察筛选准备时间与判断分歧。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完整性：辅助提取模型配置、硬件环境和软件版本。</a:t>
            </a:r>
          </a:p>
          <a:p xmlns:a="http://schemas.openxmlformats.org/drawingml/2006/main">
            <a:r>
              <a:t>整理触发条件、预期结果和已知错误现象。</a:t>
            </a:r>
          </a:p>
          <a:p xmlns:a="http://schemas.openxmlformats.org/drawingml/2006/main">
            <a:r>
              <a:t>明确缺失信息，实际复现仍由测试人员执行。：检查关键参数与待确认项是否清楚。</a:t>
            </a:r>
          </a:p>
          <a:p xmlns:a="http://schemas.openxmlformats.org/drawingml/2006/main">
            <a:r>
              <a:t>由测试人员评估材料能否用于验证。</a:t>
            </a:r>
          </a:p>
          <a:p xmlns:a="http://schemas.openxmlformats.org/drawingml/2006/main">
            <a:r>
              <a:t>不能将材料生成等同于复现成功。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提高分析材料</a:t>
            </a:r>
          </a:p>
          <a:p xmlns:a="http://schemas.openxmlformats.org/drawingml/2006/main">
            <a:r>
              <a:t>复用能力：将人工结论、补测建议和进展保存在台账。</a:t>
            </a:r>
          </a:p>
          <a:p xmlns:a="http://schemas.openxmlformats.org/drawingml/2006/main">
            <a:r>
              <a:t>支持按专题整理与导出，便于评审交接。</a:t>
            </a:r>
          </a:p>
          <a:p xmlns:a="http://schemas.openxmlformats.org/drawingml/2006/main">
            <a:r>
              <a:t>关联来源问题，积累典型测试场景。：检查接手者能否继续分析而非重做。</a:t>
            </a:r>
          </a:p>
          <a:p xmlns:a="http://schemas.openxmlformats.org/drawingml/2006/main">
            <a:r>
              <a:t>记录材料在同类问题中的实际使用。</a:t>
            </a:r>
          </a:p>
          <a:p xmlns:a="http://schemas.openxmlformats.org/drawingml/2006/main">
            <a:r>
              <a:t>跟踪与测试验证记录的关联。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主要原因与改进方向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根据现状与鱼骨图，将需要重点改善的原因归纳为三个方面，并对应到后续五项具体对策。</a:t>
            </a:r>
          </a:p>
          <a:p xmlns:a="http://schemas.openxmlformats.org/drawingml/2006/main">
            <a:r>
              <a:t>以下是基于需求与使用反馈的初步判断，实际作用需结合工时、遗漏和材料使用记录持续核验。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主要原因判断：对工作的影响：对应的改进方向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信息与分析记录</a:t>
            </a:r>
          </a:p>
          <a:p xmlns:a="http://schemas.openxmlformats.org/drawingml/2006/main">
            <a:r>
              <a:t>分散：新增、历史更新和人工结论缺少集中管理。</a:t>
            </a:r>
          </a:p>
          <a:p xmlns:a="http://schemas.openxmlformats.org/drawingml/2006/main">
            <a:r>
              <a:t>人员在不同页面与材料间反复查找、核对。</a:t>
            </a:r>
          </a:p>
          <a:p xmlns:a="http://schemas.openxmlformats.org/drawingml/2006/main">
            <a:r>
              <a:t>交接时难以接续已有判断，容易重复收集信息。：持续同步与统一问题列表：集中获取、跟进更新。</a:t>
            </a:r>
          </a:p>
          <a:p xmlns:a="http://schemas.openxmlformats.org/drawingml/2006/main">
            <a:r>
              <a:t>分析记录与协作复用：保留结论、进展和依据。</a:t>
            </a:r>
          </a:p>
          <a:p xmlns:a="http://schemas.openxmlformats.org/drawingml/2006/main">
            <a:r>
              <a:t>通过专题导出支持评审交接，减少重复查找。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阅读归纳与配置提取</a:t>
            </a:r>
          </a:p>
          <a:p xmlns:a="http://schemas.openxmlformats.org/drawingml/2006/main">
            <a:r>
              <a:t>依赖人工：长正文、多轮评论与日志需要逐条阅读整理。</a:t>
            </a:r>
          </a:p>
          <a:p xmlns:a="http://schemas.openxmlformats.org/drawingml/2006/main">
            <a:r>
              <a:t>模型、软硬件环境和触发参数分散，容易遗漏。</a:t>
            </a:r>
          </a:p>
          <a:p xmlns:a="http://schemas.openxmlformats.org/drawingml/2006/main">
            <a:r>
              <a:t>缺少固定检查项时，需要再次翻阅和补采。：AI 辅助与批量任务：减少重复阅读和资料归纳。</a:t>
            </a:r>
          </a:p>
          <a:p xmlns:a="http://schemas.openxmlformats.org/drawingml/2006/main">
            <a:r>
              <a:t>复现材料整理：在“补充测试”中梳理关键条件。</a:t>
            </a:r>
          </a:p>
          <a:p xmlns:a="http://schemas.openxmlformats.org/drawingml/2006/main">
            <a:r>
              <a:t>明确缺失参数，由人员审核、补齐并执行验证。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价值与复现性判断</a:t>
            </a:r>
          </a:p>
          <a:p xmlns:a="http://schemas.openxmlformats.org/drawingml/2006/main">
            <a:r>
              <a:t>缺少统一口径：对问题价值、版本适用性和复现条件判断不一。</a:t>
            </a:r>
          </a:p>
          <a:p xmlns:a="http://schemas.openxmlformats.org/drawingml/2006/main">
            <a:r>
              <a:t>重点候选难以确定，人员评审容易出现分歧。</a:t>
            </a:r>
          </a:p>
          <a:p xmlns:a="http://schemas.openxmlformats.org/drawingml/2006/main">
            <a:r>
              <a:t>高价值但信息不足的问题可能过早排除。：多维筛选与统一评价：明确候选选择和排序依据。</a:t>
            </a:r>
          </a:p>
          <a:p xmlns:a="http://schemas.openxmlformats.org/drawingml/2006/main">
            <a:r>
              <a:t>保留完整列表，对重要但信息不足的问题复查。</a:t>
            </a:r>
          </a:p>
          <a:p xmlns:a="http://schemas.openxmlformats.org/drawingml/2006/main">
            <a:r>
              <a:t>结合人工评审与遗漏检查，持续调整筛选规则。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建议口播：根据前面的现状和原因分析，我们把重点改善方向归纳为三个方面：信息集中管理、减少重复整理，以及统一筛选判断。其中，信息集中管理对应持续同步和分析记录复用，减少重复整理对应 AI 辅助与复现材料整理，统一筛选判断对应评价口径和人工复查。这三个方向进一步展开为下一页的五项具体对策。这里属于初步原因判断，不表示已经完成严格的因果验证。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拟定对策：针对每项痛点设计解决方案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r>
              <a:t>方案是否有效，需要同时考虑人员投入、分析质量及后续测试使用情况。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针对的痛点：解决方案：预期形成的工作材料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持续跟踪困难：全量同步与增量更新结合，提供手动校准入口。</a:t>
            </a:r>
          </a:p>
          <a:p xmlns:a="http://schemas.openxmlformats.org/drawingml/2006/main">
            <a:r>
              <a:t>统一仓库、时间和状态口径，集中查看问题。</a:t>
            </a:r>
          </a:p>
          <a:p xmlns:a="http://schemas.openxmlformats.org/drawingml/2006/main">
            <a:r>
              <a:t>分别维护社区信息与本地人工分析。：持续更新的问题台账。</a:t>
            </a:r>
          </a:p>
          <a:p xmlns:a="http://schemas.openxmlformats.org/drawingml/2006/main">
            <a:r>
              <a:t>可核对的专项清单。</a:t>
            </a:r>
          </a:p>
          <a:p xmlns:a="http://schemas.openxmlformats.org/drawingml/2006/main">
            <a:r>
              <a:t>历史更新与人工分析记录。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人工整理投入大：集中提供正文、评论和已有分析作为上下文。</a:t>
            </a:r>
          </a:p>
          <a:p xmlns:a="http://schemas.openxmlformats.org/drawingml/2006/main">
            <a:r>
              <a:t>AI 辅助归纳，支持选中问题和筛选范围批量处理。</a:t>
            </a:r>
          </a:p>
          <a:p xmlns:a="http://schemas.openxmlformats.org/drawingml/2006/main">
            <a:r>
              <a:t>人员审核、修正并决定是否采纳建议。：待审核的结构化建议。</a:t>
            </a:r>
          </a:p>
          <a:p xmlns:a="http://schemas.openxmlformats.org/drawingml/2006/main">
            <a:r>
              <a:t>批量任务进度与失败项。</a:t>
            </a:r>
          </a:p>
          <a:p xmlns:a="http://schemas.openxmlformats.org/drawingml/2006/main">
            <a:r>
              <a:t>人工审核后的分析结果。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重点问题筛选难：按日期、状态、标签和版本缩小分析范围。</a:t>
            </a:r>
          </a:p>
          <a:p xmlns:a="http://schemas.openxmlformats.org/drawingml/2006/main">
            <a:r>
              <a:t>结合价值与复现条件形成候选排序。</a:t>
            </a:r>
          </a:p>
          <a:p xmlns:a="http://schemas.openxmlformats.org/drawingml/2006/main">
            <a:r>
              <a:t>过滤文档、RFC 等类型时保留完整列表供复查。：重点验证候选及筛选依据。</a:t>
            </a:r>
          </a:p>
          <a:p xmlns:a="http://schemas.openxmlformats.org/drawingml/2006/main">
            <a:r>
              <a:t>人工补充的价值判断。</a:t>
            </a:r>
          </a:p>
          <a:p xmlns:a="http://schemas.openxmlformats.org/drawingml/2006/main">
            <a:r>
              <a:t>重要遗漏的复查记录。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复现材料不完整：按模型、配置、环境和触发场景整理补测材料。</a:t>
            </a:r>
          </a:p>
          <a:p xmlns:a="http://schemas.openxmlformats.org/drawingml/2006/main">
            <a:r>
              <a:t>明确哪些参数来自原文，哪些信息尚未提供。</a:t>
            </a:r>
          </a:p>
          <a:p xmlns:a="http://schemas.openxmlformats.org/drawingml/2006/main">
            <a:r>
              <a:t>测试人员补齐条件后执行验证并记录结果。：模型与软硬件配置清单。</a:t>
            </a:r>
          </a:p>
          <a:p xmlns:a="http://schemas.openxmlformats.org/drawingml/2006/main">
            <a:r>
              <a:t>复现场景及缺失参数。</a:t>
            </a:r>
          </a:p>
          <a:p xmlns:a="http://schemas.openxmlformats.org/drawingml/2006/main">
            <a:r>
              <a:t>后续验证动作与结果记录。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分析经验难复用：集中保存分析结论、补测建议与处理进展。</a:t>
            </a:r>
          </a:p>
          <a:p xmlns:a="http://schemas.openxmlformats.org/drawingml/2006/main">
            <a:r>
              <a:t>支持按专题整理、导出和交接。</a:t>
            </a:r>
          </a:p>
          <a:p xmlns:a="http://schemas.openxmlformats.org/drawingml/2006/main">
            <a:r>
              <a:t>在测试材料中保留来源 Issue 及判断依据。：可接续的分析台账。</a:t>
            </a:r>
          </a:p>
          <a:p xmlns:a="http://schemas.openxmlformats.org/drawingml/2006/main">
            <a:r>
              <a:t>专题评审与交接材料。</a:t>
            </a:r>
          </a:p>
          <a:p xmlns:a="http://schemas.openxmlformats.org/drawingml/2006/main">
            <a:r>
              <a:t>典型场景及其来源记录。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对策实施：持续同步与统一台账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r>
              <a:t>统计时需要统一仓库、时间、状态以及是否包含 PR，避免把统计口径差异误判为数据遗漏。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明确同步与核对范围：统一仓库、日期和状态条件。</a:t>
            </a:r>
          </a:p>
          <a:p xmlns:a="http://schemas.openxmlformats.org/drawingml/2006/main">
            <a:r>
              <a:t>对照同一口径的问题数量与具体条目，</a:t>
            </a:r>
          </a:p>
          <a:p xmlns:a="http://schemas.openxmlformats.org/drawingml/2006/main">
            <a:r>
              <a:t>同时检查新增问题和历史更新。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持续维护问题台账：全量获取用于建立和校准台账，</a:t>
            </a:r>
          </a:p>
          <a:p xmlns:a="http://schemas.openxmlformats.org/drawingml/2006/main">
            <a:r>
              <a:t>增量同步用于日常跟进。</a:t>
            </a:r>
          </a:p>
          <a:p xmlns:a="http://schemas.openxmlformats.org/drawingml/2006/main">
            <a:r>
              <a:t>同步完成后仍需关注异常与漏项。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保护本地人工分析：社区字段与人工结论分开维护。</a:t>
            </a:r>
          </a:p>
          <a:p xmlns:a="http://schemas.openxmlformats.org/drawingml/2006/main">
            <a:r>
              <a:t>更新标题、正文和状态时，</a:t>
            </a:r>
          </a:p>
          <a:p xmlns:a="http://schemas.openxmlformats.org/drawingml/2006/main">
            <a:r>
              <a:t>保留已有分析、备注与补测建议。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形成可检查的专项清单：按时间、状态、标签等收敛范围。</a:t>
            </a:r>
          </a:p>
          <a:p xmlns:a="http://schemas.openxmlformats.org/drawingml/2006/main">
            <a:r>
              <a:t>通过清单逐项核对更新与遗漏，</a:t>
            </a:r>
          </a:p>
          <a:p xmlns:a="http://schemas.openxmlformats.org/drawingml/2006/main">
            <a:r>
              <a:t>减少反复打开社区页面查找。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对策实施：AI 辅助分析与批量任务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r>
              <a:t>AI 模块仍需持续评估，效率收益应包含审核、修正和失败重试成本，不能仅看生成建议数量。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准备可靠的分析上下文：结合正文、评论和已有分析。</a:t>
            </a:r>
          </a:p>
          <a:p xmlns:a="http://schemas.openxmlformats.org/drawingml/2006/main">
            <a:r>
              <a:t>明确材料来源与缺失部分，</a:t>
            </a:r>
          </a:p>
          <a:p xmlns:a="http://schemas.openxmlformats.org/drawingml/2006/main">
            <a:r>
              <a:t>避免模型把推测当成已确认事实。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生成待审核的结构化建议：归纳问题摘要、现象和补测建议。</a:t>
            </a:r>
          </a:p>
          <a:p xmlns:a="http://schemas.openxmlformats.org/drawingml/2006/main">
            <a:r>
              <a:t>区分事实、可能原因与待确认参数，</a:t>
            </a:r>
          </a:p>
          <a:p xmlns:a="http://schemas.openxmlformats.org/drawingml/2006/main">
            <a:r>
              <a:t>漏测原因结合实际测试覆盖人工判断。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批量处理与异常跟进：支持勾选问题或按筛选范围执行。</a:t>
            </a:r>
          </a:p>
          <a:p xmlns:a="http://schemas.openxmlformats.org/drawingml/2006/main">
            <a:r>
              <a:t>通过并发任务处理多条问题，</a:t>
            </a:r>
          </a:p>
          <a:p xmlns:a="http://schemas.openxmlformats.org/drawingml/2006/main">
            <a:r>
              <a:t>查看进度及失败项并跟进重试。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人工核对后保存结果：对照原文检查版本、配置和判断。</a:t>
            </a:r>
          </a:p>
          <a:p xmlns:a="http://schemas.openxmlformats.org/drawingml/2006/main">
            <a:r>
              <a:t>修正后决定是否采纳并保存，</a:t>
            </a:r>
          </a:p>
          <a:p xmlns:a="http://schemas.openxmlformats.org/drawingml/2006/main">
            <a:r>
              <a:t>保留已有人工内容及必要说明。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对策实施：重点筛选与复现材料整理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r>
              <a:t>系统辅助完成复现前的材料准备，不能代替测试人员部署环境、执行请求或确认根因。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筛选值得验证的候选问题：按时间、版本、类型等缩小范围。</a:t>
            </a:r>
          </a:p>
          <a:p xmlns:a="http://schemas.openxmlformats.org/drawingml/2006/main">
            <a:r>
              <a:t>结合价值与复现条件排序，</a:t>
            </a:r>
          </a:p>
          <a:p xmlns:a="http://schemas.openxmlformats.org/drawingml/2006/main">
            <a:r>
              <a:t>保留完整列表复查重要问题遗漏。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提取模型与环境配置：整理模型名称、量化与并行配置。</a:t>
            </a:r>
          </a:p>
          <a:p xmlns:a="http://schemas.openxmlformats.org/drawingml/2006/main">
            <a:r>
              <a:t>提取 A2/A3/A5 硬件及软件版本，</a:t>
            </a:r>
          </a:p>
          <a:p xmlns:a="http://schemas.openxmlformats.org/drawingml/2006/main">
            <a:r>
              <a:t>没有来源支持的参数标为待确认。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梳理触发条件与错误现象：整理启动命令、请求和执行阶段。</a:t>
            </a:r>
          </a:p>
          <a:p xmlns:a="http://schemas.openxmlformats.org/drawingml/2006/main">
            <a:r>
              <a:t>关注并发、输入长度与异常日志，</a:t>
            </a:r>
          </a:p>
          <a:p xmlns:a="http://schemas.openxmlformats.org/drawingml/2006/main">
            <a:r>
              <a:t>写清预期结果和实际差异。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由测试人员补齐并验证：列出缺失参数和需要追问的信息。</a:t>
            </a:r>
          </a:p>
          <a:p xmlns:a="http://schemas.openxmlformats.org/drawingml/2006/main">
            <a:r>
              <a:t>人员准备环境并执行验证，</a:t>
            </a:r>
          </a:p>
          <a:p xmlns:a="http://schemas.openxmlformats.org/drawingml/2006/main">
            <a:r>
              <a:t>将复现是否成功及结果补回记录。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对策实施：分析记录、评审交接与材料复用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r>
              <a:t>典型问题转化为测试场景时，还需要人员补充实际执行结果，并保留来源问题与验证记录的关联。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统一维护人工分析记录：保存问题识别、结论与补测建议。</a:t>
            </a:r>
          </a:p>
          <a:p xmlns:a="http://schemas.openxmlformats.org/drawingml/2006/main">
            <a:r>
              <a:t>持续补充版本支持和处理进展，</a:t>
            </a:r>
          </a:p>
          <a:p xmlns:a="http://schemas.openxmlformats.org/drawingml/2006/main">
            <a:r>
              <a:t>让后续人员了解当前判断与待办。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按专题组织评审材料：利用筛选结果形成专项清单。</a:t>
            </a:r>
          </a:p>
          <a:p xmlns:a="http://schemas.openxmlformats.org/drawingml/2006/main">
            <a:r>
              <a:t>导出后结合原文与已有结论评审，</a:t>
            </a:r>
          </a:p>
          <a:p xmlns:a="http://schemas.openxmlformats.org/drawingml/2006/main">
            <a:r>
              <a:t>保留判断依据与尚未解决的信息缺口。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减少交接中的重复工作：接手者先查看已有分析和验证情况。</a:t>
            </a:r>
          </a:p>
          <a:p xmlns:a="http://schemas.openxmlformats.org/drawingml/2006/main">
            <a:r>
              <a:t>在此前记录上补充、修正和跟进，</a:t>
            </a:r>
          </a:p>
          <a:p xmlns:a="http://schemas.openxmlformats.org/drawingml/2006/main">
            <a:r>
              <a:t>减少重新阅读和重复收集材料。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积累可追溯的典型场景：整理配置、触发条件与验证结果。</a:t>
            </a:r>
          </a:p>
          <a:p xmlns:a="http://schemas.openxmlformats.org/drawingml/2006/main">
            <a:r>
              <a:t>转化测试材料时关联来源 Issue，</a:t>
            </a:r>
          </a:p>
          <a:p xmlns:a="http://schemas.openxmlformats.org/drawingml/2006/main">
            <a:r>
              <a:t>通过再次使用判断材料是否有价值。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实施案例：Issue #16608 复现与工单转化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以社区反馈为线索，经人工复现后转为工单推进处理，后续安排测试人员补充相关场景用例。</a:t>
            </a:r>
          </a:p>
          <a:p xmlns:a="http://schemas.openxmlformats.org/drawingml/2006/main">
            <a:r>
              <a:t>当前已完成复现与工单转化；修复验证及测试用例补充情况继续跟进。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实施环节：案例内容与处理动作：当前状态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社区问题与验证线索：原帖报告：PP=2、TP=1 时推理乱码，切换为 TP=2、PP=1 后正常。</a:t>
            </a:r>
          </a:p>
          <a:p xmlns:a="http://schemas.openxmlformats.org/drawingml/2006/main">
            <a:r>
              <a:t>报告模型为 Qwen3.8-27B W8A8，并提供环境与启动参数。</a:t>
            </a:r>
          </a:p>
          <a:p xmlns:a="http://schemas.openxmlformats.org/drawingml/2006/main">
            <a:r>
              <a:t>这些是社区报告的信息，内部实际配置以复现记录为准。：来源明确</a:t>
            </a:r>
          </a:p>
          <a:p xmlns:a="http://schemas.openxmlformats.org/drawingml/2006/main">
            <a:r>
              <a:t>GitHub Issue #16608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人工执行复现：项目负责人已在实际环境中完成该问题的复现。</a:t>
            </a:r>
          </a:p>
          <a:p xmlns:a="http://schemas.openxmlformats.org/drawingml/2006/main">
            <a:r>
              <a:t>人工验证为转工单提供实际的问题依据。</a:t>
            </a:r>
          </a:p>
          <a:p xmlns:a="http://schemas.openxmlformats.org/drawingml/2006/main">
            <a:r>
              <a:t>内部环境配置、触发请求与结果建议随工单留存。：已完成复现</a:t>
            </a:r>
          </a:p>
          <a:p xmlns:a="http://schemas.openxmlformats.org/drawingml/2006/main">
            <a:r>
              <a:t>项目负责人确认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转为工单推进解决：已将复现问题转换为工单，进入问题处理流程。</a:t>
            </a:r>
          </a:p>
          <a:p xmlns:a="http://schemas.openxmlformats.org/drawingml/2006/main">
            <a:r>
              <a:t>后续结合工单跟进定位、修复和验证。</a:t>
            </a:r>
          </a:p>
          <a:p xmlns:a="http://schemas.openxmlformats.org/drawingml/2006/main">
            <a:r>
              <a:t>工单编号与处理进展可按实际记录补充。：已转为工单</a:t>
            </a:r>
          </a:p>
          <a:p xmlns:a="http://schemas.openxmlformats.org/drawingml/2006/main">
            <a:r>
              <a:t>修复完成状态未确认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安排补充测试用例：后续安排测试人员补充相关场景的测试用例。</a:t>
            </a:r>
          </a:p>
          <a:p xmlns:a="http://schemas.openxmlformats.org/drawingml/2006/main">
            <a:r>
              <a:t>建议结合 PP/TP 对照场景与修复结果评审回归范围。</a:t>
            </a:r>
          </a:p>
          <a:p xmlns:a="http://schemas.openxmlformats.org/drawingml/2006/main">
            <a:r>
              <a:t>用例完成、执行通过和纳入回归需要后续记录确认。：后续安排</a:t>
            </a:r>
          </a:p>
          <a:p xmlns:a="http://schemas.openxmlformats.org/drawingml/2006/main">
            <a:r>
              <a:t>用例完成情况待跟进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项目应用价值：社区反馈已转化为实际复现和工单处理对象，形成具体应用案例。</a:t>
            </a:r>
          </a:p>
          <a:p xmlns:a="http://schemas.openxmlformats.org/drawingml/2006/main">
            <a:r>
              <a:t>后续通过补充用例，将问题处理经验用于测试覆盖。</a:t>
            </a:r>
          </a:p>
          <a:p xmlns:a="http://schemas.openxmlformats.org/drawingml/2006/main">
            <a:r>
              <a:t>当前可展示流程应用价值，整体效率收益仍需基线和对照统计。：已有定性案例</a:t>
            </a:r>
          </a:p>
          <a:p xmlns:a="http://schemas.openxmlformats.org/drawingml/2006/main">
            <a:r>
              <a:t>量化收益仍需统计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来源一：GitHub 原始 Issue，https://github.com/vllm-project/vllm-ascend/issues/16608 。原帖描述 PP=2、TP=1 推理乱码，TP=2、PP=1 正常，启动命令提供 Qwen3.8-27B W8A8 模型信息。来源二：项目负责人在本次对话中确认已复现并转换为工单，同时表示后续安排测试人员补充用例。没有提供内部工单编号、根因、修复结论或用例完成记录，因此不推断已修复、已闭环或已补齐测试。没有证据表明 AI 主导发现或自动复现，本页不作此归因。建议口播：这里换成一个实际案例。社区 Issue 16608 报告了不同 PP/TP 配置下的推理乱码问题。我已经完成复现，并将问题转成工单推动处理，后续还会安排测试人员补充相关用例。这个案例展示了社区反馈进入实际验证和问题处理的过程。当前已经完成的是复现与工单转化，补充用例属于后续工作，修复和回归完成后再补充闭环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效果确认：逐项目标检查是否取得实际改善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结合实际使用案例与后续对照数据评价项目效果，区分流程应用成果和整体量化收益。</a:t>
            </a:r>
          </a:p>
          <a:p xmlns:a="http://schemas.openxmlformats.org/drawingml/2006/main">
            <a:r>
              <a:t>目前已有问题复现与工单转化案例；整体耗时、材料质量和筛选效果仍需按统一口径评估。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目标：效果确认方法：当前结论与所需材料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提高跟踪可靠性：同口径核对数量并抽查具体问题。</a:t>
            </a:r>
          </a:p>
          <a:p xmlns:a="http://schemas.openxmlformats.org/drawingml/2006/main">
            <a:r>
              <a:t>检查新增获取、历史更新和人工分析保留情况。：待确认。</a:t>
            </a:r>
          </a:p>
          <a:p xmlns:a="http://schemas.openxmlformats.org/drawingml/2006/main">
            <a:r>
              <a:t>补充核对清单、漏项抽查</a:t>
            </a:r>
          </a:p>
          <a:p xmlns:a="http://schemas.openxmlformats.org/drawingml/2006/main">
            <a:r>
              <a:t>和历史更新检查记录。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减少人工整理投入：比较单条 Issue 分析平均人工耗时。</a:t>
            </a:r>
          </a:p>
          <a:p xmlns:a="http://schemas.openxmlformats.org/drawingml/2006/main">
            <a:r>
              <a:t>按 SIPOC 页口径计入审核、返工与人工接续。：待确认。</a:t>
            </a:r>
          </a:p>
          <a:p xmlns:a="http://schemas.openxmlformats.org/drawingml/2006/main">
            <a:r>
              <a:t>补充纯人工基线与辅助流程工时，</a:t>
            </a:r>
          </a:p>
          <a:p xmlns:a="http://schemas.openxmlformats.org/drawingml/2006/main">
            <a:r>
              <a:t>在同一质量标准下比较。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提高重点筛选效率：人工评审候选是否值得投入测试。</a:t>
            </a:r>
          </a:p>
          <a:p xmlns:a="http://schemas.openxmlformats.org/drawingml/2006/main">
            <a:r>
              <a:t>抽查被筛问题中的重要遗漏和评审分歧。：待确认。</a:t>
            </a:r>
          </a:p>
          <a:p xmlns:a="http://schemas.openxmlformats.org/drawingml/2006/main">
            <a:r>
              <a:t>补充候选评审、遗漏复查</a:t>
            </a:r>
          </a:p>
          <a:p xmlns:a="http://schemas.openxmlformats.org/drawingml/2006/main">
            <a:r>
              <a:t>和筛选准备耗时记录。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完整性：检查模型配置、环境、触发条件和缺失信息。</a:t>
            </a:r>
          </a:p>
          <a:p xmlns:a="http://schemas.openxmlformats.org/drawingml/2006/main">
            <a:r>
              <a:t>由测试人员反馈材料是否支持开展验证。：已有 #16608 复现与工单案例。</a:t>
            </a:r>
          </a:p>
          <a:p xmlns:a="http://schemas.openxmlformats.org/drawingml/2006/main">
            <a:r>
              <a:t>补充用例属于后续安排。</a:t>
            </a:r>
          </a:p>
          <a:p xmlns:a="http://schemas.openxmlformats.org/drawingml/2006/main">
            <a:r>
              <a:t>整体材料质量仍需样本评估。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提高材料复用能力：检查分析能否接续、交接是否减少重复工作。</a:t>
            </a:r>
          </a:p>
          <a:p xmlns:a="http://schemas.openxmlformats.org/drawingml/2006/main">
            <a:r>
              <a:t>跟踪典型材料在其他问题或测试中的实际使用。：待确认。</a:t>
            </a:r>
          </a:p>
          <a:p xmlns:a="http://schemas.openxmlformats.org/drawingml/2006/main">
            <a:r>
              <a:t>补充交接使用、重复工作变化</a:t>
            </a:r>
          </a:p>
          <a:p xmlns:a="http://schemas.openxmlformats.org/drawingml/2006/main">
            <a:r>
              <a:t>和材料复用关联记录。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效果确认：建立可重复的基线与对照评价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采用一致的样本范围和评价口径，避免只展示容易处理的问题或只统计模型输出。</a:t>
            </a:r>
          </a:p>
          <a:p xmlns:a="http://schemas.openxmlformats.org/drawingml/2006/main">
            <a:r>
              <a:t>具体比例阈值在第一轮基线后评审确定，后续用新样本验证规则调整是否有效。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评价环节：具体实施方式：需要保留的证据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选取代表性样本：覆盖缺陷、文档、咨询及不同信息完整度。</a:t>
            </a:r>
          </a:p>
          <a:p xmlns:a="http://schemas.openxmlformats.org/drawingml/2006/main">
            <a:r>
              <a:t>统一仓库、时间范围和样本复杂度，</a:t>
            </a:r>
          </a:p>
          <a:p xmlns:a="http://schemas.openxmlformats.org/drawingml/2006/main">
            <a:r>
              <a:t>避免只选择短正文或容易判断的问题。：样本清单、数量和选取规则。</a:t>
            </a:r>
          </a:p>
          <a:p xmlns:a="http://schemas.openxmlformats.org/drawingml/2006/main">
            <a:r>
              <a:t>参与人员与执行时间。</a:t>
            </a:r>
          </a:p>
          <a:p xmlns:a="http://schemas.openxmlformats.org/drawingml/2006/main">
            <a:r>
              <a:t>问题类型和材料复杂度说明。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记录纯人工基线：按原有方式完成查找、阅读与资料整理。</a:t>
            </a:r>
          </a:p>
          <a:p xmlns:a="http://schemas.openxmlformats.org/drawingml/2006/main">
            <a:r>
              <a:t>分别记录各环节耗时及缺失参数，</a:t>
            </a:r>
          </a:p>
          <a:p xmlns:a="http://schemas.openxmlformats.org/drawingml/2006/main">
            <a:r>
              <a:t>检查原有交接是否需要重复收集信息。：分环节工时。</a:t>
            </a:r>
          </a:p>
          <a:p xmlns:a="http://schemas.openxmlformats.org/drawingml/2006/main">
            <a:r>
              <a:t>配置与触发条件检查结果。</a:t>
            </a:r>
          </a:p>
          <a:p xmlns:a="http://schemas.openxmlformats.org/drawingml/2006/main">
            <a:r>
              <a:t>原有交接过程和重复工作记录。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执行辅助流程并审核：通过台账、筛选与 AI 建议辅助处理。</a:t>
            </a:r>
          </a:p>
          <a:p xmlns:a="http://schemas.openxmlformats.org/drawingml/2006/main">
            <a:r>
              <a:t>人员核对、修正并补齐材料，</a:t>
            </a:r>
          </a:p>
          <a:p xmlns:a="http://schemas.openxmlformats.org/drawingml/2006/main">
            <a:r>
              <a:t>同时抽查候选和筛选之外的重要问题。：人工总耗时与审核修正情况。</a:t>
            </a:r>
          </a:p>
          <a:p xmlns:a="http://schemas.openxmlformats.org/drawingml/2006/main">
            <a:r>
              <a:t>候选有效性和重要遗漏。</a:t>
            </a:r>
          </a:p>
          <a:p xmlns:a="http://schemas.openxmlformats.org/drawingml/2006/main">
            <a:r>
              <a:t>失败重试、补采和实际使用反馈。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判断达成情况并复评：按各项目标比较基线与对照结果。</a:t>
            </a:r>
          </a:p>
          <a:p xmlns:a="http://schemas.openxmlformats.org/drawingml/2006/main">
            <a:r>
              <a:t>未改善时回看材料、规则或使用方式，</a:t>
            </a:r>
          </a:p>
          <a:p xmlns:a="http://schemas.openxmlformats.org/drawingml/2006/main">
            <a:r>
              <a:t>调整后用另一批样本再次评价。：目标达成结论及其依据。</a:t>
            </a:r>
          </a:p>
          <a:p xmlns:a="http://schemas.openxmlformats.org/drawingml/2006/main">
            <a:r>
              <a:t>尚未解决的问题与改进措施。</a:t>
            </a:r>
          </a:p>
          <a:p xmlns:a="http://schemas.openxmlformats.org/drawingml/2006/main">
            <a:r>
              <a:t>新一轮样本的复评结果。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总结：项目价值与后续优化重点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r>
              <a:t>项目价值需要结合实际使用、人工投入变化和测试验证贡献持续确认。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统一台账提供基础价值：持续跟进新增与历史更新，保留本地人工分析，减少跨页面查找、重复核对和交接中的资料分散。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辅助降低重复整理工作：帮助人员阅读、归纳和提取材料，支持批量处理。人员负责证据核对和结论把关，持续评估审核后的实际收益。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筛选与材料整理支撑测试准备：形成重点候选，整理模型、环境与触发条件，明确缺失信息。实际复现和根因确认仍需人员与实验环境完成。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后续优化以证据为依据：补充完整性核对、人工工时、候选有效性和材料复用记录。根据错误与返工情况优化提示词、筛选规则和分析流程。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7212de2f14e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6705c005e43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2c059bb5342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ed7c507ef4c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77085660543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536f6c1a6a4a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87BE1-127E-4160-AFDA-21A0ACB25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B68BDA-F8C6-4AD1-AA3B-0BB490A4E1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EB2ABB-D5BA-4F53-992C-B20FA7CE4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7121D-C305-4E2A-BC94-CADA64807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9E6A16-2D90-49F3-B3C2-ACF8D34E5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80EAB0-C13F-4D4C-88CB-CD1612E4C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807F3E-51DA-40FF-B377-A0FE2028F4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369D3-A98A-4A77-AC5F-7F2F70E2A7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04562-169F-4440-B3E4-7F4AC1E38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7511E-08DC-424C-B022-1A6D3714A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09ac8f14944274" /><Relationship Type="http://schemas.openxmlformats.org/officeDocument/2006/relationships/slideLayout" Target="/ppt/slideLayouts/slideLayout1.xml" Id="R41994220f0f94018" /><Relationship Type="http://schemas.openxmlformats.org/officeDocument/2006/relationships/slideLayout" Target="/ppt/slideLayouts/slideLayout2.xml" Id="R54507eb79ec34965" /><Relationship Type="http://schemas.openxmlformats.org/officeDocument/2006/relationships/slideLayout" Target="/ppt/slideLayouts/slideLayout3.xml" Id="Rd958d995244e44bb" /><Relationship Type="http://schemas.openxmlformats.org/officeDocument/2006/relationships/slideLayout" Target="/ppt/slideLayouts/slideLayout4.xml" Id="R0d93b72f1d114ff7" /><Relationship Type="http://schemas.openxmlformats.org/officeDocument/2006/relationships/slideLayout" Target="/ppt/slideLayouts/slideLayout5.xml" Id="R760572c22c604294" /><Relationship Type="http://schemas.openxmlformats.org/officeDocument/2006/relationships/slideLayout" Target="/ppt/slideLayouts/slideLayout6.xml" Id="R4c61a756b70e4a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994220f0f94018"/>
    <p:sldLayoutId xmlns:r="http://schemas.openxmlformats.org/officeDocument/2006/relationships" id="2147483650" r:id="R54507eb79ec34965"/>
    <p:sldLayoutId xmlns:r="http://schemas.openxmlformats.org/officeDocument/2006/relationships" id="2147483651" r:id="Rd958d995244e44bb"/>
    <p:sldLayoutId xmlns:r="http://schemas.openxmlformats.org/officeDocument/2006/relationships" id="2147483652" r:id="R0d93b72f1d114ff7"/>
    <p:sldLayoutId xmlns:r="http://schemas.openxmlformats.org/officeDocument/2006/relationships" id="2147483653" r:id="R760572c22c604294"/>
    <p:sldLayoutId xmlns:r="http://schemas.openxmlformats.org/officeDocument/2006/relationships" id="2147483654" r:id="R4c61a756b70e4a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f2204c48b4b14" /><Relationship Type="http://schemas.openxmlformats.org/officeDocument/2006/relationships/notesSlide" Target="/ppt/notesSlides/notesSlide1.xml" Id="R95a87f229aa046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9408860f6422f" /><Relationship Type="http://schemas.openxmlformats.org/officeDocument/2006/relationships/notesSlide" Target="/ppt/notesSlides/notesSlide2.xml" Id="Rdef9755a427048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5e06d4c244c27" /><Relationship Type="http://schemas.openxmlformats.org/officeDocument/2006/relationships/notesSlide" Target="/ppt/notesSlides/notesSlide3.xml" Id="Rd5af9285ed6645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c9f2aed674015" /><Relationship Type="http://schemas.openxmlformats.org/officeDocument/2006/relationships/image" Target="/ppt/media/image.png" Id="R2fedd887a2e14b09" /><Relationship Type="http://schemas.openxmlformats.org/officeDocument/2006/relationships/image" Target="/ppt/media/image.svg" Id="R560e21fe7d5b420a" /><Relationship Type="http://schemas.openxmlformats.org/officeDocument/2006/relationships/notesSlide" Target="/ppt/notesSlides/notesSlide4.xml" Id="Reaa224d191d340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4cdbbf2e44efa" /><Relationship Type="http://schemas.openxmlformats.org/officeDocument/2006/relationships/notesSlide" Target="/ppt/notesSlides/notesSlide5.xml" Id="Rac64f093bef64d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5ea626bff4081" /><Relationship Type="http://schemas.openxmlformats.org/officeDocument/2006/relationships/notesSlide" Target="/ppt/notesSlides/notesSlide6.xml" Id="R1fec6217f4ed49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3c8e89088432d" /><Relationship Type="http://schemas.openxmlformats.org/officeDocument/2006/relationships/notesSlide" Target="/ppt/notesSlides/notesSlide7.xml" Id="R026a6eba463e40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d78a52bd994175" /><Relationship Type="http://schemas.openxmlformats.org/officeDocument/2006/relationships/notesSlide" Target="/ppt/notesSlides/notesSlide8.xml" Id="R3692af179e1040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c8753dfbc24aa5" /><Relationship Type="http://schemas.openxmlformats.org/officeDocument/2006/relationships/notesSlide" Target="/ppt/notesSlides/notesSlide9.xml" Id="Reef7090bf21a46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c1a0550b44666" /><Relationship Type="http://schemas.openxmlformats.org/officeDocument/2006/relationships/notesSlide" Target="/ppt/notesSlides/notesSlide10.xml" Id="R76a383dda21c49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d42741fa04c61" /><Relationship Type="http://schemas.openxmlformats.org/officeDocument/2006/relationships/notesSlide" Target="/ppt/notesSlides/notesSlide11.xml" Id="Rb1326ebdf93d48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b8f56eb034165" /><Relationship Type="http://schemas.openxmlformats.org/officeDocument/2006/relationships/notesSlide" Target="/ppt/notesSlides/notesSlide12.xml" Id="R6572b0336eb348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0eb57e1e6462a" /><Relationship Type="http://schemas.openxmlformats.org/officeDocument/2006/relationships/notesSlide" Target="/ppt/notesSlides/notesSlide13.xml" Id="R45b6c0101a4941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0595c34c24a07" /><Relationship Type="http://schemas.openxmlformats.org/officeDocument/2006/relationships/notesSlide" Target="/ppt/notesSlides/notesSlide14.xml" Id="Rbf44ad4df6374c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b1a905d304592" /><Relationship Type="http://schemas.openxmlformats.org/officeDocument/2006/relationships/notesSlide" Target="/ppt/notesSlides/notesSlide15.xml" Id="R667bba43f72e48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80CC4D-BBDF-4BBC-A8AA-693BB922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issue-tracker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86B96FFB-327A-4EA3-8B41-62934CA0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社区问题管理与测试分析</a:t>
            </a:r>
          </a:p>
        </p:txBody>
      </p:sp>
      <p:sp>
        <p:nvSpPr>
          <p:cNvPr id="4" name="cover-subject">
            <a:extLst xmlns:a="http://schemas.openxmlformats.org/drawingml/2006/main">
              <a:ext uri="{FF2B5EF4-FFF2-40B4-BE49-F238E27FC236}">
                <a16:creationId xmlns:a16="http://schemas.microsoft.com/office/drawing/2014/main" id="{6BA156AE-A61A-462E-9394-8AA4D444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1590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项目改进汇报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B9431752-FBD6-4A1F-8663-3BA98C7B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5525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现状调查、根因分析、目标设定</a:t>
            </a:r>
          </a:p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对策实施与效果确认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9ED144F4-0FA6-4332-AEDE-9DBC2C86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096250"/>
            <a:ext cx="1428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256928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1D6230-A21D-4856-BA7C-3A4E330C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现状调查：社区 Issue 管理的五项痛点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C5C79442-EC06-4F32-B7C2-F262E06F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以下痛点来自项目需求与使用反馈，具体耗时和遗漏比例仍需建立统计基线。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24F9A-93F7-4C2A-926B-CADCA1B86F22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具体表现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对测试工作的影响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新增问题、历史更新和维护者回复需要反复查看。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正文、评论与状态变化缺少统一的跟踪入口。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容易重复查找与核对。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重要更新可能未能及时跟进。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逐条阅读长正文、多轮评论和错误日志。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重复提取问题现象、环境配置与处理进展。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资料准备占用分析精力。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集中梳理大量问题时耗时明显。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缺陷、文档、咨询和 RFC 混杂在完整列表中。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价值、版本适用性和复现条件需要分别判断。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测试资源难以确定投入顺序。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重要缺陷可能被低相关反馈淹没。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模型、量化、并行方式与软硬件版本组合复杂。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启动参数、触发请求或复现步骤可能缺失。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需要重新翻阅正文与评论补齐参数。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难以判断是否具备开展验证的条件。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分析结论、补测建议与处理进展分散保存。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交接时缺少可直接接续的材料和判断依据。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接手者重复阅读与分析。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典型问题难以积累为后续测试输入。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1789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07A325-2664-4423-99A3-266193C0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SIPOC：流程范围与关键指标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0BCF25F3-AA47-4317-B58F-2DA80FED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使用方需要有依据、可接续的分析记录，项目通过统一台账、筛选和辅助整理减少形成这些材料的人工投入。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据此提出主指标“单条 Issue 分析平均人工耗时”，在输出质量满足要求的前提下比较改进前后变化。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7A3B5-25D9-48D4-8827-1F8EFCA495E0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333750"/>
                <a:gridCol w="3429000"/>
                <a:gridCol w="3524250"/>
                <a:gridCol w="2952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供应方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 输入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处理过程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 输出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使用方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61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提交者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社区维护者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参与讨论的用户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提供问题与后续反馈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正文、评论与日志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标签、状态与版本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模型、环境配置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已有人工分析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保留来源与信息缺口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同步获取与集中查看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筛选并确定分析范围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人工或 AI 辅助归纳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人员审核、修正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保存记录与专题导出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经审核的分析记录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问题判断与依据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关键配置与信息缺口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后续验证或跟进建议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为复现提供准备材料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开发与问题负责人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评审和交接人员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据此判断下一步工作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主指标名称">
            <a:extLst xmlns:a="http://schemas.openxmlformats.org/drawingml/2006/main">
              <a:ext uri="{FF2B5EF4-FFF2-40B4-BE49-F238E27FC236}">
                <a16:creationId xmlns:a16="http://schemas.microsoft.com/office/drawing/2014/main" id="{5A744F2F-896F-46DA-92F5-56BE7037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341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关键指标：单条 Issue 分析平均人工耗时（分钟／条）</a:t>
            </a:r>
          </a:p>
        </p:txBody>
      </p:sp>
      <p:sp>
        <p:nvSpPr>
          <p:cNvPr id="6" name="主指标公式">
            <a:extLst xmlns:a="http://schemas.openxmlformats.org/drawingml/2006/main">
              <a:ext uri="{FF2B5EF4-FFF2-40B4-BE49-F238E27FC236}">
                <a16:creationId xmlns:a16="http://schemas.microsoft.com/office/drawing/2014/main" id="{874C1384-32A7-4D2D-9A48-4E48F2CC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199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计算公式：样本全部参与人员的分析总工时（分钟） ÷ 样本 Issue 数量</a:t>
            </a:r>
          </a:p>
        </p:txBody>
      </p:sp>
      <p:sp>
        <p:nvSpPr>
          <p:cNvPr id="7" name="指标计量边界">
            <a:extLst xmlns:a="http://schemas.openxmlformats.org/drawingml/2006/main">
              <a:ext uri="{FF2B5EF4-FFF2-40B4-BE49-F238E27FC236}">
                <a16:creationId xmlns:a16="http://schemas.microsoft.com/office/drawing/2014/main" id="{A8AD1A9B-4D43-4BF2-8526-8E611109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15250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统计口径：从收集信息到审核保存分析记录，累计查找、阅读、提取、审核、修正及返工的人工时间。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固定样本清单，逐条完成记录；AI 失败后的人工接续照计，不只统计成功项，无人值守等待不计人工工时。</a:t>
            </a:r>
          </a:p>
        </p:txBody>
      </p:sp>
      <p:sp>
        <p:nvSpPr>
          <p:cNvPr id="8" name="指标对照和质量要求">
            <a:extLst xmlns:a="http://schemas.openxmlformats.org/drawingml/2006/main">
              <a:ext uri="{FF2B5EF4-FFF2-40B4-BE49-F238E27FC236}">
                <a16:creationId xmlns:a16="http://schemas.microsoft.com/office/drawing/2014/main" id="{F1B80922-87E9-40EC-A8D8-66B2404B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对照要求：使用相近类型与复杂度的样本，统一完成标准，比较纯人工与辅助流程。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质量前提：结论可追溯、信息缺口明确、材料经使用方审核。当前基线待采集，目标值在首轮统计后确定。</a:t>
            </a:r>
          </a:p>
        </p:txBody>
      </p:sp>
    </p:spTree>
    <p:extLst>
      <p:ext uri="{BB962C8B-B14F-4D97-AF65-F5344CB8AC3E}">
        <p14:creationId xmlns:p14="http://schemas.microsoft.com/office/powerpoint/2010/main" val="591547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E2A142-B6F6-4BD1-A3DF-39C79F8C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根因分析：社区反馈转化为测试输入的障碍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F60C5126-7B2C-431B-8B9B-8521D5D2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从信息获取、分析方法、环境配置、人员协作、工作流程和知识沉淀六个方面展开原因。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鱼骨图列出可能因素，后续需要用流程走查、样本检查和对照验证确认主要原因。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29DEA-DC22-483C-9F45-19CA0AC63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dd887a2e14b09">
            <a:extLst>
              <a:ext uri="{96DAC541-7B7A-43D3-8B79-37D633B846F1}">
                <asvg:svgBlip xmlns:asvg="http://schemas.microsoft.com/office/drawing/2016/SVG/main" r:embed="R560e21fe7d5b420a"/>
              </a:ext>
            </a:extLst>
          </a:blip>
          <a:srcRect xmlns:a="http://schemas.openxmlformats.org/drawingml/2006/main" l="0" t="17000" r="0" b="10000"/>
          <a:stretch xmlns:a="http://schemas.openxmlformats.org/drawingml/2006/main"/>
        </p:blipFill>
        <p:spPr>
          <a:xfrm xmlns:a="http://schemas.openxmlformats.org/drawingml/2006/main">
            <a:off x="476250" y="2714625"/>
            <a:ext cx="17335500" cy="676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7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AD4312-411A-4F6F-96AC-41EC7442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目标设定：明确希望改善什么、如何验收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B76F6C55-5DEC-4719-BE07-7364A89B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目标描述的是希望取得的改进，是否达成需要结合实际使用数据和测试人员反馈判断。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57C49-E450-4A0D-B38C-3EFBE1C30FFE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334250"/>
                <a:gridCol w="5810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具体含义与项目解决方式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验收依据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提高跟踪可靠性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集中维护问题列表，持续同步新增和历史更新。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统一仓库、时间和状态口径，支持全量核对。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社区字段更新时保留本地人工分析。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同口径核对问题数量并抽查具体条目。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检查历史更新是否跟进。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确认人工结论未被同步覆盖。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减少人工整理投入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集中展示原文与评论，减少跨页面查找。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辅助归纳摘要与补测建议，支持批量处理。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人员核对和修正后使用结果。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对比单条 Issue 分析平均人工耗时。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包括查找、阅读、审核与修正。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质量标准一致，计入错误与返工。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提高重点筛选效率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按时间、状态、标签和版本收敛范围。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结合价值与复现条件形成优先处理候选。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保留完整列表，人工复查重要遗漏。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人工评审候选是否值得投入测试。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抽查筛选结果之外的重要问题。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观察筛选准备时间与判断分歧。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辅助提取模型配置、硬件环境和软件版本。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整理触发条件、预期结果和已知错误现象。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明确缺失信息，实际复现仍由测试人员执行。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检查关键参数与待确认项是否清楚。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由测试人员评估材料能否用于验证。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不能将材料生成等同于复现成功。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提高分析材料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复用能力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将人工结论、补测建议和进展保存在台账。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支持按专题整理与导出，便于评审交接。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关联来源问题，积累典型测试场景。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检查接手者能否继续分析而非重做。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记录材料在同类问题中的实际使用。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跟踪与测试验证记录的关联。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554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F7E5D8-EFA0-41A8-924F-1A06A011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主要原因与改进方向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E75C7A77-0034-46FC-AFAA-EB62D34D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根据现状与鱼骨图，将需要重点改善的原因归纳为三个方面，并对应到后续五项具体对策。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以下是基于需求与使用反馈的初步判断，实际作用需结合工时、遗漏和材料使用记录持续核验。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81123-BCB5-4AA3-A82E-B2DE89EDA823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6191250"/>
                <a:gridCol w="6381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主要原因判断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对工作的影响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对应的改进方向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信息与分析记录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分散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新增、历史更新和人工结论缺少集中管理。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人员在不同页面与材料间反复查找、核对。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交接时难以接续已有判断，容易重复收集信息。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持续同步与统一问题列表：集中获取、跟进更新。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分析记录与协作复用：保留结论、进展和依据。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通过专题导出支持评审交接，减少重复查找。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阅读归纳与配置提取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依赖人工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长正文、多轮评论与日志需要逐条阅读整理。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模型、软硬件环境和触发参数分散，容易遗漏。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缺少固定检查项时，需要再次翻阅和补采。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辅助与批量任务：减少重复阅读和资料归纳。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复现材料整理：在“补充测试”中梳理关键条件。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明确缺失参数，由人员审核、补齐并执行验证。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价值与复现性判断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缺少统一口径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对问题价值、版本适用性和复现条件判断不一。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重点候选难以确定，人员评审容易出现分歧。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高价值但信息不足的问题可能过早排除。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多维筛选与统一评价：明确候选选择和排序依据。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保留完整列表，对重要但信息不足的问题复查。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结合人工评审与遗漏检查，持续调整筛选规则。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353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A55BA9-70C9-41AB-963A-4FBAB2FE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拟定对策：针对每项痛点设计解决方案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38588E8E-B8C2-40CB-B3F6-4C6B8D9D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方案是否有效，需要同时考虑人员投入、分析质量及后续测试使用情况。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9AA41-83F2-45A0-B377-2E44A0126B2D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针对的痛点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预期形成的工作材料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全量同步与增量更新结合，提供手动校准入口。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统一仓库、时间和状态口径，集中查看问题。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分别维护社区信息与本地人工分析。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持续更新的问题台账。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可核对的专项清单。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历史更新与人工分析记录。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集中提供正文、评论和已有分析作为上下文。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辅助归纳，支持选中问题和筛选范围批量处理。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人员审核、修正并决定是否采纳建议。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待审核的结构化建议。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批量任务进度与失败项。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人工审核后的分析结果。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按日期、状态、标签和版本缩小分析范围。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结合价值与复现条件形成候选排序。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过滤文档、RFC 等类型时保留完整列表供复查。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重点验证候选及筛选依据。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人工补充的价值判断。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重要遗漏的复查记录。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按模型、配置、环境和触发场景整理补测材料。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明确哪些参数来自原文，哪些信息尚未提供。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测试人员补齐条件后执行验证并记录结果。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模型与软硬件配置清单。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复现场景及缺失参数。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后续验证动作与结果记录。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集中保存分析结论、补测建议与处理进展。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支持按专题整理、导出和交接。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在测试材料中保留来源 Issue 及判断依据。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可接续的分析台账。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专题评审与交接材料。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典型场景及其来源记录。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6143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4A54DD-EF9A-45CD-80A3-7E480C88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对策实施：持续同步与统一台账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1E966991-3015-4530-842F-1C37DAED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统计时需要统一仓库、时间、状态以及是否包含 PR，避免把统计口径差异误判为数据遗漏。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98D44196-08EC-408C-AA77-94D43DBE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明确同步与核对范围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89512F4A-138B-466F-814B-91170557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统一仓库、日期和状态条件。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对照同一口径的问题数量与具体条目，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同时检查新增问题和历史更新。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5FF41945-E1E6-4A75-8CD9-9E0BAC93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持续维护问题台账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999F6731-FA6B-4F10-9475-41B2ABFC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全量获取用于建立和校准台账，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增量同步用于日常跟进。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同步完成后仍需关注异常与漏项。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A81F1819-6EB2-4938-BB48-3AB964E1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保护本地人工分析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0E66CFDB-D4D2-4C4E-AD53-698C424C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社区字段与人工结论分开维护。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更新标题、正文和状态时，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保留已有分析、备注与补测建议。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CFAC5753-A291-4D5B-A912-B4A4468F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形成可检查的专项清单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34D2C4F1-5352-4150-8380-B7774C9A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按时间、状态、标签等收敛范围。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通过清单逐项核对更新与遗漏，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减少反复打开社区页面查找。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33822854-6CDB-4DAD-A579-856BC7CC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实际界面：问题列表与同步状态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795CAC37-7A2D-427C-BF73-668C7AD4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5F1F9E6F-F167-4F28-B01D-E3B180DE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1FE3B8BB-9BEB-4E2A-A0DA-EE111362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建议粘贴问题列表、同步状态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或同口径数量核对截图</a:t>
            </a:r>
          </a:p>
        </p:txBody>
      </p:sp>
    </p:spTree>
    <p:extLst>
      <p:ext uri="{BB962C8B-B14F-4D97-AF65-F5344CB8AC3E}">
        <p14:creationId xmlns:p14="http://schemas.microsoft.com/office/powerpoint/2010/main" val="10714420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5463E3-2694-4219-A329-669F5A82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对策实施：AI 辅助分析与批量任务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28503B2E-6DF3-40C9-9C9E-09836F29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模块仍需持续评估，效率收益应包含审核、修正和失败重试成本，不能仅看生成建议数量。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4CFF488B-65E9-4639-AF98-FA145437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准备可靠的分析上下文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96611F1F-FD60-4457-8E84-921D4BAA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结合正文、评论和已有分析。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明确材料来源与缺失部分，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避免模型把推测当成已确认事实。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18B12885-A06F-4AE3-84A4-3FAD598B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生成待审核的结构化建议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3085373A-D4D8-4D4B-9698-D1D55CD7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归纳问题摘要、现象和补测建议。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区分事实、可能原因与待确认参数，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漏测原因结合实际测试覆盖人工判断。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CFA8092A-075E-4EF2-93A7-8CBB74BA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批量处理与异常跟进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9F57D8DA-E6FD-4311-9FD4-B4FC49FF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支持勾选问题或按筛选范围执行。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通过并发任务处理多条问题，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查看进度及失败项并跟进重试。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617A6CB7-E5DE-47E3-845B-3084CF02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人工核对后保存结果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720B2728-BC10-4FEE-AC08-91BED051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对照原文检查版本、配置和判断。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修正后决定是否采纳并保存，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保留已有人工内容及必要说明。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83299EF8-2E34-4CAF-B3A8-B3D3B3F4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实际界面：分析建议与批量任务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C61620D2-696C-41CF-AF4D-C5B31794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2C83473F-ABE7-4B8A-9D35-BAF130A5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93129F36-4ADA-42F0-B3FA-EDDA5C31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 AI 建议、审核采纳界面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或批量分析进度截图</a:t>
            </a:r>
          </a:p>
        </p:txBody>
      </p:sp>
    </p:spTree>
    <p:extLst>
      <p:ext uri="{BB962C8B-B14F-4D97-AF65-F5344CB8AC3E}">
        <p14:creationId xmlns:p14="http://schemas.microsoft.com/office/powerpoint/2010/main" val="11792538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C22093-78D1-4088-BEE4-288FE0B7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对策实施：重点筛选与复现材料整理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92F4A690-0A85-476E-9E81-2A10E27F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系统辅助完成复现前的材料准备，不能代替测试人员部署环境、执行请求或确认根因。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4C4088C7-EA5B-43E5-875E-7FAC805D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筛选值得验证的候选问题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7A2EA770-262A-499F-83B4-32439321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按时间、版本、类型等缩小范围。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结合价值与复现条件排序，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保留完整列表复查重要问题遗漏。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CE2A5B21-4731-4012-B6D2-5C046339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提取模型与环境配置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2F7757D0-EBCF-4E31-8A54-259FF4E7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整理模型名称、量化与并行配置。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提取 A2/A3/A5 硬件及软件版本，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没有来源支持的参数标为待确认。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52CF91B9-52D0-4FBB-A0A1-B700E302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梳理触发条件与错误现象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6868761F-BFA7-45A8-B9F9-E5D0F1DE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整理启动命令、请求和执行阶段。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关注并发、输入长度与异常日志，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写清预期结果和实际差异。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BE2CDA93-5D1E-4D0C-9F76-A95EE20A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由测试人员补齐并验证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6CD1F000-086E-4AC8-B1FD-0555DB25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列出缺失参数和需要追问的信息。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人员准备环境并执行验证，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将复现是否成功及结果补回记录。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A879F37E-AE15-4D77-962E-90712383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实际界面：候选清单与配置材料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5E09EF2D-072C-430A-8B2F-BDE8BE6C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2E8317C1-3E92-488D-B603-7755D562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DC8C8316-664F-4D18-996B-C7D586C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建议粘贴重点候选列表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或模型、环境、复现场景分析截图</a:t>
            </a:r>
          </a:p>
        </p:txBody>
      </p:sp>
    </p:spTree>
    <p:extLst>
      <p:ext uri="{BB962C8B-B14F-4D97-AF65-F5344CB8AC3E}">
        <p14:creationId xmlns:p14="http://schemas.microsoft.com/office/powerpoint/2010/main" val="3517933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67A664-5F42-44B5-8DFF-F3CC13AE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对策实施：分析记录、评审交接与材料复用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A688CBA8-49FF-4208-8AC7-4C26FBBA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典型问题转化为测试场景时，还需要人员补充实际执行结果，并保留来源问题与验证记录的关联。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AFA8AEB8-BEF1-4519-8F64-EC4E3322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统一维护人工分析记录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A19CFFE6-5316-4433-97B6-00B56D9D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保存问题识别、结论与补测建议。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持续补充版本支持和处理进展，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让后续人员了解当前判断与待办。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CED714C3-13CA-40BE-B99D-B883703E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按专题组织评审材料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F6CEE7C6-8174-4EBA-83EC-3FD25C6C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利用筛选结果形成专项清单。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导出后结合原文与已有结论评审，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保留判断依据与尚未解决的信息缺口。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B3A7853D-1CDB-4CAB-941F-79595E65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减少交接中的重复工作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67A0318F-04BB-49A9-BF81-163C2DCC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接手者先查看已有分析和验证情况。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在此前记录上补充、修正和跟进，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减少重新阅读和重复收集材料。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04CB1119-2ABE-4349-A31F-D94E8BE2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积累可追溯的典型场景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A218C6D6-8881-401B-974E-D0D130C4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整理配置、触发条件与验证结果。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转化测试材料时关联来源 Issue，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通过再次使用判断材料是否有价值。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BFD5642B-BCA3-4E94-9807-4036D335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实际界面：分析记录与评审导出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1B50921E-CACF-45F6-9687-0B00021F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08A97243-A295-4ABE-9A57-7F8F0AAE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3AAC251C-A3DD-4CA8-BDBD-05D57107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建议粘贴人工分析、处理进展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或专题清单导出结果截图</a:t>
            </a:r>
          </a:p>
        </p:txBody>
      </p:sp>
    </p:spTree>
    <p:extLst>
      <p:ext uri="{BB962C8B-B14F-4D97-AF65-F5344CB8AC3E}">
        <p14:creationId xmlns:p14="http://schemas.microsoft.com/office/powerpoint/2010/main" val="1720081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0DCA17-440A-4964-B04A-9321F142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实施案例：Issue #16608 复现与工单转化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17B569DE-B180-4D46-858D-4B9CF724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以社区反馈为线索，经人工复现后转为工单推进处理，后续安排测试人员补充相关场景用例。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当前已完成复现与工单转化；修复验证及测试用例补充情况继续跟进。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12F49-2720-4E2D-9983-6E0BA9FA2FAF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9715500"/>
                <a:gridCol w="3429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实施环节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案例内容与处理动作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社区问题与验证线索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原帖报告：PP=2、TP=1 时推理乱码，切换为 TP=2、PP=1 后正常。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报告模型为 Qwen3.8-27B W8A8，并提供环境与启动参数。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这些是社区报告的信息，内部实际配置以复现记录为准。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来源明确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Issue #16608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人工执行复现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项目负责人已在实际环境中完成该问题的复现。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人工验证为转工单提供实际的问题依据。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内部环境配置、触发请求与结果建议随工单留存。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已完成复现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项目负责人确认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转为工单推进解决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已将复现问题转换为工单，进入问题处理流程。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后续结合工单跟进定位、修复和验证。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工单编号与处理进展可按实际记录补充。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已转为工单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修复完成状态未确认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安排补充测试用例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后续安排测试人员补充相关场景的测试用例。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建议结合 PP/TP 对照场景与修复结果评审回归范围。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用例完成、执行通过和纳入回归需要后续记录确认。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后续安排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用例完成情况待跟进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项目应用价值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社区反馈已转化为实际复现和工单处理对象，形成具体应用案例。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后续通过补充用例，将问题处理经验用于测试覆盖。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当前可展示流程应用价值，整体效率收益仍需基线和对照统计。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已有定性案例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量化收益仍需统计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2388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C57E80-439C-486B-A866-41D69ED0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效果确认：逐项目标检查是否取得实际改善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B712681B-3D47-4A82-9098-615C8572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结合实际使用案例与后续对照数据评价项目效果，区分流程应用成果和整体量化收益。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目前已有问题复现与工单转化案例；整体耗时、材料质量和筛选效果仍需按统一口径评估。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7309E-4BFF-4A94-B1F2-F5651DADFA4F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10500"/>
                <a:gridCol w="51435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效果确认方法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当前结论与所需材料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提高跟踪可靠性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同口径核对数量并抽查具体问题。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检查新增获取、历史更新和人工分析保留情况。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补充核对清单、漏项抽查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和历史更新检查记录。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减少人工整理投入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比较单条 Issue 分析平均人工耗时。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SIPOC 页口径计入审核、返工与人工接续。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补充纯人工基线与辅助流程工时，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在同一质量标准下比较。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提高重点筛选效率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人工评审候选是否值得投入测试。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抽查被筛问题中的重要遗漏和评审分歧。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补充候选评审、遗漏复查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和筛选准备耗时记录。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检查模型配置、环境、触发条件和缺失信息。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由测试人员反馈材料是否支持开展验证。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#16608 复现与工单案例。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补充用例属于后续安排。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整体材料质量仍需样本评估。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提高材料复用能力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检查分析能否接续、交接是否减少重复工作。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跟踪典型材料在其他问题或测试中的实际使用。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补充交接使用、重复工作变化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和材料复用关联记录。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2401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07F00E-6F58-4585-A37E-F5351FCE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效果确认：建立可重复的基线与对照评价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E881832E-1F87-400E-B59E-453A41F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采用一致的样本范围和评价口径，避免只展示容易处理的问题或只统计模型输出。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具体比例阈值在第一轮基线后评审确定，后续用新样本验证规则调整是否有效。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9B2D6-7270-42A1-9BA2-614278022193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715250"/>
                <a:gridCol w="5429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评价环节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具体实施方式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需要保留的证据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选取代表性样本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覆盖缺陷、文档、咨询及不同信息完整度。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统一仓库、时间范围和样本复杂度，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避免只选择短正文或容易判断的问题。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样本清单、数量和选取规则。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参与人员与执行时间。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问题类型和材料复杂度说明。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记录纯人工基线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按原有方式完成查找、阅读与资料整理。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分别记录各环节耗时及缺失参数，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检查原有交接是否需要重复收集信息。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分环节工时。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配置与触发条件检查结果。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原有交接过程和重复工作记录。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执行辅助流程并审核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通过台账、筛选与 AI 建议辅助处理。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人员核对、修正并补齐材料，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同时抽查候选和筛选之外的重要问题。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人工总耗时与审核修正情况。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候选有效性和重要遗漏。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失败重试、补采和实际使用反馈。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判断达成情况并复评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按各项目标比较基线与对照结果。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未改善时回看材料、规则或使用方式，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调整后用另一批样本再次评价。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目标达成结论及其依据。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尚未解决的问题与改进措施。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新一轮样本的复评结果。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5651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73D813-4A22-403B-91FD-AED91299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总结：项目价值与后续优化重点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0A1DB827-9D2E-4A6D-B49F-1B8313D5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项目价值需要结合实际使用、人工投入变化和测试验证贡献持续确认。</a:t>
            </a:r>
          </a:p>
        </p:txBody>
      </p:sp>
      <p:sp>
        <p:nvSpPr>
          <p:cNvPr id="4" name="总结标题-0">
            <a:extLst xmlns:a="http://schemas.openxmlformats.org/drawingml/2006/main">
              <a:ext uri="{FF2B5EF4-FFF2-40B4-BE49-F238E27FC236}">
                <a16:creationId xmlns:a16="http://schemas.microsoft.com/office/drawing/2014/main" id="{DD53F0AF-3948-46AD-9D15-49832A16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统一台账提供基础价值</a:t>
            </a:r>
          </a:p>
        </p:txBody>
      </p:sp>
      <p:sp>
        <p:nvSpPr>
          <p:cNvPr id="5" name="总结说明-0">
            <a:extLst xmlns:a="http://schemas.openxmlformats.org/drawingml/2006/main">
              <a:ext uri="{FF2B5EF4-FFF2-40B4-BE49-F238E27FC236}">
                <a16:creationId xmlns:a16="http://schemas.microsoft.com/office/drawing/2014/main" id="{62A8A7D8-47F4-48E9-A872-1ADA0096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3852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持续跟进新增与历史更新，保留本地人工分析，减少跨页面查找、重复核对和交接中的资料分散。</a:t>
            </a:r>
          </a:p>
        </p:txBody>
      </p:sp>
      <p:sp>
        <p:nvSpPr>
          <p:cNvPr id="6" name="总结标题-1">
            <a:extLst xmlns:a="http://schemas.openxmlformats.org/drawingml/2006/main">
              <a:ext uri="{FF2B5EF4-FFF2-40B4-BE49-F238E27FC236}">
                <a16:creationId xmlns:a16="http://schemas.microsoft.com/office/drawing/2014/main" id="{70719FBA-EF27-4972-BBD7-89751566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AI 辅助降低重复整理工作</a:t>
            </a:r>
          </a:p>
        </p:txBody>
      </p:sp>
      <p:sp>
        <p:nvSpPr>
          <p:cNvPr id="7" name="总结说明-1">
            <a:extLst xmlns:a="http://schemas.openxmlformats.org/drawingml/2006/main">
              <a:ext uri="{FF2B5EF4-FFF2-40B4-BE49-F238E27FC236}">
                <a16:creationId xmlns:a16="http://schemas.microsoft.com/office/drawing/2014/main" id="{63F2ABFA-169B-4C95-80BD-3AF3FCF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帮助人员阅读、归纳和提取材料，支持批量处理。人员负责证据核对和结论把关，持续评估审核后的实际收益。</a:t>
            </a:r>
          </a:p>
        </p:txBody>
      </p:sp>
      <p:sp>
        <p:nvSpPr>
          <p:cNvPr id="8" name="总结标题-2">
            <a:extLst xmlns:a="http://schemas.openxmlformats.org/drawingml/2006/main">
              <a:ext uri="{FF2B5EF4-FFF2-40B4-BE49-F238E27FC236}">
                <a16:creationId xmlns:a16="http://schemas.microsoft.com/office/drawing/2014/main" id="{29CC8F27-3AE4-4DB9-8D8E-858FD9AF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筛选与材料整理支撑测试准备</a:t>
            </a:r>
          </a:p>
        </p:txBody>
      </p:sp>
      <p:sp>
        <p:nvSpPr>
          <p:cNvPr id="9" name="总结说明-2">
            <a:extLst xmlns:a="http://schemas.openxmlformats.org/drawingml/2006/main">
              <a:ext uri="{FF2B5EF4-FFF2-40B4-BE49-F238E27FC236}">
                <a16:creationId xmlns:a16="http://schemas.microsoft.com/office/drawing/2014/main" id="{2E685DF8-BB9D-4191-B26A-286D3588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7227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形成重点候选，整理模型、环境与触发条件，明确缺失信息。实际复现和根因确认仍需人员与实验环境完成。</a:t>
            </a:r>
          </a:p>
        </p:txBody>
      </p:sp>
      <p:sp>
        <p:nvSpPr>
          <p:cNvPr id="10" name="总结标题-3">
            <a:extLst xmlns:a="http://schemas.openxmlformats.org/drawingml/2006/main">
              <a:ext uri="{FF2B5EF4-FFF2-40B4-BE49-F238E27FC236}">
                <a16:creationId xmlns:a16="http://schemas.microsoft.com/office/drawing/2014/main" id="{61FDA847-AD5E-4DCB-9FDC-8515664E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5812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后续优化以证据为依据</a:t>
            </a:r>
          </a:p>
        </p:txBody>
      </p:sp>
      <p:sp>
        <p:nvSpPr>
          <p:cNvPr id="11" name="总结说明-3">
            <a:extLst xmlns:a="http://schemas.openxmlformats.org/drawingml/2006/main">
              <a:ext uri="{FF2B5EF4-FFF2-40B4-BE49-F238E27FC236}">
                <a16:creationId xmlns:a16="http://schemas.microsoft.com/office/drawing/2014/main" id="{69DA7CBF-6E6C-4629-A686-D865F387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3915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补充完整性核对、人工工时、候选有效性和材料复用记录。根据错误与返工情况优化提示词、筛选规则和分析流程。</a:t>
            </a:r>
          </a:p>
        </p:txBody>
      </p:sp>
    </p:spTree>
    <p:extLst>
      <p:ext uri="{BB962C8B-B14F-4D97-AF65-F5344CB8AC3E}">
        <p14:creationId xmlns:p14="http://schemas.microsoft.com/office/powerpoint/2010/main" val="1711940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2026-10-28T11:50:44.0000000Z</dcterms:created>
  <dcterms:modified xsi:type="dcterms:W3CDTF">2026-10-28T11:50:44.0000000Z</dcterms:modified>
</coreProperties>
</file>