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c85f86fa3247ed" /><Relationship Type="http://schemas.openxmlformats.org/officeDocument/2006/relationships/extended-properties" Target="/docProps/app.xml" Id="Reffc96a66773456a" /><Relationship Type="http://schemas.openxmlformats.org/officeDocument/2006/relationships/officeDocument" Target="/ppt/presentation.xml" Id="Rc8f31e428bcb4b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f1605fbfcc47fb"/>
  </p:sldMasterIdLst>
  <p:notesMasterIdLst>
    <p:notesMasterId xmlns:r="http://schemas.openxmlformats.org/officeDocument/2006/relationships" r:id="R337c0cc1a21c4eb3"/>
  </p:notesMasterIdLst>
  <p:sldIdLst>
    <p:sldId xmlns:r="http://schemas.openxmlformats.org/officeDocument/2006/relationships" id="256" r:id="Ra52d587c3f6b4143"/>
    <p:sldId xmlns:r="http://schemas.openxmlformats.org/officeDocument/2006/relationships" id="257" r:id="R07bb889efafe4753"/>
    <p:sldId xmlns:r="http://schemas.openxmlformats.org/officeDocument/2006/relationships" id="258" r:id="Rf19c37977b134364"/>
    <p:sldId xmlns:r="http://schemas.openxmlformats.org/officeDocument/2006/relationships" id="259" r:id="R8dce19ce54d149b9"/>
    <p:sldId xmlns:r="http://schemas.openxmlformats.org/officeDocument/2006/relationships" id="260" r:id="Rc431eddd71d044a4"/>
    <p:sldId xmlns:r="http://schemas.openxmlformats.org/officeDocument/2006/relationships" id="261" r:id="R267c73bf9a044775"/>
    <p:sldId xmlns:r="http://schemas.openxmlformats.org/officeDocument/2006/relationships" id="262" r:id="R64198b48bf704ab4"/>
    <p:sldId xmlns:r="http://schemas.openxmlformats.org/officeDocument/2006/relationships" id="263" r:id="Rb4eec2fcf3964561"/>
    <p:sldId xmlns:r="http://schemas.openxmlformats.org/officeDocument/2006/relationships" id="264" r:id="R66652d3c7e93496d"/>
    <p:sldId xmlns:r="http://schemas.openxmlformats.org/officeDocument/2006/relationships" id="265" r:id="R08da2654df94407e"/>
    <p:sldId xmlns:r="http://schemas.openxmlformats.org/officeDocument/2006/relationships" id="266" r:id="R11204936edee4188"/>
    <p:sldId xmlns:r="http://schemas.openxmlformats.org/officeDocument/2006/relationships" id="267" r:id="R427e887ce3c54859"/>
    <p:sldId xmlns:r="http://schemas.openxmlformats.org/officeDocument/2006/relationships" id="268" r:id="R63261066b00f46dd"/>
    <p:sldId xmlns:r="http://schemas.openxmlformats.org/officeDocument/2006/relationships" id="269" r:id="R452c381f99bc4ebd"/>
    <p:sldId xmlns:r="http://schemas.openxmlformats.org/officeDocument/2006/relationships" id="270" r:id="R094046e99577471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0e3a089417418b" /><Relationship Type="http://schemas.openxmlformats.org/officeDocument/2006/relationships/slideMaster" Target="/ppt/slideMasters/slideMaster1.xml" Id="Rb6f1605fbfcc47fb" /><Relationship Type="http://schemas.openxmlformats.org/officeDocument/2006/relationships/notesMaster" Target="/ppt/notesMasters/notesMaster1.xml" Id="R337c0cc1a21c4eb3" /><Relationship Type="http://schemas.openxmlformats.org/officeDocument/2006/relationships/presProps" Target="/ppt/presProps.xml" Id="Rc88312f6f9d8482e" /><Relationship Type="http://schemas.openxmlformats.org/officeDocument/2006/relationships/tableStyles" Target="/ppt/tableStyles.xml" Id="Rbab6209fde5145b7" /><Relationship Type="http://schemas.openxmlformats.org/officeDocument/2006/relationships/slide" Target="/ppt/slides/slide1.xml" Id="Ra52d587c3f6b4143" /><Relationship Type="http://schemas.openxmlformats.org/officeDocument/2006/relationships/slide" Target="/ppt/slides/slide2.xml" Id="R07bb889efafe4753" /><Relationship Type="http://schemas.openxmlformats.org/officeDocument/2006/relationships/slide" Target="/ppt/slides/slide3.xml" Id="Rf19c37977b134364" /><Relationship Type="http://schemas.openxmlformats.org/officeDocument/2006/relationships/slide" Target="/ppt/slides/slide4.xml" Id="R8dce19ce54d149b9" /><Relationship Type="http://schemas.openxmlformats.org/officeDocument/2006/relationships/slide" Target="/ppt/slides/slide5.xml" Id="Rc431eddd71d044a4" /><Relationship Type="http://schemas.openxmlformats.org/officeDocument/2006/relationships/slide" Target="/ppt/slides/slide6.xml" Id="R267c73bf9a044775" /><Relationship Type="http://schemas.openxmlformats.org/officeDocument/2006/relationships/slide" Target="/ppt/slides/slide7.xml" Id="R64198b48bf704ab4" /><Relationship Type="http://schemas.openxmlformats.org/officeDocument/2006/relationships/slide" Target="/ppt/slides/slide8.xml" Id="Rb4eec2fcf3964561" /><Relationship Type="http://schemas.openxmlformats.org/officeDocument/2006/relationships/slide" Target="/ppt/slides/slide9.xml" Id="R66652d3c7e93496d" /><Relationship Type="http://schemas.openxmlformats.org/officeDocument/2006/relationships/slide" Target="/ppt/slides/slide10.xml" Id="R08da2654df94407e" /><Relationship Type="http://schemas.openxmlformats.org/officeDocument/2006/relationships/slide" Target="/ppt/slides/slide11.xml" Id="R11204936edee4188" /><Relationship Type="http://schemas.openxmlformats.org/officeDocument/2006/relationships/slide" Target="/ppt/slides/slide12.xml" Id="R427e887ce3c54859" /><Relationship Type="http://schemas.openxmlformats.org/officeDocument/2006/relationships/slide" Target="/ppt/slides/slide13.xml" Id="R63261066b00f46dd" /><Relationship Type="http://schemas.openxmlformats.org/officeDocument/2006/relationships/slide" Target="/ppt/slides/slide14.xml" Id="R452c381f99bc4ebd" /><Relationship Type="http://schemas.openxmlformats.org/officeDocument/2006/relationships/slide" Target="/ppt/slides/slide15.xml" Id="R094046e9957747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aa64a675624d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2187ef7a4f4c84" /><Relationship Type="http://schemas.openxmlformats.org/officeDocument/2006/relationships/notesMaster" Target="/ppt/notesMasters/notesMaster1.xml" Id="R58e91270ca8847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f9be088d3f4008" /><Relationship Type="http://schemas.openxmlformats.org/officeDocument/2006/relationships/notesMaster" Target="/ppt/notesMasters/notesMaster1.xml" Id="R008a488e8c7746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fe70ba400a4f66" /><Relationship Type="http://schemas.openxmlformats.org/officeDocument/2006/relationships/notesMaster" Target="/ppt/notesMasters/notesMaster1.xml" Id="R72766fc4f93a47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75e8f94a724745" /><Relationship Type="http://schemas.openxmlformats.org/officeDocument/2006/relationships/notesMaster" Target="/ppt/notesMasters/notesMaster1.xml" Id="R1e370a4d2dca48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5859c348b545e4" /><Relationship Type="http://schemas.openxmlformats.org/officeDocument/2006/relationships/notesMaster" Target="/ppt/notesMasters/notesMaster1.xml" Id="R7379ac0a151e46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34affb33bf4354" /><Relationship Type="http://schemas.openxmlformats.org/officeDocument/2006/relationships/notesMaster" Target="/ppt/notesMasters/notesMaster1.xml" Id="R5f5d72bdf65749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ed1b14bb5b43df" /><Relationship Type="http://schemas.openxmlformats.org/officeDocument/2006/relationships/notesMaster" Target="/ppt/notesMasters/notesMaster1.xml" Id="R5e64756ce2634b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94a97a99764baf" /><Relationship Type="http://schemas.openxmlformats.org/officeDocument/2006/relationships/notesMaster" Target="/ppt/notesMasters/notesMaster1.xml" Id="Rc238cab633e046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28160f86fa4ae4" /><Relationship Type="http://schemas.openxmlformats.org/officeDocument/2006/relationships/notesMaster" Target="/ppt/notesMasters/notesMaster1.xml" Id="R802abbeb776e43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51a7a9bf054da8" /><Relationship Type="http://schemas.openxmlformats.org/officeDocument/2006/relationships/notesMaster" Target="/ppt/notesMasters/notesMaster1.xml" Id="R4a621721b74f4f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bbf1296fcc4d8c" /><Relationship Type="http://schemas.openxmlformats.org/officeDocument/2006/relationships/notesMaster" Target="/ppt/notesMasters/notesMaster1.xml" Id="R0c7a3f12aeb942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716da164ee444b" /><Relationship Type="http://schemas.openxmlformats.org/officeDocument/2006/relationships/notesMaster" Target="/ppt/notesMasters/notesMaster1.xml" Id="R9709ca3ae25649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d34e761a6e44d1" /><Relationship Type="http://schemas.openxmlformats.org/officeDocument/2006/relationships/notesMaster" Target="/ppt/notesMasters/notesMaster1.xml" Id="R904be4a17bc442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b9a218d4944672" /><Relationship Type="http://schemas.openxmlformats.org/officeDocument/2006/relationships/notesMaster" Target="/ppt/notesMasters/notesMaster1.xml" Id="R75fdb9234f8044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1a5c01452454f62" /><Relationship Type="http://schemas.openxmlformats.org/officeDocument/2006/relationships/notesMaster" Target="/ppt/notesMasters/notesMaster1.xml" Id="Rb6a295adbdea43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issue-tracker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社区问题管理与测试分析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现状调查：社区 Issue 管理的五项痛点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社区反馈持续增加，正文、评论和处理进展分散。测试人员需要先收集、阅读和判断，再准备验证材料。</a:t>
            </a:r>
          </a:p>
          <a:p xmlns:a="http://schemas.openxmlformats.org/drawingml/2006/main">
            <a:r>
              <a:t>以下痛点来自项目需求与使用反馈，具体耗时和遗漏比例仍需建立统计基线。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痛点：具体表现：对测试工作的影响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持续跟踪困难：新增问题、历史更新和维护者回复需要反复查看。</a:t>
            </a:r>
          </a:p>
          <a:p xmlns:a="http://schemas.openxmlformats.org/drawingml/2006/main">
            <a:r>
              <a:t>正文、评论与状态变化缺少统一的跟踪入口。：容易重复查找与核对。</a:t>
            </a:r>
          </a:p>
          <a:p xmlns:a="http://schemas.openxmlformats.org/drawingml/2006/main">
            <a:r>
              <a:t>重要更新可能未能及时跟进。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人工整理投入大：逐条阅读长正文、多轮评论和错误日志。</a:t>
            </a:r>
          </a:p>
          <a:p xmlns:a="http://schemas.openxmlformats.org/drawingml/2006/main">
            <a:r>
              <a:t>重复提取问题现象、环境配置与处理进展。：资料准备占用分析精力。</a:t>
            </a:r>
          </a:p>
          <a:p xmlns:a="http://schemas.openxmlformats.org/drawingml/2006/main">
            <a:r>
              <a:t>集中梳理大量问题时耗时明显。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重点问题筛选难：缺陷、文档、咨询和 RFC 混杂在完整列表中。</a:t>
            </a:r>
          </a:p>
          <a:p xmlns:a="http://schemas.openxmlformats.org/drawingml/2006/main">
            <a:r>
              <a:t>价值、版本适用性和复现条件需要分别判断。：测试资源难以确定投入顺序。</a:t>
            </a:r>
          </a:p>
          <a:p xmlns:a="http://schemas.openxmlformats.org/drawingml/2006/main">
            <a:r>
              <a:t>重要缺陷可能被低相关反馈淹没。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复现材料不完整：模型、量化、并行方式与软硬件版本组合复杂。</a:t>
            </a:r>
          </a:p>
          <a:p xmlns:a="http://schemas.openxmlformats.org/drawingml/2006/main">
            <a:r>
              <a:t>启动参数、触发请求或复现步骤可能缺失。：需要重新翻阅正文与评论补齐参数。</a:t>
            </a:r>
          </a:p>
          <a:p xmlns:a="http://schemas.openxmlformats.org/drawingml/2006/main">
            <a:r>
              <a:t>难以判断是否具备开展验证的条件。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分析经验难复用：分析结论、补测建议与处理进展分散保存。</a:t>
            </a:r>
          </a:p>
          <a:p xmlns:a="http://schemas.openxmlformats.org/drawingml/2006/main">
            <a:r>
              <a:t>交接时缺少可直接接续的材料和判断依据。：接手者重复阅读与分析。</a:t>
            </a:r>
          </a:p>
          <a:p xmlns:a="http://schemas.openxmlformats.org/drawingml/2006/main">
            <a:r>
              <a:t>典型问题难以积累为后续测试输入。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SIPOC：流程范围与关键指标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使用方需要有依据、可接续的分析记录，项目通过统一台账、筛选和辅助整理减少形成这些材料的人工投入。</a:t>
            </a:r>
          </a:p>
          <a:p xmlns:a="http://schemas.openxmlformats.org/drawingml/2006/main">
            <a:r>
              <a:t>据此提出主指标“单条 Issue 分析平均人工耗时”，在输出质量满足要求的前提下比较改进前后变化。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 供应方：I 输入：P 处理过程：O 输出：C 使用方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Issue 提交者</a:t>
            </a:r>
          </a:p>
          <a:p xmlns:a="http://schemas.openxmlformats.org/drawingml/2006/main">
            <a:r>
              <a:t>社区维护者</a:t>
            </a:r>
          </a:p>
          <a:p xmlns:a="http://schemas.openxmlformats.org/drawingml/2006/main">
            <a:r>
              <a:t>参与讨论的用户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提供问题与后续反馈：正文、评论与日志</a:t>
            </a:r>
          </a:p>
          <a:p xmlns:a="http://schemas.openxmlformats.org/drawingml/2006/main">
            <a:r>
              <a:t>标签、状态与版本</a:t>
            </a:r>
          </a:p>
          <a:p xmlns:a="http://schemas.openxmlformats.org/drawingml/2006/main">
            <a:r>
              <a:t>模型、环境配置</a:t>
            </a:r>
          </a:p>
          <a:p xmlns:a="http://schemas.openxmlformats.org/drawingml/2006/main">
            <a:r>
              <a:t>已有人工分析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保留来源与信息缺口：同步获取与集中查看</a:t>
            </a:r>
          </a:p>
          <a:p xmlns:a="http://schemas.openxmlformats.org/drawingml/2006/main">
            <a:r>
              <a:t>筛选并确定分析范围</a:t>
            </a:r>
          </a:p>
          <a:p xmlns:a="http://schemas.openxmlformats.org/drawingml/2006/main">
            <a:r>
              <a:t>人工或 AI 辅助归纳</a:t>
            </a:r>
          </a:p>
          <a:p xmlns:a="http://schemas.openxmlformats.org/drawingml/2006/main">
            <a:r>
              <a:t>人员审核、修正</a:t>
            </a:r>
          </a:p>
          <a:p xmlns:a="http://schemas.openxmlformats.org/drawingml/2006/main">
            <a:r>
              <a:t>保存记录与专题导出：经审核的分析记录</a:t>
            </a:r>
          </a:p>
          <a:p xmlns:a="http://schemas.openxmlformats.org/drawingml/2006/main">
            <a:r>
              <a:t>问题判断与依据</a:t>
            </a:r>
          </a:p>
          <a:p xmlns:a="http://schemas.openxmlformats.org/drawingml/2006/main">
            <a:r>
              <a:t>关键配置与信息缺口</a:t>
            </a:r>
          </a:p>
          <a:p xmlns:a="http://schemas.openxmlformats.org/drawingml/2006/main">
            <a:r>
              <a:t>后续验证或跟进建议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为复现提供准备材料：测试人员</a:t>
            </a:r>
          </a:p>
          <a:p xmlns:a="http://schemas.openxmlformats.org/drawingml/2006/main">
            <a:r>
              <a:t>开发与问题负责人</a:t>
            </a:r>
          </a:p>
          <a:p xmlns:a="http://schemas.openxmlformats.org/drawingml/2006/main">
            <a:r>
              <a:t>评审和交接人员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据此判断下一步工作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把社区反馈的供应方、输入、处理过程、输出和使用方放在同一流程中。使用方需要的是可继续使用的分析记录，因此建议将形成审核合格记录的平均人工投入作为主指标。分子为固定样本所有参与人员的实际人工分钟之和，多人并行要相加，返工及 AI 失败后的人工处理都计入，不能只计算生成成功项。分母为预先选定并逐条完成分析的样本数量。若有未完成项，披露数量和原因，待完成后形成完整批次结果，不排除困难样本来降低均值。该指标不是模型接口耗时或缺陷自动复现率。没有实测数据时不填当前值与改善比例。质量审核是使用指标的前提，不能通过减少核对、遗漏信息或降低交付标准换取更低耗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根因分析：社区反馈转化为测试输入的障碍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从信息获取、分析方法、环境配置、人员协作、工作流程和知识沉淀六个方面展开原因。</a:t>
            </a:r>
          </a:p>
          <a:p xmlns:a="http://schemas.openxmlformats.org/drawingml/2006/main">
            <a:r>
              <a:t>鱼骨图列出可能因素，后续需要用流程走查、样本检查和对照验证确认主要原因。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目标设定：明确希望改善什么、如何验收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整体目标是持续跟踪社区问题，减少重复整理，帮助人员选择重点验证对象，并积累可继续使用的分析材料。</a:t>
            </a:r>
          </a:p>
          <a:p xmlns:a="http://schemas.openxmlformats.org/drawingml/2006/main">
            <a:r>
              <a:t>目标描述的是希望取得的改进，是否达成需要结合实际使用数据和测试人员反馈判断。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目标：具体含义与项目解决方式：验收依据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提高跟踪可靠性：集中维护问题列表，持续同步新增和历史更新。</a:t>
            </a:r>
          </a:p>
          <a:p xmlns:a="http://schemas.openxmlformats.org/drawingml/2006/main">
            <a:r>
              <a:t>统一仓库、时间和状态口径，支持全量核对。</a:t>
            </a:r>
          </a:p>
          <a:p xmlns:a="http://schemas.openxmlformats.org/drawingml/2006/main">
            <a:r>
              <a:t>社区字段更新时保留本地人工分析。：同口径核对问题数量并抽查具体条目。</a:t>
            </a:r>
          </a:p>
          <a:p xmlns:a="http://schemas.openxmlformats.org/drawingml/2006/main">
            <a:r>
              <a:t>检查历史更新是否跟进。</a:t>
            </a:r>
          </a:p>
          <a:p xmlns:a="http://schemas.openxmlformats.org/drawingml/2006/main">
            <a:r>
              <a:t>确认人工结论未被同步覆盖。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减少人工整理投入：集中展示原文与评论，减少跨页面查找。</a:t>
            </a:r>
          </a:p>
          <a:p xmlns:a="http://schemas.openxmlformats.org/drawingml/2006/main">
            <a:r>
              <a:t>AI 辅助归纳摘要与补测建议，支持批量处理。</a:t>
            </a:r>
          </a:p>
          <a:p xmlns:a="http://schemas.openxmlformats.org/drawingml/2006/main">
            <a:r>
              <a:t>人员核对和修正后使用结果。：对比单条 Issue 分析平均人工耗时。</a:t>
            </a:r>
          </a:p>
          <a:p xmlns:a="http://schemas.openxmlformats.org/drawingml/2006/main">
            <a:r>
              <a:t>包括查找、阅读、审核与修正。</a:t>
            </a:r>
          </a:p>
          <a:p xmlns:a="http://schemas.openxmlformats.org/drawingml/2006/main">
            <a:r>
              <a:t>质量标准一致，计入错误与返工。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提高重点筛选效率：按时间、状态、标签和版本收敛范围。</a:t>
            </a:r>
          </a:p>
          <a:p xmlns:a="http://schemas.openxmlformats.org/drawingml/2006/main">
            <a:r>
              <a:t>结合价值与复现条件形成优先处理候选。</a:t>
            </a:r>
          </a:p>
          <a:p xmlns:a="http://schemas.openxmlformats.org/drawingml/2006/main">
            <a:r>
              <a:t>保留完整列表，人工复查重要遗漏。：人工评审候选是否值得投入测试。</a:t>
            </a:r>
          </a:p>
          <a:p xmlns:a="http://schemas.openxmlformats.org/drawingml/2006/main">
            <a:r>
              <a:t>抽查筛选结果之外的重要问题。</a:t>
            </a:r>
          </a:p>
          <a:p xmlns:a="http://schemas.openxmlformats.org/drawingml/2006/main">
            <a:r>
              <a:t>观察筛选准备时间与判断分歧。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提高复现材料</a:t>
            </a:r>
          </a:p>
          <a:p xmlns:a="http://schemas.openxmlformats.org/drawingml/2006/main">
            <a:r>
              <a:t>完整性：辅助提取模型配置、硬件环境和软件版本。</a:t>
            </a:r>
          </a:p>
          <a:p xmlns:a="http://schemas.openxmlformats.org/drawingml/2006/main">
            <a:r>
              <a:t>整理触发条件、预期结果和已知错误现象。</a:t>
            </a:r>
          </a:p>
          <a:p xmlns:a="http://schemas.openxmlformats.org/drawingml/2006/main">
            <a:r>
              <a:t>明确缺失信息，实际复现仍由测试人员执行。：检查关键参数与待确认项是否清楚。</a:t>
            </a:r>
          </a:p>
          <a:p xmlns:a="http://schemas.openxmlformats.org/drawingml/2006/main">
            <a:r>
              <a:t>由测试人员评估材料能否用于验证。</a:t>
            </a:r>
          </a:p>
          <a:p xmlns:a="http://schemas.openxmlformats.org/drawingml/2006/main">
            <a:r>
              <a:t>不能将材料生成等同于复现成功。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提高分析材料</a:t>
            </a:r>
          </a:p>
          <a:p xmlns:a="http://schemas.openxmlformats.org/drawingml/2006/main">
            <a:r>
              <a:t>复用能力：将人工结论、补测建议和进展保存在台账。</a:t>
            </a:r>
          </a:p>
          <a:p xmlns:a="http://schemas.openxmlformats.org/drawingml/2006/main">
            <a:r>
              <a:t>支持按专题整理与导出，便于评审交接。</a:t>
            </a:r>
          </a:p>
          <a:p xmlns:a="http://schemas.openxmlformats.org/drawingml/2006/main">
            <a:r>
              <a:t>关联来源问题，积累典型测试场景。：检查接手者能否继续分析而非重做。</a:t>
            </a:r>
          </a:p>
          <a:p xmlns:a="http://schemas.openxmlformats.org/drawingml/2006/main">
            <a:r>
              <a:t>记录材料在同类问题中的实际使用。</a:t>
            </a:r>
          </a:p>
          <a:p xmlns:a="http://schemas.openxmlformats.org/drawingml/2006/main">
            <a:r>
              <a:t>跟踪与测试验证记录的关联。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主要原因与改进方向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根据现状与鱼骨图，将需要重点改善的原因归纳为三个方面，并对应到后续五项具体对策。</a:t>
            </a:r>
          </a:p>
          <a:p xmlns:a="http://schemas.openxmlformats.org/drawingml/2006/main">
            <a:r>
              <a:t>以下是基于需求与使用反馈的初步判断，实际作用需结合工时、遗漏和材料使用记录持续核验。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主要原因判断：对工作的影响：对应的改进方向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信息与分析记录</a:t>
            </a:r>
          </a:p>
          <a:p xmlns:a="http://schemas.openxmlformats.org/drawingml/2006/main">
            <a:r>
              <a:t>分散：新增、历史更新和人工结论缺少集中管理。</a:t>
            </a:r>
          </a:p>
          <a:p xmlns:a="http://schemas.openxmlformats.org/drawingml/2006/main">
            <a:r>
              <a:t>人员在不同页面与材料间反复查找、核对。</a:t>
            </a:r>
          </a:p>
          <a:p xmlns:a="http://schemas.openxmlformats.org/drawingml/2006/main">
            <a:r>
              <a:t>交接时难以接续已有判断，容易重复收集信息。：持续同步与统一问题列表：集中获取、跟进更新。</a:t>
            </a:r>
          </a:p>
          <a:p xmlns:a="http://schemas.openxmlformats.org/drawingml/2006/main">
            <a:r>
              <a:t>分析记录与协作复用：保留结论、进展和依据。</a:t>
            </a:r>
          </a:p>
          <a:p xmlns:a="http://schemas.openxmlformats.org/drawingml/2006/main">
            <a:r>
              <a:t>通过专题导出支持评审交接，减少重复查找。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阅读归纳与配置提取</a:t>
            </a:r>
          </a:p>
          <a:p xmlns:a="http://schemas.openxmlformats.org/drawingml/2006/main">
            <a:r>
              <a:t>依赖人工：长正文、多轮评论与日志需要逐条阅读整理。</a:t>
            </a:r>
          </a:p>
          <a:p xmlns:a="http://schemas.openxmlformats.org/drawingml/2006/main">
            <a:r>
              <a:t>模型、软硬件环境和触发参数分散，容易遗漏。</a:t>
            </a:r>
          </a:p>
          <a:p xmlns:a="http://schemas.openxmlformats.org/drawingml/2006/main">
            <a:r>
              <a:t>缺少固定检查项时，需要再次翻阅和补采。：AI 辅助与批量任务：减少重复阅读和资料归纳。</a:t>
            </a:r>
          </a:p>
          <a:p xmlns:a="http://schemas.openxmlformats.org/drawingml/2006/main">
            <a:r>
              <a:t>复现材料整理：在“补充测试”中梳理关键条件。</a:t>
            </a:r>
          </a:p>
          <a:p xmlns:a="http://schemas.openxmlformats.org/drawingml/2006/main">
            <a:r>
              <a:t>明确缺失参数，由人员审核、补齐并执行验证。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价值与复现性判断</a:t>
            </a:r>
          </a:p>
          <a:p xmlns:a="http://schemas.openxmlformats.org/drawingml/2006/main">
            <a:r>
              <a:t>缺少统一口径：对问题价值、版本适用性和复现条件判断不一。</a:t>
            </a:r>
          </a:p>
          <a:p xmlns:a="http://schemas.openxmlformats.org/drawingml/2006/main">
            <a:r>
              <a:t>重点候选难以确定，人员评审容易出现分歧。</a:t>
            </a:r>
          </a:p>
          <a:p xmlns:a="http://schemas.openxmlformats.org/drawingml/2006/main">
            <a:r>
              <a:t>高价值但信息不足的问题可能过早排除。：多维筛选与统一评价：明确候选选择和排序依据。</a:t>
            </a:r>
          </a:p>
          <a:p xmlns:a="http://schemas.openxmlformats.org/drawingml/2006/main">
            <a:r>
              <a:t>保留完整列表，对重要但信息不足的问题复查。</a:t>
            </a:r>
          </a:p>
          <a:p xmlns:a="http://schemas.openxmlformats.org/drawingml/2006/main">
            <a:r>
              <a:t>结合人工评审与遗漏检查，持续调整筛选规则。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建议口播：根据前面的现状和原因分析，我们把重点改善方向归纳为三个方面：信息集中管理、减少重复整理，以及统一筛选判断。其中，信息集中管理对应持续同步和分析记录复用，减少重复整理对应 AI 辅助与复现材料整理，统一筛选判断对应评价口径和人工复查。这三个方向进一步展开为下一页的五项具体对策。这里属于初步原因判断，不表示已经完成严格的因果验证。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拟定对策：针对每项痛点设计解决方案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各项对策共同服务于项目整体目标。AI 主要用于辅助整理，统一台账、筛选和人工记录也能独立提供价值。</a:t>
            </a:r>
          </a:p>
          <a:p xmlns:a="http://schemas.openxmlformats.org/drawingml/2006/main">
            <a:r>
              <a:t>方案是否有效，需要同时考虑人员投入、分析质量及后续测试使用情况。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针对的痛点：解决方案：预期形成的工作材料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持续跟踪困难：全量同步与增量更新结合，提供手动校准入口。</a:t>
            </a:r>
          </a:p>
          <a:p xmlns:a="http://schemas.openxmlformats.org/drawingml/2006/main">
            <a:r>
              <a:t>统一仓库、时间和状态口径，集中查看问题。</a:t>
            </a:r>
          </a:p>
          <a:p xmlns:a="http://schemas.openxmlformats.org/drawingml/2006/main">
            <a:r>
              <a:t>分别维护社区信息与本地人工分析。：持续更新的问题台账。</a:t>
            </a:r>
          </a:p>
          <a:p xmlns:a="http://schemas.openxmlformats.org/drawingml/2006/main">
            <a:r>
              <a:t>可核对的专项清单。</a:t>
            </a:r>
          </a:p>
          <a:p xmlns:a="http://schemas.openxmlformats.org/drawingml/2006/main">
            <a:r>
              <a:t>历史更新与人工分析记录。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人工整理投入大：集中提供正文、评论和已有分析作为上下文。</a:t>
            </a:r>
          </a:p>
          <a:p xmlns:a="http://schemas.openxmlformats.org/drawingml/2006/main">
            <a:r>
              <a:t>AI 辅助归纳，支持选中问题和筛选范围批量处理。</a:t>
            </a:r>
          </a:p>
          <a:p xmlns:a="http://schemas.openxmlformats.org/drawingml/2006/main">
            <a:r>
              <a:t>人员审核、修正并决定是否采纳建议。：待审核的结构化建议。</a:t>
            </a:r>
          </a:p>
          <a:p xmlns:a="http://schemas.openxmlformats.org/drawingml/2006/main">
            <a:r>
              <a:t>批量任务进度与失败项。</a:t>
            </a:r>
          </a:p>
          <a:p xmlns:a="http://schemas.openxmlformats.org/drawingml/2006/main">
            <a:r>
              <a:t>人工审核后的分析结果。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重点问题筛选难：按日期、状态、标签和版本缩小分析范围。</a:t>
            </a:r>
          </a:p>
          <a:p xmlns:a="http://schemas.openxmlformats.org/drawingml/2006/main">
            <a:r>
              <a:t>结合价值与复现条件形成候选排序。</a:t>
            </a:r>
          </a:p>
          <a:p xmlns:a="http://schemas.openxmlformats.org/drawingml/2006/main">
            <a:r>
              <a:t>过滤文档、RFC 等类型时保留完整列表供复查。：重点验证候选及筛选依据。</a:t>
            </a:r>
          </a:p>
          <a:p xmlns:a="http://schemas.openxmlformats.org/drawingml/2006/main">
            <a:r>
              <a:t>人工补充的价值判断。</a:t>
            </a:r>
          </a:p>
          <a:p xmlns:a="http://schemas.openxmlformats.org/drawingml/2006/main">
            <a:r>
              <a:t>重要遗漏的复查记录。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复现材料不完整：按模型、配置、环境和触发场景整理补测材料。</a:t>
            </a:r>
          </a:p>
          <a:p xmlns:a="http://schemas.openxmlformats.org/drawingml/2006/main">
            <a:r>
              <a:t>明确哪些参数来自原文，哪些信息尚未提供。</a:t>
            </a:r>
          </a:p>
          <a:p xmlns:a="http://schemas.openxmlformats.org/drawingml/2006/main">
            <a:r>
              <a:t>测试人员补齐条件后执行验证并记录结果。：模型与软硬件配置清单。</a:t>
            </a:r>
          </a:p>
          <a:p xmlns:a="http://schemas.openxmlformats.org/drawingml/2006/main">
            <a:r>
              <a:t>复现场景及缺失参数。</a:t>
            </a:r>
          </a:p>
          <a:p xmlns:a="http://schemas.openxmlformats.org/drawingml/2006/main">
            <a:r>
              <a:t>后续验证动作与结果记录。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分析经验难复用：集中保存分析结论、补测建议与处理进展。</a:t>
            </a:r>
          </a:p>
          <a:p xmlns:a="http://schemas.openxmlformats.org/drawingml/2006/main">
            <a:r>
              <a:t>支持按专题整理、导出和交接。</a:t>
            </a:r>
          </a:p>
          <a:p xmlns:a="http://schemas.openxmlformats.org/drawingml/2006/main">
            <a:r>
              <a:t>在测试材料中保留来源 Issue 及判断依据。：可接续的分析台账。</a:t>
            </a:r>
          </a:p>
          <a:p xmlns:a="http://schemas.openxmlformats.org/drawingml/2006/main">
            <a:r>
              <a:t>专题评审与交接材料。</a:t>
            </a:r>
          </a:p>
          <a:p xmlns:a="http://schemas.openxmlformats.org/drawingml/2006/main">
            <a:r>
              <a:t>典型场景及其来源记录。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对策实施：持续同步与统一台账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解决“持续跟踪困难”：把分散的问题信息收敛到统一入口，支持持续更新、专项筛选和完整性核对。</a:t>
            </a:r>
          </a:p>
          <a:p xmlns:a="http://schemas.openxmlformats.org/drawingml/2006/main">
            <a:r>
              <a:t>统计时需要统一仓库、时间、状态以及是否包含 PR，避免把统计口径差异误判为数据遗漏。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明确同步与核对范围：统一仓库、日期和状态条件。</a:t>
            </a:r>
          </a:p>
          <a:p xmlns:a="http://schemas.openxmlformats.org/drawingml/2006/main">
            <a:r>
              <a:t>对照同一口径的问题数量与具体条目，</a:t>
            </a:r>
          </a:p>
          <a:p xmlns:a="http://schemas.openxmlformats.org/drawingml/2006/main">
            <a:r>
              <a:t>同时检查新增问题和历史更新。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持续维护问题台账：全量获取用于建立和校准台账，</a:t>
            </a:r>
          </a:p>
          <a:p xmlns:a="http://schemas.openxmlformats.org/drawingml/2006/main">
            <a:r>
              <a:t>增量同步用于日常跟进。</a:t>
            </a:r>
          </a:p>
          <a:p xmlns:a="http://schemas.openxmlformats.org/drawingml/2006/main">
            <a:r>
              <a:t>同步完成后仍需关注异常与漏项。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保护本地人工分析：社区字段与人工结论分开维护。</a:t>
            </a:r>
          </a:p>
          <a:p xmlns:a="http://schemas.openxmlformats.org/drawingml/2006/main">
            <a:r>
              <a:t>更新标题、正文和状态时，</a:t>
            </a:r>
          </a:p>
          <a:p xmlns:a="http://schemas.openxmlformats.org/drawingml/2006/main">
            <a:r>
              <a:t>保留已有分析、备注与补测建议。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形成可检查的专项清单：按时间、状态、标签等收敛范围。</a:t>
            </a:r>
          </a:p>
          <a:p xmlns:a="http://schemas.openxmlformats.org/drawingml/2006/main">
            <a:r>
              <a:t>通过清单逐项核对更新与遗漏，</a:t>
            </a:r>
          </a:p>
          <a:p xmlns:a="http://schemas.openxmlformats.org/drawingml/2006/main">
            <a:r>
              <a:t>减少反复打开社区页面查找。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对策实施：AI 辅助分析与批量任务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解决“人工整理投入大”：由模型先整理材料，人员再核对证据、修正结论并决定是否采纳。</a:t>
            </a:r>
          </a:p>
          <a:p xmlns:a="http://schemas.openxmlformats.org/drawingml/2006/main">
            <a:r>
              <a:t>AI 模块仍需持续评估，效率收益应包含审核、修正和失败重试成本，不能仅看生成建议数量。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准备可靠的分析上下文：结合正文、评论和已有分析。</a:t>
            </a:r>
          </a:p>
          <a:p xmlns:a="http://schemas.openxmlformats.org/drawingml/2006/main">
            <a:r>
              <a:t>明确材料来源与缺失部分，</a:t>
            </a:r>
          </a:p>
          <a:p xmlns:a="http://schemas.openxmlformats.org/drawingml/2006/main">
            <a:r>
              <a:t>避免模型把推测当成已确认事实。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生成待审核的结构化建议：归纳问题摘要、现象和补测建议。</a:t>
            </a:r>
          </a:p>
          <a:p xmlns:a="http://schemas.openxmlformats.org/drawingml/2006/main">
            <a:r>
              <a:t>区分事实、可能原因与待确认参数，</a:t>
            </a:r>
          </a:p>
          <a:p xmlns:a="http://schemas.openxmlformats.org/drawingml/2006/main">
            <a:r>
              <a:t>漏测原因结合实际测试覆盖人工判断。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批量处理与异常跟进：支持勾选问题或按筛选范围执行。</a:t>
            </a:r>
          </a:p>
          <a:p xmlns:a="http://schemas.openxmlformats.org/drawingml/2006/main">
            <a:r>
              <a:t>通过并发任务处理多条问题，</a:t>
            </a:r>
          </a:p>
          <a:p xmlns:a="http://schemas.openxmlformats.org/drawingml/2006/main">
            <a:r>
              <a:t>查看进度及失败项并跟进重试。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人工核对后保存结果：对照原文检查版本、配置和判断。</a:t>
            </a:r>
          </a:p>
          <a:p xmlns:a="http://schemas.openxmlformats.org/drawingml/2006/main">
            <a:r>
              <a:t>修正后决定是否采纳并保存，</a:t>
            </a:r>
          </a:p>
          <a:p xmlns:a="http://schemas.openxmlformats.org/drawingml/2006/main">
            <a:r>
              <a:t>保留已有人工内容及必要说明。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对策实施：重点筛选与复现材料整理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解决“筛选难、复现材料不完整”：先选择值得投入的问题，再整理开展验证所需的配置与条件。</a:t>
            </a:r>
          </a:p>
          <a:p xmlns:a="http://schemas.openxmlformats.org/drawingml/2006/main">
            <a:r>
              <a:t>系统辅助完成复现前的材料准备，不能代替测试人员部署环境、执行请求或确认根因。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筛选值得验证的候选问题：按时间、版本、类型等缩小范围。</a:t>
            </a:r>
          </a:p>
          <a:p xmlns:a="http://schemas.openxmlformats.org/drawingml/2006/main">
            <a:r>
              <a:t>结合价值与复现条件排序，</a:t>
            </a:r>
          </a:p>
          <a:p xmlns:a="http://schemas.openxmlformats.org/drawingml/2006/main">
            <a:r>
              <a:t>保留完整列表复查重要问题遗漏。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提取模型与环境配置：整理模型名称、量化与并行配置。</a:t>
            </a:r>
          </a:p>
          <a:p xmlns:a="http://schemas.openxmlformats.org/drawingml/2006/main">
            <a:r>
              <a:t>提取 A2/A3/A5 硬件及软件版本，</a:t>
            </a:r>
          </a:p>
          <a:p xmlns:a="http://schemas.openxmlformats.org/drawingml/2006/main">
            <a:r>
              <a:t>没有来源支持的参数标为待确认。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梳理触发条件与错误现象：整理启动命令、请求和执行阶段。</a:t>
            </a:r>
          </a:p>
          <a:p xmlns:a="http://schemas.openxmlformats.org/drawingml/2006/main">
            <a:r>
              <a:t>关注并发、输入长度与异常日志，</a:t>
            </a:r>
          </a:p>
          <a:p xmlns:a="http://schemas.openxmlformats.org/drawingml/2006/main">
            <a:r>
              <a:t>写清预期结果和实际差异。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由测试人员补齐并验证：列出缺失参数和需要追问的信息。</a:t>
            </a:r>
          </a:p>
          <a:p xmlns:a="http://schemas.openxmlformats.org/drawingml/2006/main">
            <a:r>
              <a:t>人员准备环境并执行验证，</a:t>
            </a:r>
          </a:p>
          <a:p xmlns:a="http://schemas.openxmlformats.org/drawingml/2006/main">
            <a:r>
              <a:t>将复现是否成功及结果补回记录。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对策实施：分析记录、评审交接与材料复用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解决“分析经验难复用”：将结论、依据、补测建议和处理进展保留在统一台账，便于接手者继续工作。</a:t>
            </a:r>
          </a:p>
          <a:p xmlns:a="http://schemas.openxmlformats.org/drawingml/2006/main">
            <a:r>
              <a:t>典型问题转化为测试场景时，还需要人员补充实际执行结果，并保留来源问题与验证记录的关联。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统一维护人工分析记录：保存问题识别、结论与补测建议。</a:t>
            </a:r>
          </a:p>
          <a:p xmlns:a="http://schemas.openxmlformats.org/drawingml/2006/main">
            <a:r>
              <a:t>持续补充版本支持和处理进展，</a:t>
            </a:r>
          </a:p>
          <a:p xmlns:a="http://schemas.openxmlformats.org/drawingml/2006/main">
            <a:r>
              <a:t>让后续人员了解当前判断与待办。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按专题组织评审材料：利用筛选结果形成专项清单。</a:t>
            </a:r>
          </a:p>
          <a:p xmlns:a="http://schemas.openxmlformats.org/drawingml/2006/main">
            <a:r>
              <a:t>导出后结合原文与已有结论评审，</a:t>
            </a:r>
          </a:p>
          <a:p xmlns:a="http://schemas.openxmlformats.org/drawingml/2006/main">
            <a:r>
              <a:t>保留判断依据与尚未解决的信息缺口。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减少交接中的重复工作：接手者先查看已有分析和验证情况。</a:t>
            </a:r>
          </a:p>
          <a:p xmlns:a="http://schemas.openxmlformats.org/drawingml/2006/main">
            <a:r>
              <a:t>在此前记录上补充、修正和跟进，</a:t>
            </a:r>
          </a:p>
          <a:p xmlns:a="http://schemas.openxmlformats.org/drawingml/2006/main">
            <a:r>
              <a:t>减少重新阅读和重复收集材料。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积累可追溯的典型场景：整理配置、触发条件与验证结果。</a:t>
            </a:r>
          </a:p>
          <a:p xmlns:a="http://schemas.openxmlformats.org/drawingml/2006/main">
            <a:r>
              <a:t>转化测试材料时关联来源 Issue，</a:t>
            </a:r>
          </a:p>
          <a:p xmlns:a="http://schemas.openxmlformats.org/drawingml/2006/main">
            <a:r>
              <a:t>通过再次使用判断材料是否有价值。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实施示例：从复杂反馈整理出验证准备材料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以前述 Kimi decode 崩溃反馈为例，说明系统如何辅助整理信息，以及测试人员还需要完成哪些工作。</a:t>
            </a:r>
          </a:p>
          <a:p xmlns:a="http://schemas.openxmlformats.org/drawingml/2006/main">
            <a:r>
              <a:t>本例不代表问题已成功复现，也不代表已确认 CANN 侧根因。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材料类别：已有信息与后续处理方式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报告者提供的环境：Atlas 800I A3、CANN 9.2.0，模型为 Kimi-K3 W4A8，使用 TP16 加 EP。</a:t>
            </a:r>
          </a:p>
          <a:p xmlns:a="http://schemas.openxmlformats.org/drawingml/2006/main">
            <a:r>
              <a:t>将这些配置保留为报告者提供的信息，核对具体软件版本和完整启动参数。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触发场景与错误现象：报告者描述 prefill 正常，decode 阶段出现 keyRope 视图偏移非法错误。</a:t>
            </a:r>
          </a:p>
          <a:p xmlns:a="http://schemas.openxmlformats.org/drawingml/2006/main">
            <a:r>
              <a:t>整理日志、执行模式及对照结果，帮助测试人员确定优先验证的阶段。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仍需补齐的复现条件：核对模型来源、完整启动命令、请求内容、并发和输入长度等材料是否齐全。</a:t>
            </a:r>
          </a:p>
          <a:p xmlns:a="http://schemas.openxmlformats.org/drawingml/2006/main">
            <a:r>
              <a:t>Issue 未提供的参数明确标为待确认，不能让模型自行补造。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测试人员执行的验证：在可用的对应环境中执行请求，记录是否复现、报错位置及环境差异。</a:t>
            </a:r>
          </a:p>
          <a:p xmlns:a="http://schemas.openxmlformats.org/drawingml/2006/main">
            <a:r>
              <a:t>必要时对照 eager、图模式和不同软件环境，并记录每次实际结果。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结论与使用边界：偏移溢出属于待确认假设，需要可靠资料、算子检查或对照实验支持。</a:t>
            </a:r>
          </a:p>
          <a:p xmlns:a="http://schemas.openxmlformats.org/drawingml/2006/main">
            <a:r>
              <a:t>系统提供整理后的验证输入，实际复现、根因确认和用例转化依赖后续工作。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效果确认：逐项目标检查是否取得实际改善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截图可以展示功能与使用过程，但不能单独证明节省了多少人工或提高了多少质量。</a:t>
            </a:r>
          </a:p>
          <a:p xmlns:a="http://schemas.openxmlformats.org/drawingml/2006/main">
            <a:r>
              <a:t>以下列出需要补充的效果证据，当前没有前后对比数据的项目均保留“待确认”。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目标：效果确认方法：当前结论与所需材料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提高跟踪可靠性：同口径核对数量并抽查具体问题。</a:t>
            </a:r>
          </a:p>
          <a:p xmlns:a="http://schemas.openxmlformats.org/drawingml/2006/main">
            <a:r>
              <a:t>检查新增获取、历史更新和人工分析保留情况。：待确认。</a:t>
            </a:r>
          </a:p>
          <a:p xmlns:a="http://schemas.openxmlformats.org/drawingml/2006/main">
            <a:r>
              <a:t>补充核对清单、漏项抽查</a:t>
            </a:r>
          </a:p>
          <a:p xmlns:a="http://schemas.openxmlformats.org/drawingml/2006/main">
            <a:r>
              <a:t>和历史更新检查记录。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减少人工整理投入：比较单条 Issue 分析平均人工耗时。</a:t>
            </a:r>
          </a:p>
          <a:p xmlns:a="http://schemas.openxmlformats.org/drawingml/2006/main">
            <a:r>
              <a:t>按 SIPOC 页口径计入审核、返工与人工接续。：待确认。</a:t>
            </a:r>
          </a:p>
          <a:p xmlns:a="http://schemas.openxmlformats.org/drawingml/2006/main">
            <a:r>
              <a:t>补充纯人工基线与辅助流程工时，</a:t>
            </a:r>
          </a:p>
          <a:p xmlns:a="http://schemas.openxmlformats.org/drawingml/2006/main">
            <a:r>
              <a:t>在同一质量标准下比较。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提高重点筛选效率：人工评审候选是否值得投入测试。</a:t>
            </a:r>
          </a:p>
          <a:p xmlns:a="http://schemas.openxmlformats.org/drawingml/2006/main">
            <a:r>
              <a:t>抽查被筛问题中的重要遗漏和评审分歧。：待确认。</a:t>
            </a:r>
          </a:p>
          <a:p xmlns:a="http://schemas.openxmlformats.org/drawingml/2006/main">
            <a:r>
              <a:t>补充候选评审、遗漏复查</a:t>
            </a:r>
          </a:p>
          <a:p xmlns:a="http://schemas.openxmlformats.org/drawingml/2006/main">
            <a:r>
              <a:t>和筛选准备耗时记录。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提高复现材料</a:t>
            </a:r>
          </a:p>
          <a:p xmlns:a="http://schemas.openxmlformats.org/drawingml/2006/main">
            <a:r>
              <a:t>完整性：检查模型配置、环境、触发条件和缺失信息。</a:t>
            </a:r>
          </a:p>
          <a:p xmlns:a="http://schemas.openxmlformats.org/drawingml/2006/main">
            <a:r>
              <a:t>由测试人员反馈材料是否支持开展验证。：待确认。</a:t>
            </a:r>
          </a:p>
          <a:p xmlns:a="http://schemas.openxmlformats.org/drawingml/2006/main">
            <a:r>
              <a:t>补充参数完整性检查，</a:t>
            </a:r>
          </a:p>
          <a:p xmlns:a="http://schemas.openxmlformats.org/drawingml/2006/main">
            <a:r>
              <a:t>记录补采情况及实际执行反馈。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提高材料复用能力：检查分析能否接续、交接是否减少重复工作。</a:t>
            </a:r>
          </a:p>
          <a:p xmlns:a="http://schemas.openxmlformats.org/drawingml/2006/main">
            <a:r>
              <a:t>跟踪典型材料在其他问题或测试中的实际使用。：待确认。</a:t>
            </a:r>
          </a:p>
          <a:p xmlns:a="http://schemas.openxmlformats.org/drawingml/2006/main">
            <a:r>
              <a:t>补充交接使用、重复工作变化</a:t>
            </a:r>
          </a:p>
          <a:p xmlns:a="http://schemas.openxmlformats.org/drawingml/2006/main">
            <a:r>
              <a:t>和材料复用关联记录。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效果确认：建立可重复的基线与对照评价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采用一致的样本范围和评价口径，避免只展示容易处理的问题或只统计模型输出。</a:t>
            </a:r>
          </a:p>
          <a:p xmlns:a="http://schemas.openxmlformats.org/drawingml/2006/main">
            <a:r>
              <a:t>具体比例阈值在第一轮基线后评审确定，后续用新样本验证规则调整是否有效。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评价环节：具体实施方式：需要保留的证据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选取代表性样本：覆盖缺陷、文档、咨询及不同信息完整度。</a:t>
            </a:r>
          </a:p>
          <a:p xmlns:a="http://schemas.openxmlformats.org/drawingml/2006/main">
            <a:r>
              <a:t>统一仓库、时间范围和样本复杂度，</a:t>
            </a:r>
          </a:p>
          <a:p xmlns:a="http://schemas.openxmlformats.org/drawingml/2006/main">
            <a:r>
              <a:t>避免只选择短正文或容易判断的问题。：样本清单、数量和选取规则。</a:t>
            </a:r>
          </a:p>
          <a:p xmlns:a="http://schemas.openxmlformats.org/drawingml/2006/main">
            <a:r>
              <a:t>参与人员与执行时间。</a:t>
            </a:r>
          </a:p>
          <a:p xmlns:a="http://schemas.openxmlformats.org/drawingml/2006/main">
            <a:r>
              <a:t>问题类型和材料复杂度说明。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记录纯人工基线：按原有方式完成查找、阅读与资料整理。</a:t>
            </a:r>
          </a:p>
          <a:p xmlns:a="http://schemas.openxmlformats.org/drawingml/2006/main">
            <a:r>
              <a:t>分别记录各环节耗时及缺失参数，</a:t>
            </a:r>
          </a:p>
          <a:p xmlns:a="http://schemas.openxmlformats.org/drawingml/2006/main">
            <a:r>
              <a:t>检查原有交接是否需要重复收集信息。：分环节工时。</a:t>
            </a:r>
          </a:p>
          <a:p xmlns:a="http://schemas.openxmlformats.org/drawingml/2006/main">
            <a:r>
              <a:t>配置与触发条件检查结果。</a:t>
            </a:r>
          </a:p>
          <a:p xmlns:a="http://schemas.openxmlformats.org/drawingml/2006/main">
            <a:r>
              <a:t>原有交接过程和重复工作记录。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执行辅助流程并审核：通过台账、筛选与 AI 建议辅助处理。</a:t>
            </a:r>
          </a:p>
          <a:p xmlns:a="http://schemas.openxmlformats.org/drawingml/2006/main">
            <a:r>
              <a:t>人员核对、修正并补齐材料，</a:t>
            </a:r>
          </a:p>
          <a:p xmlns:a="http://schemas.openxmlformats.org/drawingml/2006/main">
            <a:r>
              <a:t>同时抽查候选和筛选之外的重要问题。：人工总耗时与审核修正情况。</a:t>
            </a:r>
          </a:p>
          <a:p xmlns:a="http://schemas.openxmlformats.org/drawingml/2006/main">
            <a:r>
              <a:t>候选有效性和重要遗漏。</a:t>
            </a:r>
          </a:p>
          <a:p xmlns:a="http://schemas.openxmlformats.org/drawingml/2006/main">
            <a:r>
              <a:t>失败重试、补采和实际使用反馈。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判断达成情况并复评：按各项目标比较基线与对照结果。</a:t>
            </a:r>
          </a:p>
          <a:p xmlns:a="http://schemas.openxmlformats.org/drawingml/2006/main">
            <a:r>
              <a:t>未改善时回看材料、规则或使用方式，</a:t>
            </a:r>
          </a:p>
          <a:p xmlns:a="http://schemas.openxmlformats.org/drawingml/2006/main">
            <a:r>
              <a:t>调整后用另一批样本再次评价。：目标达成结论及其依据。</a:t>
            </a:r>
          </a:p>
          <a:p xmlns:a="http://schemas.openxmlformats.org/drawingml/2006/main">
            <a:r>
              <a:t>尚未解决的问题与改进措施。</a:t>
            </a:r>
          </a:p>
          <a:p xmlns:a="http://schemas.openxmlformats.org/drawingml/2006/main">
            <a:r>
              <a:t>新一轮样本的复评结果。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总结：项目价值与后续优化重点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issue-tracker 将社区问题获取、筛选、分析和材料保存集中到同一工作入口，支持测试人员持续开展分析。</a:t>
            </a:r>
          </a:p>
          <a:p xmlns:a="http://schemas.openxmlformats.org/drawingml/2006/main">
            <a:r>
              <a:t>项目价值需要结合实际使用、人工投入变化和测试验证贡献持续确认。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统一台账提供基础价值：持续跟进新增与历史更新，保留本地人工分析，减少跨页面查找、重复核对和交接中的资料分散。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辅助降低重复整理工作：帮助人员阅读、归纳和提取材料，支持批量处理。人员负责证据核对和结论把关，持续评估审核后的实际收益。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筛选与材料整理支撑测试准备：形成重点候选，整理模型、环境与触发条件，明确缺失信息。实际复现和根因确认仍需人员与实验环境完成。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后续优化以证据为依据：补充完整性核对、人工工时、候选有效性和材料复用记录。根据错误与返工情况优化提示词、筛选规则和分析流程。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cf5f34a3f4b2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0ac3b0d3f740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f8f74152444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028acf3a24a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73d6cc81d47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f3adaeef4043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787BE1-127E-4160-AFDA-21A0ACB25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B68BDA-F8C6-4AD1-AA3B-0BB490A4E1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EB2ABB-D5BA-4F53-992C-B20FA7CE41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C7121D-C305-4E2A-BC94-CADA64807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9E6A16-2D90-49F3-B3C2-ACF8D34E56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80EAB0-C13F-4D4C-88CB-CD1612E4CD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807F3E-51DA-40FF-B377-A0FE2028F4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E369D3-A98A-4A77-AC5F-7F2F70E2A7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C04562-169F-4440-B3E4-7F4AC1E38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E7511E-08DC-424C-B022-1A6D3714A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5987b1b47f495b" /><Relationship Type="http://schemas.openxmlformats.org/officeDocument/2006/relationships/slideLayout" Target="/ppt/slideLayouts/slideLayout1.xml" Id="R90f795a6f5ed405c" /><Relationship Type="http://schemas.openxmlformats.org/officeDocument/2006/relationships/slideLayout" Target="/ppt/slideLayouts/slideLayout2.xml" Id="Re6e8ea40b6c94be7" /><Relationship Type="http://schemas.openxmlformats.org/officeDocument/2006/relationships/slideLayout" Target="/ppt/slideLayouts/slideLayout3.xml" Id="R58777969047f49fd" /><Relationship Type="http://schemas.openxmlformats.org/officeDocument/2006/relationships/slideLayout" Target="/ppt/slideLayouts/slideLayout4.xml" Id="Rdeb10c5885004083" /><Relationship Type="http://schemas.openxmlformats.org/officeDocument/2006/relationships/slideLayout" Target="/ppt/slideLayouts/slideLayout5.xml" Id="R46fc5ce970d44494" /><Relationship Type="http://schemas.openxmlformats.org/officeDocument/2006/relationships/slideLayout" Target="/ppt/slideLayouts/slideLayout6.xml" Id="R90c10bd6e47e4e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f795a6f5ed405c"/>
    <p:sldLayoutId xmlns:r="http://schemas.openxmlformats.org/officeDocument/2006/relationships" id="2147483650" r:id="Re6e8ea40b6c94be7"/>
    <p:sldLayoutId xmlns:r="http://schemas.openxmlformats.org/officeDocument/2006/relationships" id="2147483651" r:id="R58777969047f49fd"/>
    <p:sldLayoutId xmlns:r="http://schemas.openxmlformats.org/officeDocument/2006/relationships" id="2147483652" r:id="Rdeb10c5885004083"/>
    <p:sldLayoutId xmlns:r="http://schemas.openxmlformats.org/officeDocument/2006/relationships" id="2147483653" r:id="R46fc5ce970d44494"/>
    <p:sldLayoutId xmlns:r="http://schemas.openxmlformats.org/officeDocument/2006/relationships" id="2147483654" r:id="R90c10bd6e47e4e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8db6918e8e4e3f" /><Relationship Type="http://schemas.openxmlformats.org/officeDocument/2006/relationships/notesSlide" Target="/ppt/notesSlides/notesSlide1.xml" Id="Rda163617bf764a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90ffad86784a65" /><Relationship Type="http://schemas.openxmlformats.org/officeDocument/2006/relationships/notesSlide" Target="/ppt/notesSlides/notesSlide2.xml" Id="R2c35ded4783046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1e5d85bc754eb8" /><Relationship Type="http://schemas.openxmlformats.org/officeDocument/2006/relationships/notesSlide" Target="/ppt/notesSlides/notesSlide3.xml" Id="R9423c19b29ce48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8ae74d0a4f4ab4" /><Relationship Type="http://schemas.openxmlformats.org/officeDocument/2006/relationships/image" Target="/ppt/media/image.png" Id="R1c1d6450f45545d9" /><Relationship Type="http://schemas.openxmlformats.org/officeDocument/2006/relationships/image" Target="/ppt/media/image.svg" Id="Ra0d6bd7818324459" /><Relationship Type="http://schemas.openxmlformats.org/officeDocument/2006/relationships/notesSlide" Target="/ppt/notesSlides/notesSlide4.xml" Id="Re4a93f6af3ec4a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14d8b7c63c4649" /><Relationship Type="http://schemas.openxmlformats.org/officeDocument/2006/relationships/notesSlide" Target="/ppt/notesSlides/notesSlide5.xml" Id="R9dadd8cc2e9544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b23845373845ed" /><Relationship Type="http://schemas.openxmlformats.org/officeDocument/2006/relationships/notesSlide" Target="/ppt/notesSlides/notesSlide6.xml" Id="Rb7423252a7194b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729a59cd7c4b9b" /><Relationship Type="http://schemas.openxmlformats.org/officeDocument/2006/relationships/notesSlide" Target="/ppt/notesSlides/notesSlide7.xml" Id="R7ceb811a26444f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627943d1f64bc6" /><Relationship Type="http://schemas.openxmlformats.org/officeDocument/2006/relationships/notesSlide" Target="/ppt/notesSlides/notesSlide8.xml" Id="R76d0fa8c356649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74ad40c8414c35" /><Relationship Type="http://schemas.openxmlformats.org/officeDocument/2006/relationships/notesSlide" Target="/ppt/notesSlides/notesSlide9.xml" Id="Re6b0241bbcb641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ce20d3fe3d40e9" /><Relationship Type="http://schemas.openxmlformats.org/officeDocument/2006/relationships/notesSlide" Target="/ppt/notesSlides/notesSlide10.xml" Id="R425983d228454b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d0f4845e444e9" /><Relationship Type="http://schemas.openxmlformats.org/officeDocument/2006/relationships/notesSlide" Target="/ppt/notesSlides/notesSlide11.xml" Id="R7c17b8cfbe6d46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01feaed1884c63" /><Relationship Type="http://schemas.openxmlformats.org/officeDocument/2006/relationships/notesSlide" Target="/ppt/notesSlides/notesSlide12.xml" Id="R6f53e5b3b7004c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1e2c1ad1dd418b" /><Relationship Type="http://schemas.openxmlformats.org/officeDocument/2006/relationships/notesSlide" Target="/ppt/notesSlides/notesSlide13.xml" Id="R285576b7bd8443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a80298d40e40d2" /><Relationship Type="http://schemas.openxmlformats.org/officeDocument/2006/relationships/notesSlide" Target="/ppt/notesSlides/notesSlide14.xml" Id="Rba8dea9b70994b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efe2c7398f45d2" /><Relationship Type="http://schemas.openxmlformats.org/officeDocument/2006/relationships/notesSlide" Target="/ppt/notesSlides/notesSlide15.xml" Id="R44ee671353cf44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706F29-BD9C-401F-A2BE-20D70A8D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issue-tracker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AD5F1349-E349-46D3-A280-DC777554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社区问题管理与测试分析</a:t>
            </a:r>
          </a:p>
        </p:txBody>
      </p:sp>
      <p:sp>
        <p:nvSpPr>
          <p:cNvPr id="4" name="cover-subject">
            <a:extLst xmlns:a="http://schemas.openxmlformats.org/drawingml/2006/main">
              <a:ext uri="{FF2B5EF4-FFF2-40B4-BE49-F238E27FC236}">
                <a16:creationId xmlns:a16="http://schemas.microsoft.com/office/drawing/2014/main" id="{C4E4864C-CEED-435A-ACA6-8A532A10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1590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项目改进汇报</a:t>
            </a:r>
          </a:p>
        </p:txBody>
      </p:sp>
      <p:sp>
        <p:nvSpPr>
          <p:cNvPr id="5" name="cover-body">
            <a:extLst xmlns:a="http://schemas.openxmlformats.org/drawingml/2006/main">
              <a:ext uri="{FF2B5EF4-FFF2-40B4-BE49-F238E27FC236}">
                <a16:creationId xmlns:a16="http://schemas.microsoft.com/office/drawing/2014/main" id="{DF523898-F2C8-4772-A08C-A2AC4F85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86375"/>
            <a:ext cx="15525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现状调查、根因分析、目标设定</a:t>
            </a:r>
          </a:p>
          <a:p xmlns:a="http://schemas.openxmlformats.org/drawingml/2006/main">
            <a: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对策实施与效果确认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90CE74A1-0295-45D3-ADCC-10BAB269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096250"/>
            <a:ext cx="1428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5193776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3435A2-F272-464D-BE2D-18AFD9BA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现状调查：社区 Issue 管理的五项痛点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84911C80-CEE2-462B-8A32-58241F8B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社区反馈持续增加，正文、评论和处理进展分散。测试人员需要先收集、阅读和判断，再准备验证材料。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以下痛点来自项目需求与使用反馈，具体耗时和遗漏比例仍需建立统计基线。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35BF9-7491-403B-930C-0DBB51730D0E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10500"/>
                <a:gridCol w="5334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痛点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具体表现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对测试工作的影响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持续跟踪困难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新增问题、历史更新和维护者回复需要反复查看。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正文、评论与状态变化缺少统一的跟踪入口。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容易重复查找与核对。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重要更新可能未能及时跟进。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人工整理投入大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逐条阅读长正文、多轮评论和错误日志。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重复提取问题现象、环境配置与处理进展。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资料准备占用分析精力。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集中梳理大量问题时耗时明显。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重点问题筛选难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缺陷、文档、咨询和 RFC 混杂在完整列表中。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价值、版本适用性和复现条件需要分别判断。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测试资源难以确定投入顺序。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重要缺陷可能被低相关反馈淹没。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复现材料不完整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模型、量化、并行方式与软硬件版本组合复杂。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启动参数、触发请求或复现步骤可能缺失。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需要重新翻阅正文与评论补齐参数。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难以判断是否具备开展验证的条件。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分析经验难复用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分析结论、补测建议与处理进展分散保存。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交接时缺少可直接接续的材料和判断依据。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接手者重复阅读与分析。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典型问题难以积累为后续测试输入。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0312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A92B60-30A7-43B5-B34C-141BFED0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SIPOC：流程范围与关键指标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E174141C-128A-40CD-A8FC-FE7FA168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使用方需要有依据、可接续的分析记录，项目通过统一台账、筛选和辅助整理减少形成这些材料的人工投入。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据此提出主指标“单条 Issue 分析平均人工耗时”，在输出质量满足要求的前提下比较改进前后变化。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8D6BE-91C1-4153-B5B7-AF50BF99E470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333750"/>
                <a:gridCol w="3429000"/>
                <a:gridCol w="3524250"/>
                <a:gridCol w="29527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 供应方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 输入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 处理过程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 输出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使用方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2619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Issue 提交者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社区维护者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参与讨论的用户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提供问题与后续反馈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正文、评论与日志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标签、状态与版本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模型、环境配置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已有人工分析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保留来源与信息缺口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同步获取与集中查看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筛选并确定分析范围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人工或 AI 辅助归纳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人员审核、修正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保存记录与专题导出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经审核的分析记录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问题判断与依据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关键配置与信息缺口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后续验证或跟进建议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为复现提供准备材料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测试人员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开发与问题负责人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评审和交接人员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据此判断下一步工作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主指标名称">
            <a:extLst xmlns:a="http://schemas.openxmlformats.org/drawingml/2006/main">
              <a:ext uri="{FF2B5EF4-FFF2-40B4-BE49-F238E27FC236}">
                <a16:creationId xmlns:a16="http://schemas.microsoft.com/office/drawing/2014/main" id="{62271B47-D2B2-4BDC-98BF-32DB8153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3412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关键指标：单条 Issue 分析平均人工耗时（分钟／条）</a:t>
            </a:r>
          </a:p>
        </p:txBody>
      </p:sp>
      <p:sp>
        <p:nvSpPr>
          <p:cNvPr id="6" name="主指标公式">
            <a:extLst xmlns:a="http://schemas.openxmlformats.org/drawingml/2006/main">
              <a:ext uri="{FF2B5EF4-FFF2-40B4-BE49-F238E27FC236}">
                <a16:creationId xmlns:a16="http://schemas.microsoft.com/office/drawing/2014/main" id="{E56C76BA-0BF4-4CDD-B746-7120F9D2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1992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计算公式：样本全部参与人员的分析总工时（分钟） ÷ 样本 Issue 数量</a:t>
            </a:r>
          </a:p>
        </p:txBody>
      </p:sp>
      <p:sp>
        <p:nvSpPr>
          <p:cNvPr id="7" name="指标计量边界">
            <a:extLst xmlns:a="http://schemas.openxmlformats.org/drawingml/2006/main">
              <a:ext uri="{FF2B5EF4-FFF2-40B4-BE49-F238E27FC236}">
                <a16:creationId xmlns:a16="http://schemas.microsoft.com/office/drawing/2014/main" id="{4DEEF4E7-6A3E-4F43-BB9D-95CBC68A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715250"/>
            <a:ext cx="1609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统计口径：从收集信息到审核保存分析记录，累计查找、阅读、提取、审核、修正及返工的人工时间。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固定样本清单，逐条完成记录；AI 失败后的人工接续照计，不只统计成功项，无人值守等待不计人工工时。</a:t>
            </a:r>
          </a:p>
        </p:txBody>
      </p:sp>
      <p:sp>
        <p:nvSpPr>
          <p:cNvPr id="8" name="指标对照和质量要求">
            <a:extLst xmlns:a="http://schemas.openxmlformats.org/drawingml/2006/main">
              <a:ext uri="{FF2B5EF4-FFF2-40B4-BE49-F238E27FC236}">
                <a16:creationId xmlns:a16="http://schemas.microsoft.com/office/drawing/2014/main" id="{7EC86A07-CBED-45B8-8F43-0F7425AC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1609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对照要求：使用相近类型与复杂度的样本，统一完成标准，比较纯人工与辅助流程。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质量前提：结论可追溯、信息缺口明确、材料经使用方审核。当前基线待采集，目标值在首轮统计后确定。</a:t>
            </a:r>
          </a:p>
        </p:txBody>
      </p:sp>
    </p:spTree>
    <p:extLst>
      <p:ext uri="{BB962C8B-B14F-4D97-AF65-F5344CB8AC3E}">
        <p14:creationId xmlns:p14="http://schemas.microsoft.com/office/powerpoint/2010/main" val="15232660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9E3046-D6C5-443A-845B-BDD77617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根因分析：社区反馈转化为测试输入的障碍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EA5FD49E-25AC-4FD3-AF62-FD1C0BA4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从信息获取、分析方法、环境配置、人员协作、工作流程和知识沉淀六个方面展开原因。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鱼骨图列出可能因素，后续需要用流程走查、样本检查和对照验证确认主要原因。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1E7D1-6A09-4328-8F3E-FE25752D8D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d6450f45545d9">
            <a:extLst>
              <a:ext uri="{96DAC541-7B7A-43D3-8B79-37D633B846F1}">
                <asvg:svgBlip xmlns:asvg="http://schemas.microsoft.com/office/drawing/2016/SVG/main" r:embed="Ra0d6bd7818324459"/>
              </a:ext>
            </a:extLst>
          </a:blip>
          <a:srcRect xmlns:a="http://schemas.openxmlformats.org/drawingml/2006/main" l="0" t="17000" r="0" b="10000"/>
          <a:stretch xmlns:a="http://schemas.openxmlformats.org/drawingml/2006/main"/>
        </p:blipFill>
        <p:spPr>
          <a:xfrm xmlns:a="http://schemas.openxmlformats.org/drawingml/2006/main">
            <a:off x="476250" y="2714625"/>
            <a:ext cx="17335500" cy="6762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0556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C430C7-77EC-41BD-ACBF-432191B1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目标设定：明确希望改善什么、如何验收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E6405C41-D260-4706-A340-CEEA6DE8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整体目标是持续跟踪社区问题，减少重复整理，帮助人员选择重点验证对象，并积累可继续使用的分析材料。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目标描述的是希望取得的改进，是否达成需要结合实际使用数据和测试人员反馈判断。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61469-7506-45E0-B864-5B4721B56D11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334250"/>
                <a:gridCol w="58102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具体含义与项目解决方式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验收依据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提高跟踪可靠性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集中维护问题列表，持续同步新增和历史更新。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统一仓库、时间和状态口径，支持全量核对。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社区字段更新时保留本地人工分析。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同口径核对问题数量并抽查具体条目。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检查历史更新是否跟进。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确认人工结论未被同步覆盖。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减少人工整理投入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集中展示原文与评论，减少跨页面查找。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辅助归纳摘要与补测建议，支持批量处理。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人员核对和修正后使用结果。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对比单条 Issue 分析平均人工耗时。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包括查找、阅读、审核与修正。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质量标准一致，计入错误与返工。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提高重点筛选效率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按时间、状态、标签和版本收敛范围。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结合价值与复现条件形成优先处理候选。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保留完整列表，人工复查重要遗漏。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人工评审候选是否值得投入测试。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抽查筛选结果之外的重要问题。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观察筛选准备时间与判断分歧。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提高复现材料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辅助提取模型配置、硬件环境和软件版本。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整理触发条件、预期结果和已知错误现象。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明确缺失信息，实际复现仍由测试人员执行。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检查关键参数与待确认项是否清楚。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由测试人员评估材料能否用于验证。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不能将材料生成等同于复现成功。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提高分析材料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复用能力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将人工结论、补测建议和进展保存在台账。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支持按专题整理与导出，便于评审交接。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关联来源问题，积累典型测试场景。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检查接手者能否继续分析而非重做。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记录材料在同类问题中的实际使用。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跟踪与测试验证记录的关联。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090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B2FF9A-9962-41AB-9DF9-B8A0AC3A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主要原因与改进方向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034FFD25-74C0-4BDB-890E-2B81379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根据现状与鱼骨图，将需要重点改善的原因归纳为三个方面，并对应到后续五项具体对策。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以下是基于需求与使用反馈的初步判断，实际作用需结合工时、遗漏和材料使用记录持续核验。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7A26C-133B-4A39-B0DA-490E56C8AEFE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6191250"/>
                <a:gridCol w="63817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主要原因判断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对工作的影响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对应的改进方向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信息与分析记录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分散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新增、历史更新和人工结论缺少集中管理。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人员在不同页面与材料间反复查找、核对。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交接时难以接续已有判断，容易重复收集信息。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持续同步与统一问题列表：集中获取、跟进更新。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分析记录与协作复用：保留结论、进展和依据。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通过专题导出支持评审交接，减少重复查找。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阅读归纳与配置提取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依赖人工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长正文、多轮评论与日志需要逐条阅读整理。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模型、软硬件环境和触发参数分散，容易遗漏。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缺少固定检查项时，需要再次翻阅和补采。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辅助与批量任务：减少重复阅读和资料归纳。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复现材料整理：在“补充测试”中梳理关键条件。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明确缺失参数，由人员审核、补齐并执行验证。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价值与复现性判断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缺少统一口径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对问题价值、版本适用性和复现条件判断不一。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重点候选难以确定，人员评审容易出现分歧。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高价值但信息不足的问题可能过早排除。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多维筛选与统一评价：明确候选选择和排序依据。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保留完整列表，对重要但信息不足的问题复查。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结合人工评审与遗漏检查，持续调整筛选规则。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033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F89DE4-45BB-4A67-875E-FA3F9300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拟定对策：针对每项痛点设计解决方案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D3CD1B84-799C-4D65-956F-80F1CD14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各项对策共同服务于项目整体目标。AI 主要用于辅助整理，统一台账、筛选和人工记录也能独立提供价值。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方案是否有效，需要同时考虑人员投入、分析质量及后续测试使用情况。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9CBB9-B235-4372-B1A4-8458FC0CD2E8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10500"/>
                <a:gridCol w="5334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针对的痛点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解决方案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预期形成的工作材料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持续跟踪困难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全量同步与增量更新结合，提供手动校准入口。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统一仓库、时间和状态口径，集中查看问题。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分别维护社区信息与本地人工分析。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持续更新的问题台账。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可核对的专项清单。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历史更新与人工分析记录。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人工整理投入大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集中提供正文、评论和已有分析作为上下文。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辅助归纳，支持选中问题和筛选范围批量处理。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人员审核、修正并决定是否采纳建议。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待审核的结构化建议。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批量任务进度与失败项。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人工审核后的分析结果。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重点问题筛选难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按日期、状态、标签和版本缩小分析范围。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结合价值与复现条件形成候选排序。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过滤文档、RFC 等类型时保留完整列表供复查。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重点验证候选及筛选依据。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人工补充的价值判断。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重要遗漏的复查记录。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复现材料不完整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按模型、配置、环境和触发场景整理补测材料。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明确哪些参数来自原文，哪些信息尚未提供。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测试人员补齐条件后执行验证并记录结果。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模型与软硬件配置清单。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复现场景及缺失参数。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后续验证动作与结果记录。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分析经验难复用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集中保存分析结论、补测建议与处理进展。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支持按专题整理、导出和交接。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在测试材料中保留来源 Issue 及判断依据。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可接续的分析台账。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专题评审与交接材料。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典型场景及其来源记录。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471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F67E81-974B-4722-94C7-B8DFBD0A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对策实施：持续同步与统一台账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4BD66A5D-D605-48B2-99AF-E927B744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解决“持续跟踪困难”：把分散的问题信息收敛到统一入口，支持持续更新、专项筛选和完整性核对。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统计时需要统一仓库、时间、状态以及是否包含 PR，避免把统计口径差异误判为数据遗漏。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D45127B9-8D40-429E-9436-9D35C2BD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明确同步与核对范围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1E544863-DE90-4B66-96C7-82B530D3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统一仓库、日期和状态条件。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对照同一口径的问题数量与具体条目，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同时检查新增问题和历史更新。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D36D6860-977C-40FC-8F7E-7A3E30BE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持续维护问题台账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E26FA8A4-50AA-41E6-8A73-A7DCD534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全量获取用于建立和校准台账，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增量同步用于日常跟进。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同步完成后仍需关注异常与漏项。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CDEC3BA8-0B08-47D7-A58C-5B1FBA86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保护本地人工分析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565C740A-050F-40B7-927F-F4D3967C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社区字段与人工结论分开维护。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更新标题、正文和状态时，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保留已有分析、备注与补测建议。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EE19ED29-402B-428F-B5B1-2042F8CA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形成可检查的专项清单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62B8B982-1476-46FA-9B42-F9E0404D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按时间、状态、标签等收敛范围。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通过清单逐项核对更新与遗漏，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减少反复打开社区页面查找。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318F2C75-7667-4B2E-95A7-BCF4C72B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实际界面：问题列表与同步状态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D4D44FB7-117A-4C0F-AD1F-8D41BE93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78F2AEF2-15FF-40B0-AC99-CDB6CF68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DC549E73-B1C0-413C-B174-0915661F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建议粘贴问题列表、同步状态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或同口径数量核对截图</a:t>
            </a:r>
          </a:p>
        </p:txBody>
      </p:sp>
    </p:spTree>
    <p:extLst>
      <p:ext uri="{BB962C8B-B14F-4D97-AF65-F5344CB8AC3E}">
        <p14:creationId xmlns:p14="http://schemas.microsoft.com/office/powerpoint/2010/main" val="18027242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B93033-93D5-4C5F-8A00-8B2925D2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对策实施：AI 辅助分析与批量任务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83DBB34E-63F0-4410-A8A5-FEB13D50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解决“人工整理投入大”：由模型先整理材料，人员再核对证据、修正结论并决定是否采纳。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AI 模块仍需持续评估，效率收益应包含审核、修正和失败重试成本，不能仅看生成建议数量。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EBB181C8-CD78-4CC0-96C7-13AB8493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准备可靠的分析上下文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B66487E3-C295-4E55-BB06-BEE0F0D4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结合正文、评论和已有分析。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明确材料来源与缺失部分，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避免模型把推测当成已确认事实。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A629C96B-84A6-4690-B7A6-171F1621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生成待审核的结构化建议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15D7112A-F26F-44A8-9D42-15403D05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归纳问题摘要、现象和补测建议。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区分事实、可能原因与待确认参数，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漏测原因结合实际测试覆盖人工判断。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27F8168C-2629-46B4-9CC2-AAF0C690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批量处理与异常跟进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03D5C6E1-E17A-49D5-8B06-4B734A4D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支持勾选问题或按筛选范围执行。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通过并发任务处理多条问题，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查看进度及失败项并跟进重试。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00FFCECF-AA64-42E0-8EAF-411D0FD6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人工核对后保存结果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42081E4D-01CE-4B78-9E2B-DE3A387B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对照原文检查版本、配置和判断。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修正后决定是否采纳并保存，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保留已有人工内容及必要说明。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5CC604E1-04A4-491C-84D9-219AB984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实际界面：分析建议与批量任务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D1AC7D05-CC9D-48FD-B2C9-646A9408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96B1E8F4-BD93-44D0-9E9E-F289043F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F25C1917-CDA9-4400-9EFB-E4B03F18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 AI 建议、审核采纳界面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或批量分析进度截图</a:t>
            </a:r>
          </a:p>
        </p:txBody>
      </p:sp>
    </p:spTree>
    <p:extLst>
      <p:ext uri="{BB962C8B-B14F-4D97-AF65-F5344CB8AC3E}">
        <p14:creationId xmlns:p14="http://schemas.microsoft.com/office/powerpoint/2010/main" val="8056103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A619FD-CD24-4279-AF5F-12BC61CF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对策实施：重点筛选与复现材料整理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EC83922D-5A13-4768-B3B2-A61D4EFD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解决“筛选难、复现材料不完整”：先选择值得投入的问题，再整理开展验证所需的配置与条件。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系统辅助完成复现前的材料准备，不能代替测试人员部署环境、执行请求或确认根因。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9FC90B15-3C4E-4741-81BA-ACC75E3A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筛选值得验证的候选问题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2EE78BFA-3099-447E-A372-EE70B89A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按时间、版本、类型等缩小范围。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结合价值与复现条件排序，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保留完整列表复查重要问题遗漏。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E7D95BDB-558E-4CCF-8719-25D5DE75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提取模型与环境配置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3192AC76-89B8-4AB2-99F5-0FDDE288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整理模型名称、量化与并行配置。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提取 A2/A3/A5 硬件及软件版本，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没有来源支持的参数标为待确认。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070C4D78-437D-4D45-9E30-AC57D77E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梳理触发条件与错误现象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A96F2C9E-71A4-4AC2-97C6-9EA9BCBF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整理启动命令、请求和执行阶段。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关注并发、输入长度与异常日志，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写清预期结果和实际差异。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C8E4AC5C-CB3C-4E4B-A111-F843556C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由测试人员补齐并验证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722C0B2E-8052-4A10-9768-F752B9BB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列出缺失参数和需要追问的信息。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人员准备环境并执行验证，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将复现是否成功及结果补回记录。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9E9B76C2-76FC-429A-A8B8-82ACBD67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实际界面：候选清单与配置材料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9B135204-F5D6-401C-B245-CC16EC05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3F7B0520-D71D-477E-9900-2928BCFF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DD5C8852-2E46-48D6-9D97-E8962923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建议粘贴重点候选列表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或模型、环境、复现场景分析截图</a:t>
            </a:r>
          </a:p>
        </p:txBody>
      </p:sp>
    </p:spTree>
    <p:extLst>
      <p:ext uri="{BB962C8B-B14F-4D97-AF65-F5344CB8AC3E}">
        <p14:creationId xmlns:p14="http://schemas.microsoft.com/office/powerpoint/2010/main" val="14386887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7C6356-E2B9-40D7-A4C1-ACE9EB31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对策实施：分析记录、评审交接与材料复用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2BE3B337-9430-46D2-AEDA-01D86041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解决“分析经验难复用”：将结论、依据、补测建议和处理进展保留在统一台账，便于接手者继续工作。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典型问题转化为测试场景时，还需要人员补充实际执行结果，并保留来源问题与验证记录的关联。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4840619B-4979-4D71-B2B9-BDF188F7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统一维护人工分析记录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7A988BE0-649C-4308-87B7-427D3FA2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保存问题识别、结论与补测建议。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持续补充版本支持和处理进展，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让后续人员了解当前判断与待办。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B16CABC7-2FC3-492C-8818-6E68901F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按专题组织评审材料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9A3C10E5-95D6-40BA-A0CF-F2230C21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利用筛选结果形成专项清单。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导出后结合原文与已有结论评审，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保留判断依据与尚未解决的信息缺口。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1DFFFC64-1F84-4997-A6C8-26C4DB90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减少交接中的重复工作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5C3A00F8-79B5-4A2F-82A8-3C1EDF56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接手者先查看已有分析和验证情况。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在此前记录上补充、修正和跟进，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减少重新阅读和重复收集材料。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02FFDDF2-C8F0-4197-8777-5D9FDE07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积累可追溯的典型场景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46FB0E56-83E3-4FB9-956C-F453788B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整理配置、触发条件与验证结果。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转化测试材料时关联来源 Issue，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通过再次使用判断材料是否有价值。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90AC39E9-AB4D-42F1-B2CC-9783CF2B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实际界面：分析记录与评审导出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48D5DCB7-B9A6-4336-BF9C-B58A0CA3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BDFAF922-5A74-4A55-B12E-216B2AA8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38A7A593-A4FD-4C3F-BA2A-3DE0FCF3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建议粘贴人工分析、处理进展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或专题清单导出结果截图</a:t>
            </a:r>
          </a:p>
        </p:txBody>
      </p:sp>
    </p:spTree>
    <p:extLst>
      <p:ext uri="{BB962C8B-B14F-4D97-AF65-F5344CB8AC3E}">
        <p14:creationId xmlns:p14="http://schemas.microsoft.com/office/powerpoint/2010/main" val="6074947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F3B1F0-BDC5-4825-92E5-D8B70F6C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实施示例：从复杂反馈整理出验证准备材料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B357406A-8052-4E2C-986C-7AD05C09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以前述 Kimi decode 崩溃反馈为例，说明系统如何辅助整理信息，以及测试人员还需要完成哪些工作。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本例不代表问题已成功复现，也不代表已确认 CANN 侧根因。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ACAC6-1896-4E77-8022-2AF8B7498A8A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12573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材料类别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已有信息与后续处理方式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报告者提供的环境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Atlas 800I A3、CANN 9.2.0，模型为 Kimi-K3 W4A8，使用 TP16 加 EP。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将这些配置保留为报告者提供的信息，核对具体软件版本和完整启动参数。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触发场景与错误现象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报告者描述 prefill 正常，decode 阶段出现 keyRope 视图偏移非法错误。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整理日志、执行模式及对照结果，帮助测试人员确定优先验证的阶段。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仍需补齐的复现条件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核对模型来源、完整启动命令、请求内容、并发和输入长度等材料是否齐全。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Issue 未提供的参数明确标为待确认，不能让模型自行补造。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测试人员执行的验证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在可用的对应环境中执行请求，记录是否复现、报错位置及环境差异。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必要时对照 eager、图模式和不同软件环境，并记录每次实际结果。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结论与使用边界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偏移溢出属于待确认假设，需要可靠资料、算子检查或对照实验支持。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系统提供整理后的验证输入，实际复现、根因确认和用例转化依赖后续工作。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0799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F09BB1-7368-455D-9D0A-5658789D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效果确认：逐项目标检查是否取得实际改善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DC84B593-2219-480F-A2CC-55A0780B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截图可以展示功能与使用过程，但不能单独证明节省了多少人工或提高了多少质量。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以下列出需要补充的效果证据，当前没有前后对比数据的项目均保留“待确认”。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25429-E44B-4A77-9425-35CF537D68DB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810500"/>
                <a:gridCol w="51435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效果确认方法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当前结论与所需材料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提高跟踪可靠性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同口径核对数量并抽查具体问题。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检查新增获取、历史更新和人工分析保留情况。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补充核对清单、漏项抽查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和历史更新检查记录。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减少人工整理投入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比较单条 Issue 分析平均人工耗时。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SIPOC 页口径计入审核、返工与人工接续。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补充纯人工基线与辅助流程工时，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在同一质量标准下比较。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提高重点筛选效率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人工评审候选是否值得投入测试。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抽查被筛问题中的重要遗漏和评审分歧。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补充候选评审、遗漏复查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和筛选准备耗时记录。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提高复现材料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检查模型配置、环境、触发条件和缺失信息。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由测试人员反馈材料是否支持开展验证。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补充参数完整性检查，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记录补采情况及实际执行反馈。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提高材料复用能力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检查分析能否接续、交接是否减少重复工作。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跟踪典型材料在其他问题或测试中的实际使用。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补充交接使用、重复工作变化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和材料复用关联记录。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2347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447F70-2E05-442C-B85E-9AE4D0CC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效果确认：建立可重复的基线与对照评价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88DC3B57-31DC-4715-A4F5-1174E30A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采用一致的样本范围和评价口径，避免只展示容易处理的问题或只统计模型输出。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具体比例阈值在第一轮基线后评审确定，后续用新样本验证规则调整是否有效。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B93FF-EAAA-4F31-8315-3CF25AFBC893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715250"/>
                <a:gridCol w="54292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评价环节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具体实施方式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需要保留的证据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选取代表性样本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覆盖缺陷、文档、咨询及不同信息完整度。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统一仓库、时间范围和样本复杂度，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避免只选择短正文或容易判断的问题。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样本清单、数量和选取规则。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参与人员与执行时间。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问题类型和材料复杂度说明。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记录纯人工基线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按原有方式完成查找、阅读与资料整理。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分别记录各环节耗时及缺失参数，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检查原有交接是否需要重复收集信息。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分环节工时。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配置与触发条件检查结果。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原有交接过程和重复工作记录。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执行辅助流程并审核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通过台账、筛选与 AI 建议辅助处理。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人员核对、修正并补齐材料，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同时抽查候选和筛选之外的重要问题。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人工总耗时与审核修正情况。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候选有效性和重要遗漏。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失败重试、补采和实际使用反馈。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判断达成情况并复评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按各项目标比较基线与对照结果。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未改善时回看材料、规则或使用方式，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调整后用另一批样本再次评价。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目标达成结论及其依据。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尚未解决的问题与改进措施。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新一轮样本的复评结果。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12936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228818-F3D5-498E-986B-C61F676A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总结：项目价值与后续优化重点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40EB0C09-DF3E-4198-949D-1BE1A01E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issue-tracker 将社区问题获取、筛选、分析和材料保存集中到同一工作入口，支持测试人员持续开展分析。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项目价值需要结合实际使用、人工投入变化和测试验证贡献持续确认。</a:t>
            </a:r>
          </a:p>
        </p:txBody>
      </p:sp>
      <p:sp>
        <p:nvSpPr>
          <p:cNvPr id="4" name="总结标题-0">
            <a:extLst xmlns:a="http://schemas.openxmlformats.org/drawingml/2006/main">
              <a:ext uri="{FF2B5EF4-FFF2-40B4-BE49-F238E27FC236}">
                <a16:creationId xmlns:a16="http://schemas.microsoft.com/office/drawing/2014/main" id="{A2E54773-190F-49EC-8B0A-560CC5D4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统一台账提供基础价值</a:t>
            </a:r>
          </a:p>
        </p:txBody>
      </p:sp>
      <p:sp>
        <p:nvSpPr>
          <p:cNvPr id="5" name="总结说明-0">
            <a:extLst xmlns:a="http://schemas.openxmlformats.org/drawingml/2006/main">
              <a:ext uri="{FF2B5EF4-FFF2-40B4-BE49-F238E27FC236}">
                <a16:creationId xmlns:a16="http://schemas.microsoft.com/office/drawing/2014/main" id="{B4F98B34-9D79-4DD2-9701-0FB17730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38525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持续跟进新增与历史更新，保留本地人工分析，减少跨页面查找、重复核对和交接中的资料分散。</a:t>
            </a:r>
          </a:p>
        </p:txBody>
      </p:sp>
      <p:sp>
        <p:nvSpPr>
          <p:cNvPr id="6" name="总结标题-1">
            <a:extLst xmlns:a="http://schemas.openxmlformats.org/drawingml/2006/main">
              <a:ext uri="{FF2B5EF4-FFF2-40B4-BE49-F238E27FC236}">
                <a16:creationId xmlns:a16="http://schemas.microsoft.com/office/drawing/2014/main" id="{FB9279C7-1228-4A2C-AB6F-733D6633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AI 辅助降低重复整理工作</a:t>
            </a:r>
          </a:p>
        </p:txBody>
      </p:sp>
      <p:sp>
        <p:nvSpPr>
          <p:cNvPr id="7" name="总结说明-1">
            <a:extLst xmlns:a="http://schemas.openxmlformats.org/drawingml/2006/main">
              <a:ext uri="{FF2B5EF4-FFF2-40B4-BE49-F238E27FC236}">
                <a16:creationId xmlns:a16="http://schemas.microsoft.com/office/drawing/2014/main" id="{C3DDCCF0-C1FB-4187-94A8-7559BB25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帮助人员阅读、归纳和提取材料，支持批量处理。人员负责证据核对和结论把关，持续评估审核后的实际收益。</a:t>
            </a:r>
          </a:p>
        </p:txBody>
      </p:sp>
      <p:sp>
        <p:nvSpPr>
          <p:cNvPr id="8" name="总结标题-2">
            <a:extLst xmlns:a="http://schemas.openxmlformats.org/drawingml/2006/main">
              <a:ext uri="{FF2B5EF4-FFF2-40B4-BE49-F238E27FC236}">
                <a16:creationId xmlns:a16="http://schemas.microsoft.com/office/drawing/2014/main" id="{DF63D783-4B43-4D81-9AAA-03D711E9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91250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筛选与材料整理支撑测试准备</a:t>
            </a:r>
          </a:p>
        </p:txBody>
      </p:sp>
      <p:sp>
        <p:nvSpPr>
          <p:cNvPr id="9" name="总结说明-2">
            <a:extLst xmlns:a="http://schemas.openxmlformats.org/drawingml/2006/main">
              <a:ext uri="{FF2B5EF4-FFF2-40B4-BE49-F238E27FC236}">
                <a16:creationId xmlns:a16="http://schemas.microsoft.com/office/drawing/2014/main" id="{74611770-E3AA-4611-9373-84E13EA1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72275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形成重点候选，整理模型、环境与触发条件，明确缺失信息。实际复现和根因确认仍需人员与实验环境完成。</a:t>
            </a:r>
          </a:p>
        </p:txBody>
      </p:sp>
      <p:sp>
        <p:nvSpPr>
          <p:cNvPr id="10" name="总结标题-3">
            <a:extLst xmlns:a="http://schemas.openxmlformats.org/drawingml/2006/main">
              <a:ext uri="{FF2B5EF4-FFF2-40B4-BE49-F238E27FC236}">
                <a16:creationId xmlns:a16="http://schemas.microsoft.com/office/drawing/2014/main" id="{73DEF2EC-ABB0-48DC-BDBB-ADA31853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58125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后续优化以证据为依据</a:t>
            </a:r>
          </a:p>
        </p:txBody>
      </p:sp>
      <p:sp>
        <p:nvSpPr>
          <p:cNvPr id="11" name="总结说明-3">
            <a:extLst xmlns:a="http://schemas.openxmlformats.org/drawingml/2006/main">
              <a:ext uri="{FF2B5EF4-FFF2-40B4-BE49-F238E27FC236}">
                <a16:creationId xmlns:a16="http://schemas.microsoft.com/office/drawing/2014/main" id="{81D08DF5-9754-442E-8D0A-578AFE2B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439150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补充完整性核对、人工工时、候选有效性和材料复用记录。根据错误与返工情况优化提示词、筛选规则和分析流程。</a:t>
            </a:r>
          </a:p>
        </p:txBody>
      </p:sp>
    </p:spTree>
    <p:extLst>
      <p:ext uri="{BB962C8B-B14F-4D97-AF65-F5344CB8AC3E}">
        <p14:creationId xmlns:p14="http://schemas.microsoft.com/office/powerpoint/2010/main" val="841209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2026-10-28T11:20:33.1860000Z</dcterms:created>
  <dcterms:modified xsi:type="dcterms:W3CDTF">2026-10-28T11:20:33.1860000Z</dcterms:modified>
</coreProperties>
</file>