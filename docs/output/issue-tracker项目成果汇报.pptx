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26e8f76f404317" /><Relationship Type="http://schemas.openxmlformats.org/officeDocument/2006/relationships/extended-properties" Target="/docProps/app.xml" Id="R4b65bb666a374344" /><Relationship Type="http://schemas.openxmlformats.org/officeDocument/2006/relationships/officeDocument" Target="/ppt/presentation.xml" Id="Re4fe08e12d184164" /></Relationships>
</file>

<file path=ppt/presentation.xml><?xml version="1.0" encoding="utf-8"?>
<p:presentation xmlns:p="http://schemas.openxmlformats.org/presentationml/2006/main">
  <p:sldMasterIdLst>
    <p:sldMasterId xmlns:r="http://schemas.openxmlformats.org/officeDocument/2006/relationships" id="2147483648" r:id="R0341965fd5cb4695"/>
  </p:sldMasterIdLst>
  <p:notesMasterIdLst>
    <p:notesMasterId xmlns:r="http://schemas.openxmlformats.org/officeDocument/2006/relationships" r:id="R4c866d3078054f36"/>
  </p:notesMasterIdLst>
  <p:sldIdLst>
    <p:sldId xmlns:r="http://schemas.openxmlformats.org/officeDocument/2006/relationships" id="256" r:id="R355d7d6c92e4469a"/>
    <p:sldId xmlns:r="http://schemas.openxmlformats.org/officeDocument/2006/relationships" id="257" r:id="R809f4aae7201436f"/>
    <p:sldId xmlns:r="http://schemas.openxmlformats.org/officeDocument/2006/relationships" id="258" r:id="R92ffbb995268426f"/>
    <p:sldId xmlns:r="http://schemas.openxmlformats.org/officeDocument/2006/relationships" id="259" r:id="R9f90dbd7cf5d4150"/>
    <p:sldId xmlns:r="http://schemas.openxmlformats.org/officeDocument/2006/relationships" id="260" r:id="Re2da836d1f954a0f"/>
    <p:sldId xmlns:r="http://schemas.openxmlformats.org/officeDocument/2006/relationships" id="261" r:id="R3f726304526c4a8b"/>
    <p:sldId xmlns:r="http://schemas.openxmlformats.org/officeDocument/2006/relationships" id="262" r:id="R888340b8e78b4dea"/>
    <p:sldId xmlns:r="http://schemas.openxmlformats.org/officeDocument/2006/relationships" id="263" r:id="Re7ce6e5c34b8404f"/>
    <p:sldId xmlns:r="http://schemas.openxmlformats.org/officeDocument/2006/relationships" id="264" r:id="R8e440416eaf34b42"/>
    <p:sldId xmlns:r="http://schemas.openxmlformats.org/officeDocument/2006/relationships" id="265" r:id="R1c76001303114d82"/>
    <p:sldId xmlns:r="http://schemas.openxmlformats.org/officeDocument/2006/relationships" id="266" r:id="Rd6f6eef2ddc042a4"/>
    <p:sldId xmlns:r="http://schemas.openxmlformats.org/officeDocument/2006/relationships" id="267" r:id="R12820f3978eb410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26453b710b4741" /><Relationship Type="http://schemas.openxmlformats.org/officeDocument/2006/relationships/slideMaster" Target="/ppt/slideMasters/slideMaster1.xml" Id="R0341965fd5cb4695" /><Relationship Type="http://schemas.openxmlformats.org/officeDocument/2006/relationships/notesMaster" Target="/ppt/notesMasters/notesMaster1.xml" Id="R4c866d3078054f36" /><Relationship Type="http://schemas.openxmlformats.org/officeDocument/2006/relationships/presProps" Target="/ppt/presProps.xml" Id="R58e3c01003794ff0" /><Relationship Type="http://schemas.openxmlformats.org/officeDocument/2006/relationships/tableStyles" Target="/ppt/tableStyles.xml" Id="R0e48dd0f3e2b467b" /><Relationship Type="http://schemas.openxmlformats.org/officeDocument/2006/relationships/slide" Target="/ppt/slides/slide1.xml" Id="R355d7d6c92e4469a" /><Relationship Type="http://schemas.openxmlformats.org/officeDocument/2006/relationships/slide" Target="/ppt/slides/slide2.xml" Id="R809f4aae7201436f" /><Relationship Type="http://schemas.openxmlformats.org/officeDocument/2006/relationships/slide" Target="/ppt/slides/slide3.xml" Id="R92ffbb995268426f" /><Relationship Type="http://schemas.openxmlformats.org/officeDocument/2006/relationships/slide" Target="/ppt/slides/slide4.xml" Id="R9f90dbd7cf5d4150" /><Relationship Type="http://schemas.openxmlformats.org/officeDocument/2006/relationships/slide" Target="/ppt/slides/slide5.xml" Id="Re2da836d1f954a0f" /><Relationship Type="http://schemas.openxmlformats.org/officeDocument/2006/relationships/slide" Target="/ppt/slides/slide6.xml" Id="R3f726304526c4a8b" /><Relationship Type="http://schemas.openxmlformats.org/officeDocument/2006/relationships/slide" Target="/ppt/slides/slide7.xml" Id="R888340b8e78b4dea" /><Relationship Type="http://schemas.openxmlformats.org/officeDocument/2006/relationships/slide" Target="/ppt/slides/slide8.xml" Id="Re7ce6e5c34b8404f" /><Relationship Type="http://schemas.openxmlformats.org/officeDocument/2006/relationships/slide" Target="/ppt/slides/slide9.xml" Id="R8e440416eaf34b42" /><Relationship Type="http://schemas.openxmlformats.org/officeDocument/2006/relationships/slide" Target="/ppt/slides/slide10.xml" Id="R1c76001303114d82" /><Relationship Type="http://schemas.openxmlformats.org/officeDocument/2006/relationships/slide" Target="/ppt/slides/slide11.xml" Id="Rd6f6eef2ddc042a4" /><Relationship Type="http://schemas.openxmlformats.org/officeDocument/2006/relationships/slide" Target="/ppt/slides/slide12.xml" Id="R12820f3978eb41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1c7f6794f443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1c1f2599624174" /><Relationship Type="http://schemas.openxmlformats.org/officeDocument/2006/relationships/notesMaster" Target="/ppt/notesMasters/notesMaster1.xml" Id="R5a7f4084861947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7b01d236b44f80" /><Relationship Type="http://schemas.openxmlformats.org/officeDocument/2006/relationships/notesMaster" Target="/ppt/notesMasters/notesMaster1.xml" Id="R83a5d9e3395442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cff37b59b5468e" /><Relationship Type="http://schemas.openxmlformats.org/officeDocument/2006/relationships/notesMaster" Target="/ppt/notesMasters/notesMaster1.xml" Id="R581177cd8b3b45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d40650a65e49d8" /><Relationship Type="http://schemas.openxmlformats.org/officeDocument/2006/relationships/notesMaster" Target="/ppt/notesMasters/notesMaster1.xml" Id="Rc346999ce26a4b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6a48f3b8eb4077" /><Relationship Type="http://schemas.openxmlformats.org/officeDocument/2006/relationships/notesMaster" Target="/ppt/notesMasters/notesMaster1.xml" Id="R8b0ae5a458ed4f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544bd8cd9e4172" /><Relationship Type="http://schemas.openxmlformats.org/officeDocument/2006/relationships/notesMaster" Target="/ppt/notesMasters/notesMaster1.xml" Id="R1fe22dbb68f34a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a6a56d11c441cf" /><Relationship Type="http://schemas.openxmlformats.org/officeDocument/2006/relationships/notesMaster" Target="/ppt/notesMasters/notesMaster1.xml" Id="R0858b228d0bf40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d3255838384903" /><Relationship Type="http://schemas.openxmlformats.org/officeDocument/2006/relationships/notesMaster" Target="/ppt/notesMasters/notesMaster1.xml" Id="R497339a4c8bb45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cb8f1ca5164918" /><Relationship Type="http://schemas.openxmlformats.org/officeDocument/2006/relationships/notesMaster" Target="/ppt/notesMasters/notesMaster1.xml" Id="R11ecaff858334b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9e33881ac24ec0" /><Relationship Type="http://schemas.openxmlformats.org/officeDocument/2006/relationships/notesMaster" Target="/ppt/notesMasters/notesMaster1.xml" Id="R489ea766d7434b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9b3f8dc1dc400c" /><Relationship Type="http://schemas.openxmlformats.org/officeDocument/2006/relationships/notesMaster" Target="/ppt/notesMasters/notesMaster1.xml" Id="R1efa180b324548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514395d5264921" /><Relationship Type="http://schemas.openxmlformats.org/officeDocument/2006/relationships/notesMaster" Target="/ppt/notesMasters/notesMaster1.xml" Id="Rbb0334e1f17b4a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各位好，今天汇报 issue-tracker 项目的阶段成果。这个项目的目标是让社区中有价值的问题更快进入我们的分析和测试视野，并把结果持续积累下来。目前已经建立了问题同步、统一管理、AI 辅助分析、优先筛选和人工确认的工作流程。下面介绍建设背景、完成的能力，以及下一阶段如何验证实际价值。</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以 vLLM Ascend 为例，一次推理失败可能涉及模型、量化方式、并行策略、硬件型号和软件版本。关键日志和结论还可能出现在后续评论里。依靠人工浏览，首先要持续跟进变化，其次要判断哪些问题值得投入硬件和分析时间，最后还需要让已有结论能够复用。项目针对的就是这些具体工作成本。</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建议讲述时长：60 秒。</a:t>
            </a:r>
          </a:p>
          <a:p xmlns:a="http://schemas.openxmlformats.org/drawingml/2006/main">
            <a:r>
              <a:t/>
            </a:r>
          </a:p>
          <a:p xmlns:a="http://schemas.openxmlformats.org/drawingml/2006/main">
            <a:r>
              <a:t>这张鱼骨图把建设背景分成六个方面。信息获取涉及持续跟进和材料分散。分析方法涉及统一标准与资料整理。环境配置涉及模型、硬件、版本和关键参数。人员协作、工作流程和知识沉淀，则影响交接和结果复用。图中列出的是潜在影响因素，需要结合实际工作核查。它帮助我们说明项目为什么需要同时提供数据、分析和记录能力。</a:t>
            </a:r>
          </a:p>
          <a:p xmlns:a="http://schemas.openxmlformats.org/drawingml/2006/main">
            <a:r>
              <a:t/>
            </a:r>
          </a:p>
          <a:p xmlns:a="http://schemas.openxmlformats.org/drawingml/2006/main">
            <a:r>
              <a:t>资料来源：docs/figures/issue-tracker-fishbone.png，docs/issue-tracker项目成果汇报-15分钟版.md。项目功能以当前代码及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已经落地的流程，从社区数据汇集开始，通过筛选确定范围，由 AI 形成结构化建议，再由人工核查和采纳，最后保存在统一台账中。同步更新社区侧字段，人工分析单独保留。当前已经具备记录版本支持和闭环状态的能力，但人工复现、测试用例入库以及 CI 执行仍是需要继续推进的工作。</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这里集中说明目前能够实际使用的能力。数据侧有日常增量更新和历史全量校准。分析侧既可以选中指定问题，也可以按筛选结果发起批量任务，并配置并发。运行中可以查看进度、重试失败项和取消任务，中断任务也有恢复机制。结果侧保留独立 AI 建议，由人工选择采纳，并支持按当前范围导出。</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AI 会整理正文和评论，输出中文摘要、价值判断、可能根因和补测建议。补测建议重点包括模型名称、精度量化、TP/PP/EP 配置，A2、A3、A5 硬件和相关软件版本，以及触发请求和验证断言。原文没有的参数要明确标为待确认。漏测原因保留人工填写，因为判断内部为什么没有测到，需要实际测试覆盖信息。人员还要核对证据、实际复现并决定是否形成回归用例。</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建议讲述时长：90 秒。</a:t>
            </a:r>
          </a:p>
          <a:p xmlns:a="http://schemas.openxmlformats.org/drawingml/2006/main">
            <a:r>
              <a:t/>
            </a:r>
          </a:p>
          <a:p xmlns:a="http://schemas.openxmlformats.org/drawingml/2006/main">
            <a:r>
              <a:t>此前提供的一条反馈描述：在 CANN 9.2.0、Atlas 800I A3、TP16 加 EP 环境运行 Kimi-K3 W4A8，prefill 正常，decode 阶段出现 keyRope 视图偏移非法错误。长正文中还包含多次运行日志和执行模式对照。工具辅助提取环境配置、观察现象和验证动作。报告者认为存在整数溢出，但这仍是需要算子团队或实验验证的假设。测试人员可以据此补齐缺失参数，准备相应环境并设计对照验证。本例说明材料如何转化为测试准备输入，并不代表系统已经复现问题或确认了根因。</a:t>
            </a:r>
          </a:p>
          <a:p xmlns:a="http://schemas.openxmlformats.org/drawingml/2006/main">
            <a:r>
              <a:t/>
            </a:r>
          </a:p>
          <a:p xmlns:a="http://schemas.openxmlformats.org/drawingml/2006/main">
            <a:r>
              <a:t>资料来源：docs/issue-tracker项目成果汇报-15分钟版.md 第四部分，用户此前提供的 Issue #17084 分析材料。项目功能以当前代码及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优先处理是一个候选视图，首先读取最新已保存的 AI 结果，保留复现性和价值为高或中的问题，并排除文档、RFC、咨询和非问题。排序先比较复现性，再比较价值，已有人工价值等级优先。之后参考明确版本的相对新旧、AI 自评置信度和创建时间。目前没有接入官方版本兼容矩阵，置信度也不是经过校准的正确率。高价值但信息不足的问题可能被隐藏，所以需要完整列表复查。</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项目已经形成持续管理入口、批量辅助分析能力，以及面向测试的输出要求。对应的预期收益包括减少重复收集、缩短阅读筛选和增加测试转化机会。具体幅度要用运行数据验证，不能直接给未经验证的提升比例。统计时，应把生成建议、人工确认、实际复现和用例入库分别记录。尤其要把人工审核时间纳入效率统计，才能判断 AI 是否真正减轻了工作量。</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建议讲述时长：50 秒。</a:t>
            </a:r>
          </a:p>
          <a:p xmlns:a="http://schemas.openxmlformats.org/drawingml/2006/main">
            <a:r>
              <a:t/>
            </a:r>
          </a:p>
          <a:p xmlns:a="http://schemas.openxmlformats.org/drawingml/2006/main">
            <a:r>
              <a:t>这里明确工具的适用边界。第一，AI 对复现性的评价来自现有材料，不代表系统执行过复现。第二，版本排序没有自动验证修复状态，需要兼容信息或实验支持。第三，人工负责关键结论，同时应抽查被筛掉的高价值问题。这样既能使用自动整理能力，也能保留必要的质量判断。</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建议讲述时长：85 秒。</a:t>
            </a:r>
          </a:p>
          <a:p xmlns:a="http://schemas.openxmlformats.org/drawingml/2006/main">
            <a:r>
              <a:t/>
            </a:r>
          </a:p>
          <a:p xmlns:a="http://schemas.openxmlformats.org/drawingml/2006/main">
            <a:r>
              <a:t>后续分三个阶段推进。第一阶段建立质量评估，建议先选择五十到一百条代表性样本，覆盖真实缺陷、文档、咨询以及不同信息完整度，交付评审标准和首轮基线。除了看推荐有效性，还要抽查被筛掉的问题。第二阶段根据结果补充原文依据和可靠版本信息，为高价值信息不足的问题提供跟进方式。第三阶段选择少量环境可用的问题，完成材料补齐、人工复现、最小用例提炼和评审入库。最终交付应能说明来源、条件、结果和测试贡献。具体门槛根据第一轮基线确定。</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issue-tracker 已经完成了持续汇集、统一分析、批量处理和辅助筛选的工具建设。接下来，我们用更明确的业务结果检验它：分析人员能否更快找到值得投入的问题，建议能否帮助实际复现，社区反馈能否形成有效的回归测试。通过这些结果决定项目进一步优化和推广的方向。谢谢大家。</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3aea2caf164e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434322d4e646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66a7a6fbdb4b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09ae48f60646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0bab22161d4f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f75f0d583641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787BE1-127E-4160-AFDA-21A0ACB250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B68BDA-F8C6-4AD1-AA3B-0BB490A4E1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EB2ABB-D5BA-4F53-992C-B20FA7CE41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7121D-C305-4E2A-BC94-CADA64807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9E6A16-2D90-49F3-B3C2-ACF8D34E56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80EAB0-C13F-4D4C-88CB-CD1612E4CD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807F3E-51DA-40FF-B377-A0FE2028F4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E369D3-A98A-4A77-AC5F-7F2F70E2A7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C04562-169F-4440-B3E4-7F4AC1E38D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E7511E-08DC-424C-B022-1A6D3714AB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05a0656ed84873" /><Relationship Type="http://schemas.openxmlformats.org/officeDocument/2006/relationships/slideLayout" Target="/ppt/slideLayouts/slideLayout1.xml" Id="Rcc0ca81937a14186" /><Relationship Type="http://schemas.openxmlformats.org/officeDocument/2006/relationships/slideLayout" Target="/ppt/slideLayouts/slideLayout2.xml" Id="R3785997655954f4e" /><Relationship Type="http://schemas.openxmlformats.org/officeDocument/2006/relationships/slideLayout" Target="/ppt/slideLayouts/slideLayout3.xml" Id="R774b04ce069c4971" /><Relationship Type="http://schemas.openxmlformats.org/officeDocument/2006/relationships/slideLayout" Target="/ppt/slideLayouts/slideLayout4.xml" Id="R2b7a343b3fa247b1" /><Relationship Type="http://schemas.openxmlformats.org/officeDocument/2006/relationships/slideLayout" Target="/ppt/slideLayouts/slideLayout5.xml" Id="R7d1e1286d8334645" /><Relationship Type="http://schemas.openxmlformats.org/officeDocument/2006/relationships/slideLayout" Target="/ppt/slideLayouts/slideLayout6.xml" Id="R8adb5af510c741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0ca81937a14186"/>
    <p:sldLayoutId xmlns:r="http://schemas.openxmlformats.org/officeDocument/2006/relationships" id="2147483650" r:id="R3785997655954f4e"/>
    <p:sldLayoutId xmlns:r="http://schemas.openxmlformats.org/officeDocument/2006/relationships" id="2147483651" r:id="R774b04ce069c4971"/>
    <p:sldLayoutId xmlns:r="http://schemas.openxmlformats.org/officeDocument/2006/relationships" id="2147483652" r:id="R2b7a343b3fa247b1"/>
    <p:sldLayoutId xmlns:r="http://schemas.openxmlformats.org/officeDocument/2006/relationships" id="2147483653" r:id="R7d1e1286d8334645"/>
    <p:sldLayoutId xmlns:r="http://schemas.openxmlformats.org/officeDocument/2006/relationships" id="2147483654" r:id="R8adb5af510c741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7521f1e0874117" /><Relationship Type="http://schemas.openxmlformats.org/officeDocument/2006/relationships/notesSlide" Target="/ppt/notesSlides/notesSlide1.xml" Id="R3b4d3c17656f4a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42d950784c46c0" /><Relationship Type="http://schemas.openxmlformats.org/officeDocument/2006/relationships/notesSlide" Target="/ppt/notesSlides/notesSlide2.xml" Id="R877d5319e8be40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19e3f74d0a4796" /><Relationship Type="http://schemas.openxmlformats.org/officeDocument/2006/relationships/image" Target="/ppt/media/image.png" Id="R5c67322a71ee45ca" /><Relationship Type="http://schemas.openxmlformats.org/officeDocument/2006/relationships/notesSlide" Target="/ppt/notesSlides/notesSlide3.xml" Id="R55aa5234292649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fdcd2e51a1a49b5" /><Relationship Type="http://schemas.openxmlformats.org/officeDocument/2006/relationships/notesSlide" Target="/ppt/notesSlides/notesSlide4.xml" Id="R5b095b93f2d045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3bce1b9bcf4fab" /><Relationship Type="http://schemas.openxmlformats.org/officeDocument/2006/relationships/notesSlide" Target="/ppt/notesSlides/notesSlide5.xml" Id="R4f8a9aea523b4f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095bc0d9794fd5" /><Relationship Type="http://schemas.openxmlformats.org/officeDocument/2006/relationships/notesSlide" Target="/ppt/notesSlides/notesSlide6.xml" Id="R062eb4f6814a42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c09ea9fc9b4942" /><Relationship Type="http://schemas.openxmlformats.org/officeDocument/2006/relationships/notesSlide" Target="/ppt/notesSlides/notesSlide7.xml" Id="R5edbedd3e5d049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eed489cc4b4a67" /><Relationship Type="http://schemas.openxmlformats.org/officeDocument/2006/relationships/notesSlide" Target="/ppt/notesSlides/notesSlide8.xml" Id="Rfdcfd0259a464b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337bccd05a4378" /><Relationship Type="http://schemas.openxmlformats.org/officeDocument/2006/relationships/notesSlide" Target="/ppt/notesSlides/notesSlide9.xml" Id="Rcdfe71cb273e44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5ce14aee8441fb" /><Relationship Type="http://schemas.openxmlformats.org/officeDocument/2006/relationships/notesSlide" Target="/ppt/notesSlides/notesSlide10.xml" Id="R6077ddb99eec40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6be7a498f434caa" /><Relationship Type="http://schemas.openxmlformats.org/officeDocument/2006/relationships/notesSlide" Target="/ppt/notesSlides/notesSlide11.xml" Id="Rd5a4080eefde4b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86a2a88e8134e44" /><Relationship Type="http://schemas.openxmlformats.org/officeDocument/2006/relationships/notesSlide" Target="/ppt/notesSlides/notesSlide12.xml" Id="Ra3cf67555d3f4eff" /></Relationships>
</file>

<file path=ppt/slides/slide1.xml><?xml version="1.0" encoding="utf-8"?>
<p:sld xmlns:p="http://schemas.openxmlformats.org/presentationml/2006/main">
  <p:cSld>
    <p:bg>
      <p:bgPr>
        <a:solidFill xmlns:a="http://schemas.openxmlformats.org/drawingml/2006/main">
          <a:srgbClr val="143C2B"/>
        </a:solidFill>
      </p:bgPr>
    </p:bg>
    <p:spTree>
      <p:nvGrpSpPr>
        <p:cNvPr id="1" name=""/>
        <p:cNvGrpSpPr/>
        <p:nvPr/>
      </p:nvGrpSpPr>
      <p:grpSpPr>
        <a:xfrm xmlns:a="http://schemas.openxmlformats.org/drawingml/2006/main"/>
      </p:grpSpPr>
      <p:sp>
        <p:nvSpPr>
          <p:cNvPr id="2" name="cover-project">
            <a:extLst xmlns:a="http://schemas.openxmlformats.org/drawingml/2006/main">
              <a:ext uri="{FF2B5EF4-FFF2-40B4-BE49-F238E27FC236}">
                <a16:creationId xmlns:a16="http://schemas.microsoft.com/office/drawing/2014/main" id="{A97728A2-6324-4FF8-B8E5-FFD0B09A53B4}"/>
              </a:ext>
            </a:extLst>
          </p:cNvPr>
          <p:cNvSpPr>
            <a:spLocks xmlns:a="http://schemas.openxmlformats.org/drawingml/2006/main" noGrp="1"/>
          </p:cNvSpPr>
          <p:nvPr/>
        </p:nvSpPr>
        <p:spPr>
          <a:xfrm xmlns:a="http://schemas.openxmlformats.org/drawingml/2006/main">
            <a:off x="1047750" y="1638300"/>
            <a:ext cx="15525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FFFFFF"/>
                </a:solidFill>
                <a:latin typeface="Microsoft YaHei"/>
                <a:ea typeface="Microsoft YaHei"/>
                <a:cs typeface="Microsoft YaHei"/>
              </a:defRPr>
            </a:defPPr>
            <a:lvl1pPr algn="l">
              <a:defRPr sz="8100" b="1">
                <a:solidFill>
                  <a:srgbClr val="FFFFFF"/>
                </a:solidFill>
                <a:latin typeface="Microsoft YaHei"/>
                <a:ea typeface="Microsoft YaHei"/>
                <a:cs typeface="Microsoft YaHei"/>
              </a:defRPr>
            </a:lvl1pPr>
            <a:lvl2pPr algn="l">
              <a:defRPr sz="8100" b="1">
                <a:solidFill>
                  <a:srgbClr val="FFFFFF"/>
                </a:solidFill>
                <a:latin typeface="Microsoft YaHei"/>
                <a:ea typeface="Microsoft YaHei"/>
                <a:cs typeface="Microsoft YaHei"/>
              </a:defRPr>
            </a:lvl2pPr>
            <a:lvl3pPr algn="l">
              <a:defRPr sz="8100" b="1">
                <a:solidFill>
                  <a:srgbClr val="FFFFFF"/>
                </a:solidFill>
                <a:latin typeface="Microsoft YaHei"/>
                <a:ea typeface="Microsoft YaHei"/>
                <a:cs typeface="Microsoft YaHei"/>
              </a:defRPr>
            </a:lvl3pPr>
            <a:lvl4pPr algn="l">
              <a:defRPr sz="8100" b="1">
                <a:solidFill>
                  <a:srgbClr val="FFFFFF"/>
                </a:solidFill>
                <a:latin typeface="Microsoft YaHei"/>
                <a:ea typeface="Microsoft YaHei"/>
                <a:cs typeface="Microsoft YaHei"/>
              </a:defRPr>
            </a:lvl4pPr>
            <a:lvl5pPr algn="l">
              <a:defRPr sz="8100" b="1">
                <a:solidFill>
                  <a:srgbClr val="FFFFFF"/>
                </a:solidFill>
                <a:latin typeface="Microsoft YaHei"/>
                <a:ea typeface="Microsoft YaHei"/>
                <a:cs typeface="Microsoft YaHei"/>
              </a:defRPr>
            </a:lvl5pPr>
            <a:lvl6pPr algn="l">
              <a:defRPr sz="8100" b="1">
                <a:solidFill>
                  <a:srgbClr val="FFFFFF"/>
                </a:solidFill>
                <a:latin typeface="Microsoft YaHei"/>
                <a:ea typeface="Microsoft YaHei"/>
                <a:cs typeface="Microsoft YaHei"/>
              </a:defRPr>
            </a:lvl6pPr>
            <a:lvl7pPr algn="l">
              <a:defRPr sz="8100" b="1">
                <a:solidFill>
                  <a:srgbClr val="FFFFFF"/>
                </a:solidFill>
                <a:latin typeface="Microsoft YaHei"/>
                <a:ea typeface="Microsoft YaHei"/>
                <a:cs typeface="Microsoft YaHei"/>
              </a:defRPr>
            </a:lvl7pPr>
            <a:lvl8pPr algn="l">
              <a:defRPr sz="8100" b="1">
                <a:solidFill>
                  <a:srgbClr val="FFFFFF"/>
                </a:solidFill>
                <a:latin typeface="Microsoft YaHei"/>
                <a:ea typeface="Microsoft YaHei"/>
                <a:cs typeface="Microsoft YaHei"/>
              </a:defRPr>
            </a:lvl8pPr>
            <a:lvl9pPr algn="l">
              <a:defRPr sz="8100" b="1">
                <a:solidFill>
                  <a:srgbClr val="FFFFFF"/>
                </a:solidFill>
                <a:latin typeface="Microsoft YaHei"/>
                <a:ea typeface="Microsoft YaHei"/>
                <a:cs typeface="Microsoft YaHei"/>
              </a:defRPr>
            </a:lvl9pPr>
          </a:lstStyle>
          <a:p xmlns:a="http://schemas.openxmlformats.org/drawingml/2006/main">
            <a:pPr algn="l">
              <a:defRPr sz="8100" b="1">
                <a:solidFill>
                  <a:srgbClr val="FFFFFF"/>
                </a:solidFill>
                <a:latin typeface="Microsoft YaHei"/>
                <a:ea typeface="Microsoft YaHei"/>
                <a:cs typeface="Microsoft YaHei"/>
              </a:defRPr>
            </a:pPr>
            <a:r>
              <a:rPr sz="8100" b="1">
                <a:solidFill>
                  <a:srgbClr val="FFFFFF"/>
                </a:solidFill>
                <a:latin typeface="Microsoft YaHei"/>
                <a:ea typeface="Microsoft YaHei"/>
                <a:cs typeface="Microsoft YaHei"/>
              </a:rPr>
              <a:t>issue-tracker</a:t>
            </a:r>
          </a:p>
        </p:txBody>
      </p:sp>
      <p:sp>
        <p:nvSpPr>
          <p:cNvPr id="3" name="cover-title">
            <a:extLst xmlns:a="http://schemas.openxmlformats.org/drawingml/2006/main">
              <a:ext uri="{FF2B5EF4-FFF2-40B4-BE49-F238E27FC236}">
                <a16:creationId xmlns:a16="http://schemas.microsoft.com/office/drawing/2014/main" id="{5AF53998-D9E4-4537-8E80-0E2EC29BEE9E}"/>
              </a:ext>
            </a:extLst>
          </p:cNvPr>
          <p:cNvSpPr>
            <a:spLocks xmlns:a="http://schemas.openxmlformats.org/drawingml/2006/main" noGrp="1"/>
          </p:cNvSpPr>
          <p:nvPr/>
        </p:nvSpPr>
        <p:spPr>
          <a:xfrm xmlns:a="http://schemas.openxmlformats.org/drawingml/2006/main">
            <a:off x="1104900" y="3371850"/>
            <a:ext cx="1581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FFFFF"/>
                </a:solidFill>
                <a:latin typeface="Microsoft YaHei"/>
                <a:ea typeface="Microsoft YaHei"/>
                <a:cs typeface="Microsoft YaHei"/>
              </a:defRPr>
            </a:defPPr>
            <a:lvl1pPr algn="l">
              <a:defRPr sz="5850" b="1">
                <a:solidFill>
                  <a:srgbClr val="FFFFFF"/>
                </a:solidFill>
                <a:latin typeface="Microsoft YaHei"/>
                <a:ea typeface="Microsoft YaHei"/>
                <a:cs typeface="Microsoft YaHei"/>
              </a:defRPr>
            </a:lvl1pPr>
            <a:lvl2pPr algn="l">
              <a:defRPr sz="5850" b="1">
                <a:solidFill>
                  <a:srgbClr val="FFFFFF"/>
                </a:solidFill>
                <a:latin typeface="Microsoft YaHei"/>
                <a:ea typeface="Microsoft YaHei"/>
                <a:cs typeface="Microsoft YaHei"/>
              </a:defRPr>
            </a:lvl2pPr>
            <a:lvl3pPr algn="l">
              <a:defRPr sz="5850" b="1">
                <a:solidFill>
                  <a:srgbClr val="FFFFFF"/>
                </a:solidFill>
                <a:latin typeface="Microsoft YaHei"/>
                <a:ea typeface="Microsoft YaHei"/>
                <a:cs typeface="Microsoft YaHei"/>
              </a:defRPr>
            </a:lvl3pPr>
            <a:lvl4pPr algn="l">
              <a:defRPr sz="5850" b="1">
                <a:solidFill>
                  <a:srgbClr val="FFFFFF"/>
                </a:solidFill>
                <a:latin typeface="Microsoft YaHei"/>
                <a:ea typeface="Microsoft YaHei"/>
                <a:cs typeface="Microsoft YaHei"/>
              </a:defRPr>
            </a:lvl4pPr>
            <a:lvl5pPr algn="l">
              <a:defRPr sz="5850" b="1">
                <a:solidFill>
                  <a:srgbClr val="FFFFFF"/>
                </a:solidFill>
                <a:latin typeface="Microsoft YaHei"/>
                <a:ea typeface="Microsoft YaHei"/>
                <a:cs typeface="Microsoft YaHei"/>
              </a:defRPr>
            </a:lvl5pPr>
            <a:lvl6pPr algn="l">
              <a:defRPr sz="5850" b="1">
                <a:solidFill>
                  <a:srgbClr val="FFFFFF"/>
                </a:solidFill>
                <a:latin typeface="Microsoft YaHei"/>
                <a:ea typeface="Microsoft YaHei"/>
                <a:cs typeface="Microsoft YaHei"/>
              </a:defRPr>
            </a:lvl6pPr>
            <a:lvl7pPr algn="l">
              <a:defRPr sz="5850" b="1">
                <a:solidFill>
                  <a:srgbClr val="FFFFFF"/>
                </a:solidFill>
                <a:latin typeface="Microsoft YaHei"/>
                <a:ea typeface="Microsoft YaHei"/>
                <a:cs typeface="Microsoft YaHei"/>
              </a:defRPr>
            </a:lvl7pPr>
            <a:lvl8pPr algn="l">
              <a:defRPr sz="5850" b="1">
                <a:solidFill>
                  <a:srgbClr val="FFFFFF"/>
                </a:solidFill>
                <a:latin typeface="Microsoft YaHei"/>
                <a:ea typeface="Microsoft YaHei"/>
                <a:cs typeface="Microsoft YaHei"/>
              </a:defRPr>
            </a:lvl8pPr>
            <a:lvl9pPr algn="l">
              <a:defRPr sz="5850" b="1">
                <a:solidFill>
                  <a:srgbClr val="FFFFFF"/>
                </a:solidFill>
                <a:latin typeface="Microsoft YaHei"/>
                <a:ea typeface="Microsoft YaHei"/>
                <a:cs typeface="Microsoft YaHei"/>
              </a:defRPr>
            </a:lvl9pPr>
          </a:lstStyle>
          <a:p xmlns:a="http://schemas.openxmlformats.org/drawingml/2006/main">
            <a:pPr algn="l">
              <a:defRPr sz="5850" b="1">
                <a:solidFill>
                  <a:srgbClr val="FFFFFF"/>
                </a:solidFill>
                <a:latin typeface="Microsoft YaHei"/>
                <a:ea typeface="Microsoft YaHei"/>
                <a:cs typeface="Microsoft YaHei"/>
              </a:defRPr>
            </a:pPr>
            <a:r>
              <a:rPr sz="5850" b="1">
                <a:solidFill>
                  <a:srgbClr val="FFFFFF"/>
                </a:solidFill>
                <a:latin typeface="Microsoft YaHei"/>
                <a:ea typeface="Microsoft YaHei"/>
                <a:cs typeface="Microsoft YaHei"/>
              </a:rPr>
              <a:t>项目成果汇报</a:t>
            </a:r>
          </a:p>
        </p:txBody>
      </p:sp>
      <p:sp>
        <p:nvSpPr>
          <p:cNvPr id="4" name="cover-subtitle">
            <a:extLst xmlns:a="http://schemas.openxmlformats.org/drawingml/2006/main">
              <a:ext uri="{FF2B5EF4-FFF2-40B4-BE49-F238E27FC236}">
                <a16:creationId xmlns:a16="http://schemas.microsoft.com/office/drawing/2014/main" id="{1E5F7F0A-6437-4D6F-B3A2-9A01618EA94E}"/>
              </a:ext>
            </a:extLst>
          </p:cNvPr>
          <p:cNvSpPr>
            <a:spLocks xmlns:a="http://schemas.openxmlformats.org/drawingml/2006/main" noGrp="1"/>
          </p:cNvSpPr>
          <p:nvPr/>
        </p:nvSpPr>
        <p:spPr>
          <a:xfrm xmlns:a="http://schemas.openxmlformats.org/drawingml/2006/main">
            <a:off x="1143000" y="5210175"/>
            <a:ext cx="1562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D5E8DD"/>
                </a:solidFill>
                <a:latin typeface="Microsoft YaHei"/>
                <a:ea typeface="Microsoft YaHei"/>
                <a:cs typeface="Microsoft YaHei"/>
              </a:defRPr>
            </a:defPPr>
            <a:lvl1pPr algn="l">
              <a:defRPr sz="3300" b="0">
                <a:solidFill>
                  <a:srgbClr val="D5E8DD"/>
                </a:solidFill>
                <a:latin typeface="Microsoft YaHei"/>
                <a:ea typeface="Microsoft YaHei"/>
                <a:cs typeface="Microsoft YaHei"/>
              </a:defRPr>
            </a:lvl1pPr>
            <a:lvl2pPr algn="l">
              <a:defRPr sz="3300" b="0">
                <a:solidFill>
                  <a:srgbClr val="D5E8DD"/>
                </a:solidFill>
                <a:latin typeface="Microsoft YaHei"/>
                <a:ea typeface="Microsoft YaHei"/>
                <a:cs typeface="Microsoft YaHei"/>
              </a:defRPr>
            </a:lvl2pPr>
            <a:lvl3pPr algn="l">
              <a:defRPr sz="3300" b="0">
                <a:solidFill>
                  <a:srgbClr val="D5E8DD"/>
                </a:solidFill>
                <a:latin typeface="Microsoft YaHei"/>
                <a:ea typeface="Microsoft YaHei"/>
                <a:cs typeface="Microsoft YaHei"/>
              </a:defRPr>
            </a:lvl3pPr>
            <a:lvl4pPr algn="l">
              <a:defRPr sz="3300" b="0">
                <a:solidFill>
                  <a:srgbClr val="D5E8DD"/>
                </a:solidFill>
                <a:latin typeface="Microsoft YaHei"/>
                <a:ea typeface="Microsoft YaHei"/>
                <a:cs typeface="Microsoft YaHei"/>
              </a:defRPr>
            </a:lvl4pPr>
            <a:lvl5pPr algn="l">
              <a:defRPr sz="3300" b="0">
                <a:solidFill>
                  <a:srgbClr val="D5E8DD"/>
                </a:solidFill>
                <a:latin typeface="Microsoft YaHei"/>
                <a:ea typeface="Microsoft YaHei"/>
                <a:cs typeface="Microsoft YaHei"/>
              </a:defRPr>
            </a:lvl5pPr>
            <a:lvl6pPr algn="l">
              <a:defRPr sz="3300" b="0">
                <a:solidFill>
                  <a:srgbClr val="D5E8DD"/>
                </a:solidFill>
                <a:latin typeface="Microsoft YaHei"/>
                <a:ea typeface="Microsoft YaHei"/>
                <a:cs typeface="Microsoft YaHei"/>
              </a:defRPr>
            </a:lvl6pPr>
            <a:lvl7pPr algn="l">
              <a:defRPr sz="3300" b="0">
                <a:solidFill>
                  <a:srgbClr val="D5E8DD"/>
                </a:solidFill>
                <a:latin typeface="Microsoft YaHei"/>
                <a:ea typeface="Microsoft YaHei"/>
                <a:cs typeface="Microsoft YaHei"/>
              </a:defRPr>
            </a:lvl7pPr>
            <a:lvl8pPr algn="l">
              <a:defRPr sz="3300" b="0">
                <a:solidFill>
                  <a:srgbClr val="D5E8DD"/>
                </a:solidFill>
                <a:latin typeface="Microsoft YaHei"/>
                <a:ea typeface="Microsoft YaHei"/>
                <a:cs typeface="Microsoft YaHei"/>
              </a:defRPr>
            </a:lvl8pPr>
            <a:lvl9pPr algn="l">
              <a:defRPr sz="3300" b="0">
                <a:solidFill>
                  <a:srgbClr val="D5E8DD"/>
                </a:solidFill>
                <a:latin typeface="Microsoft YaHei"/>
                <a:ea typeface="Microsoft YaHei"/>
                <a:cs typeface="Microsoft YaHei"/>
              </a:defRPr>
            </a:lvl9pPr>
          </a:lstStyle>
          <a:p xmlns:a="http://schemas.openxmlformats.org/drawingml/2006/main">
            <a:pPr algn="l">
              <a:defRPr sz="3300" b="0">
                <a:solidFill>
                  <a:srgbClr val="D5E8DD"/>
                </a:solidFill>
                <a:latin typeface="Microsoft YaHei"/>
                <a:ea typeface="Microsoft YaHei"/>
                <a:cs typeface="Microsoft YaHei"/>
              </a:defRPr>
            </a:pPr>
            <a:r>
              <a:rPr sz="3300" b="0">
                <a:solidFill>
                  <a:srgbClr val="D5E8DD"/>
                </a:solidFill>
                <a:latin typeface="Microsoft YaHei"/>
                <a:ea typeface="Microsoft YaHei"/>
                <a:cs typeface="Microsoft YaHei"/>
              </a:rPr>
              <a:t>社区问题跟踪与 AI 辅助测试分析</a:t>
            </a:r>
          </a:p>
        </p:txBody>
      </p:sp>
      <p:sp>
        <p:nvSpPr>
          <p:cNvPr id="5" name="cover-date">
            <a:extLst xmlns:a="http://schemas.openxmlformats.org/drawingml/2006/main">
              <a:ext uri="{FF2B5EF4-FFF2-40B4-BE49-F238E27FC236}">
                <a16:creationId xmlns:a16="http://schemas.microsoft.com/office/drawing/2014/main" id="{E2617686-914A-4E90-89BC-C453E930AE1A}"/>
              </a:ext>
            </a:extLst>
          </p:cNvPr>
          <p:cNvSpPr>
            <a:spLocks xmlns:a="http://schemas.openxmlformats.org/drawingml/2006/main" noGrp="1"/>
          </p:cNvSpPr>
          <p:nvPr/>
        </p:nvSpPr>
        <p:spPr>
          <a:xfrm xmlns:a="http://schemas.openxmlformats.org/drawingml/2006/main">
            <a:off x="1143000" y="83915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5E8DD"/>
                </a:solidFill>
                <a:latin typeface="Microsoft YaHei"/>
                <a:ea typeface="Microsoft YaHei"/>
                <a:cs typeface="Microsoft YaHei"/>
              </a:defRPr>
            </a:defPPr>
            <a:lvl1pPr algn="l">
              <a:defRPr sz="2100" b="0">
                <a:solidFill>
                  <a:srgbClr val="D5E8DD"/>
                </a:solidFill>
                <a:latin typeface="Microsoft YaHei"/>
                <a:ea typeface="Microsoft YaHei"/>
                <a:cs typeface="Microsoft YaHei"/>
              </a:defRPr>
            </a:lvl1pPr>
            <a:lvl2pPr algn="l">
              <a:defRPr sz="2100" b="0">
                <a:solidFill>
                  <a:srgbClr val="D5E8DD"/>
                </a:solidFill>
                <a:latin typeface="Microsoft YaHei"/>
                <a:ea typeface="Microsoft YaHei"/>
                <a:cs typeface="Microsoft YaHei"/>
              </a:defRPr>
            </a:lvl2pPr>
            <a:lvl3pPr algn="l">
              <a:defRPr sz="2100" b="0">
                <a:solidFill>
                  <a:srgbClr val="D5E8DD"/>
                </a:solidFill>
                <a:latin typeface="Microsoft YaHei"/>
                <a:ea typeface="Microsoft YaHei"/>
                <a:cs typeface="Microsoft YaHei"/>
              </a:defRPr>
            </a:lvl3pPr>
            <a:lvl4pPr algn="l">
              <a:defRPr sz="2100" b="0">
                <a:solidFill>
                  <a:srgbClr val="D5E8DD"/>
                </a:solidFill>
                <a:latin typeface="Microsoft YaHei"/>
                <a:ea typeface="Microsoft YaHei"/>
                <a:cs typeface="Microsoft YaHei"/>
              </a:defRPr>
            </a:lvl4pPr>
            <a:lvl5pPr algn="l">
              <a:defRPr sz="2100" b="0">
                <a:solidFill>
                  <a:srgbClr val="D5E8DD"/>
                </a:solidFill>
                <a:latin typeface="Microsoft YaHei"/>
                <a:ea typeface="Microsoft YaHei"/>
                <a:cs typeface="Microsoft YaHei"/>
              </a:defRPr>
            </a:lvl5pPr>
            <a:lvl6pPr algn="l">
              <a:defRPr sz="2100" b="0">
                <a:solidFill>
                  <a:srgbClr val="D5E8DD"/>
                </a:solidFill>
                <a:latin typeface="Microsoft YaHei"/>
                <a:ea typeface="Microsoft YaHei"/>
                <a:cs typeface="Microsoft YaHei"/>
              </a:defRPr>
            </a:lvl6pPr>
            <a:lvl7pPr algn="l">
              <a:defRPr sz="2100" b="0">
                <a:solidFill>
                  <a:srgbClr val="D5E8DD"/>
                </a:solidFill>
                <a:latin typeface="Microsoft YaHei"/>
                <a:ea typeface="Microsoft YaHei"/>
                <a:cs typeface="Microsoft YaHei"/>
              </a:defRPr>
            </a:lvl7pPr>
            <a:lvl8pPr algn="l">
              <a:defRPr sz="2100" b="0">
                <a:solidFill>
                  <a:srgbClr val="D5E8DD"/>
                </a:solidFill>
                <a:latin typeface="Microsoft YaHei"/>
                <a:ea typeface="Microsoft YaHei"/>
                <a:cs typeface="Microsoft YaHei"/>
              </a:defRPr>
            </a:lvl8pPr>
            <a:lvl9pPr algn="l">
              <a:defRPr sz="2100" b="0">
                <a:solidFill>
                  <a:srgbClr val="D5E8DD"/>
                </a:solidFill>
                <a:latin typeface="Microsoft YaHei"/>
                <a:ea typeface="Microsoft YaHei"/>
                <a:cs typeface="Microsoft YaHei"/>
              </a:defRPr>
            </a:lvl9pPr>
          </a:lstStyle>
          <a:p xmlns:a="http://schemas.openxmlformats.org/drawingml/2006/main">
            <a:pPr algn="l">
              <a:defRPr sz="2100" b="0">
                <a:solidFill>
                  <a:srgbClr val="D5E8DD"/>
                </a:solidFill>
                <a:latin typeface="Microsoft YaHei"/>
                <a:ea typeface="Microsoft YaHei"/>
                <a:cs typeface="Microsoft YaHei"/>
              </a:defRPr>
            </a:pPr>
            <a:r>
              <a:rPr sz="2100" b="0">
                <a:solidFill>
                  <a:srgbClr val="D5E8DD"/>
                </a:solidFill>
                <a:latin typeface="Microsoft YaHei"/>
                <a:ea typeface="Microsoft YaHei"/>
                <a:cs typeface="Microsoft YaHei"/>
              </a:rPr>
              <a:t>2026 年 10 月</a:t>
            </a:r>
          </a:p>
        </p:txBody>
      </p:sp>
    </p:spTree>
    <p:extLst>
      <p:ext uri="{BB962C8B-B14F-4D97-AF65-F5344CB8AC3E}">
        <p14:creationId xmlns:p14="http://schemas.microsoft.com/office/powerpoint/2010/main" val="4511294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A25906E-8B38-49E1-B54A-B2C17C3E50D9}"/>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建设背景与工作痛点</a:t>
            </a:r>
          </a:p>
        </p:txBody>
      </p:sp>
      <p:sp>
        <p:nvSpPr>
          <p:cNvPr id="3" name="slide-subtitle">
            <a:extLst xmlns:a="http://schemas.openxmlformats.org/drawingml/2006/main">
              <a:ext uri="{FF2B5EF4-FFF2-40B4-BE49-F238E27FC236}">
                <a16:creationId xmlns:a16="http://schemas.microsoft.com/office/drawing/2014/main" id="{CE9C3DFB-8259-4651-A7AD-E9C56020BD16}"/>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模型、硬件和软件版本的组合，使社区问题分析需要持续投入</a:t>
            </a:r>
          </a:p>
        </p:txBody>
      </p:sp>
      <p:sp>
        <p:nvSpPr>
          <p:cNvPr id="4" name="">
            <a:extLst xmlns:a="http://schemas.openxmlformats.org/drawingml/2006/main">
              <a:ext uri="{FF2B5EF4-FFF2-40B4-BE49-F238E27FC236}">
                <a16:creationId xmlns:a16="http://schemas.microsoft.com/office/drawing/2014/main" id="{533D3CD5-C16C-42D3-976C-DB472D67C52E}"/>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1093DBDC-FD16-41F2-9732-1D93C36F6731}"/>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7893FC5B-06E9-4717-9C43-28805413287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02</a:t>
            </a:r>
          </a:p>
        </p:txBody>
      </p:sp>
      <p:sp>
        <p:nvSpPr>
          <p:cNvPr id="7" name="row-0-number">
            <a:extLst xmlns:a="http://schemas.openxmlformats.org/drawingml/2006/main">
              <a:ext uri="{FF2B5EF4-FFF2-40B4-BE49-F238E27FC236}">
                <a16:creationId xmlns:a16="http://schemas.microsoft.com/office/drawing/2014/main" id="{5820B373-26F0-412E-B953-CBCAF3617107}"/>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A0B43ABF-65B0-4E01-A5BA-F12E2A78896F}"/>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持续跟进成本高</a:t>
            </a:r>
          </a:p>
        </p:txBody>
      </p:sp>
      <p:sp>
        <p:nvSpPr>
          <p:cNvPr id="9" name="row-0-body">
            <a:extLst xmlns:a="http://schemas.openxmlformats.org/drawingml/2006/main">
              <a:ext uri="{FF2B5EF4-FFF2-40B4-BE49-F238E27FC236}">
                <a16:creationId xmlns:a16="http://schemas.microsoft.com/office/drawing/2014/main" id="{1799A97A-3465-4B37-A11A-B1A9A115790E}"/>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新增 Issue、历史评论和状态变化，需要反复收集与核对。</a:t>
            </a:r>
          </a:p>
        </p:txBody>
      </p:sp>
      <p:sp>
        <p:nvSpPr>
          <p:cNvPr id="10" name="">
            <a:extLst xmlns:a="http://schemas.openxmlformats.org/drawingml/2006/main">
              <a:ext uri="{FF2B5EF4-FFF2-40B4-BE49-F238E27FC236}">
                <a16:creationId xmlns:a16="http://schemas.microsoft.com/office/drawing/2014/main" id="{96FBF156-E2B8-43FE-9FF7-95DD6BA8C319}"/>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A5C8FFC9-67D9-4490-B9C7-18E90CBBDCE7}"/>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0BCFB9A4-CE43-46B0-86E4-49341A316667}"/>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测试投入难选择</a:t>
            </a:r>
          </a:p>
        </p:txBody>
      </p:sp>
      <p:sp>
        <p:nvSpPr>
          <p:cNvPr id="13" name="row-1-body">
            <a:extLst xmlns:a="http://schemas.openxmlformats.org/drawingml/2006/main">
              <a:ext uri="{FF2B5EF4-FFF2-40B4-BE49-F238E27FC236}">
                <a16:creationId xmlns:a16="http://schemas.microsoft.com/office/drawing/2014/main" id="{91498450-EF81-4233-BC23-6398FD545C11}"/>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真实缺陷、文档和咨询混杂，价值与复现条件需要逐条判断。</a:t>
            </a:r>
          </a:p>
        </p:txBody>
      </p:sp>
      <p:sp>
        <p:nvSpPr>
          <p:cNvPr id="14" name="">
            <a:extLst xmlns:a="http://schemas.openxmlformats.org/drawingml/2006/main">
              <a:ext uri="{FF2B5EF4-FFF2-40B4-BE49-F238E27FC236}">
                <a16:creationId xmlns:a16="http://schemas.microsoft.com/office/drawing/2014/main" id="{98F2371C-4DB1-4558-AE44-CA4BD5E1605C}"/>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810B79C1-33AC-43E5-AE25-43AB1E0692E1}"/>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8039EE12-E935-4F1B-95CA-D80876487AFC}"/>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分析经验难复用</a:t>
            </a:r>
          </a:p>
        </p:txBody>
      </p:sp>
      <p:sp>
        <p:nvSpPr>
          <p:cNvPr id="17" name="row-2-body">
            <a:extLst xmlns:a="http://schemas.openxmlformats.org/drawingml/2006/main">
              <a:ext uri="{FF2B5EF4-FFF2-40B4-BE49-F238E27FC236}">
                <a16:creationId xmlns:a16="http://schemas.microsoft.com/office/drawing/2014/main" id="{F6D48338-F5C4-4FB3-ADDF-EDA87E7CD23D}"/>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结论分散在表格和文档中，交接与专题分析容易重复阅读。</a:t>
            </a:r>
          </a:p>
        </p:txBody>
      </p:sp>
    </p:spTree>
    <p:extLst>
      <p:ext uri="{BB962C8B-B14F-4D97-AF65-F5344CB8AC3E}">
        <p14:creationId xmlns:p14="http://schemas.microsoft.com/office/powerpoint/2010/main" val="15573512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5E8F1AE-1BB7-4DCB-A24C-FED1DDF22BE0}"/>
              </a:ext>
            </a:extLst>
          </p:cNvPr>
          <p:cNvPicPr>
            <a:picLocks xmlns:a="http://schemas.openxmlformats.org/drawingml/2006/main" noChangeAspect="1"/>
          </p:cNvPicPr>
          <p:nvPr/>
        </p:nvPicPr>
        <p:blipFill>
          <a:blip xmlns:r="http://schemas.openxmlformats.org/officeDocument/2006/relationships" xmlns:a="http://schemas.openxmlformats.org/drawingml/2006/main" r:embed="R5c67322a71ee45c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537756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D90A57F1-0930-442B-A23C-4FAEED18C36C}"/>
              </a:ext>
            </a:extLst>
          </p:cNvPr>
          <p:cNvCxnSpPr>
            <a:stCxn xmlns:a="http://schemas.openxmlformats.org/drawingml/2006/main" id="20" idx="3"/>
            <a:endCxn xmlns:a="http://schemas.openxmlformats.org/drawingml/2006/main" id="23" idx="1"/>
          </p:cNvCxnSpPr>
          <p:nvPr/>
        </p:nvCxnSpPr>
        <p:spPr>
          <a:xfrm xmlns:a="http://schemas.openxmlformats.org/drawingml/2006/main">
            <a:off x="13735050" y="4191000"/>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3" name="">
            <a:extLst xmlns:a="http://schemas.openxmlformats.org/drawingml/2006/main">
              <a:ext uri="{FF2B5EF4-FFF2-40B4-BE49-F238E27FC236}">
                <a16:creationId xmlns:a16="http://schemas.microsoft.com/office/drawing/2014/main" id="{6195D09F-59BF-40B9-9FB0-885D18C1FAE9}"/>
              </a:ext>
            </a:extLst>
          </p:cNvPr>
          <p:cNvCxnSpPr>
            <a:stCxn xmlns:a="http://schemas.openxmlformats.org/drawingml/2006/main" id="17" idx="3"/>
            <a:endCxn xmlns:a="http://schemas.openxmlformats.org/drawingml/2006/main" id="20" idx="1"/>
          </p:cNvCxnSpPr>
          <p:nvPr/>
        </p:nvCxnSpPr>
        <p:spPr>
          <a:xfrm xmlns:a="http://schemas.openxmlformats.org/drawingml/2006/main">
            <a:off x="10439400" y="4191000"/>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4" name="">
            <a:extLst xmlns:a="http://schemas.openxmlformats.org/drawingml/2006/main">
              <a:ext uri="{FF2B5EF4-FFF2-40B4-BE49-F238E27FC236}">
                <a16:creationId xmlns:a16="http://schemas.microsoft.com/office/drawing/2014/main" id="{7710F0B0-102D-47E7-80CE-EF2C441E47CD}"/>
              </a:ext>
            </a:extLst>
          </p:cNvPr>
          <p:cNvCxnSpPr>
            <a:stCxn xmlns:a="http://schemas.openxmlformats.org/drawingml/2006/main" id="14" idx="3"/>
            <a:endCxn xmlns:a="http://schemas.openxmlformats.org/drawingml/2006/main" id="17" idx="1"/>
          </p:cNvCxnSpPr>
          <p:nvPr/>
        </p:nvCxnSpPr>
        <p:spPr>
          <a:xfrm xmlns:a="http://schemas.openxmlformats.org/drawingml/2006/main">
            <a:off x="7143750" y="4191000"/>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5" name="">
            <a:extLst xmlns:a="http://schemas.openxmlformats.org/drawingml/2006/main">
              <a:ext uri="{FF2B5EF4-FFF2-40B4-BE49-F238E27FC236}">
                <a16:creationId xmlns:a16="http://schemas.microsoft.com/office/drawing/2014/main" id="{2AC47C49-DBA7-40C2-8B16-3EC885163A2D}"/>
              </a:ext>
            </a:extLst>
          </p:cNvPr>
          <p:cNvCxnSpPr>
            <a:stCxn xmlns:a="http://schemas.openxmlformats.org/drawingml/2006/main" id="11" idx="3"/>
            <a:endCxn xmlns:a="http://schemas.openxmlformats.org/drawingml/2006/main" id="14" idx="1"/>
          </p:cNvCxnSpPr>
          <p:nvPr/>
        </p:nvCxnSpPr>
        <p:spPr>
          <a:xfrm xmlns:a="http://schemas.openxmlformats.org/drawingml/2006/main">
            <a:off x="3848100" y="4191000"/>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sp>
        <p:nvSpPr>
          <p:cNvPr id="6" name="slide-title">
            <a:extLst xmlns:a="http://schemas.openxmlformats.org/drawingml/2006/main">
              <a:ext uri="{FF2B5EF4-FFF2-40B4-BE49-F238E27FC236}">
                <a16:creationId xmlns:a16="http://schemas.microsoft.com/office/drawing/2014/main" id="{0F129F10-F9F1-46B5-A095-644A4A4BA00C}"/>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已落地的工作流程</a:t>
            </a:r>
          </a:p>
        </p:txBody>
      </p:sp>
      <p:sp>
        <p:nvSpPr>
          <p:cNvPr id="7" name="slide-subtitle">
            <a:extLst xmlns:a="http://schemas.openxmlformats.org/drawingml/2006/main">
              <a:ext uri="{FF2B5EF4-FFF2-40B4-BE49-F238E27FC236}">
                <a16:creationId xmlns:a16="http://schemas.microsoft.com/office/drawing/2014/main" id="{010CD31C-8A18-4AFD-A8D8-054F8A597F54}"/>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社区信息持续更新，AI 建议进入人工审核与本地分析记录</a:t>
            </a:r>
          </a:p>
        </p:txBody>
      </p:sp>
      <p:sp>
        <p:nvSpPr>
          <p:cNvPr id="8" name="">
            <a:extLst xmlns:a="http://schemas.openxmlformats.org/drawingml/2006/main">
              <a:ext uri="{FF2B5EF4-FFF2-40B4-BE49-F238E27FC236}">
                <a16:creationId xmlns:a16="http://schemas.microsoft.com/office/drawing/2014/main" id="{337769FA-CF53-4EAC-A940-6AA636FA794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9" name="footer">
            <a:extLst xmlns:a="http://schemas.openxmlformats.org/drawingml/2006/main">
              <a:ext uri="{FF2B5EF4-FFF2-40B4-BE49-F238E27FC236}">
                <a16:creationId xmlns:a16="http://schemas.microsoft.com/office/drawing/2014/main" id="{CAF436DA-8528-4514-B006-C152CD7804B0}"/>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10" name="page-number">
            <a:extLst xmlns:a="http://schemas.openxmlformats.org/drawingml/2006/main">
              <a:ext uri="{FF2B5EF4-FFF2-40B4-BE49-F238E27FC236}">
                <a16:creationId xmlns:a16="http://schemas.microsoft.com/office/drawing/2014/main" id="{18EB44B8-F0CE-4662-9AC1-8A33DF916A2D}"/>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04</a:t>
            </a:r>
          </a:p>
        </p:txBody>
      </p:sp>
      <p:sp>
        <p:nvSpPr>
          <p:cNvPr id="11" name="workflow-stage-0">
            <a:extLst xmlns:a="http://schemas.openxmlformats.org/drawingml/2006/main">
              <a:ext uri="{FF2B5EF4-FFF2-40B4-BE49-F238E27FC236}">
                <a16:creationId xmlns:a16="http://schemas.microsoft.com/office/drawing/2014/main" id="{9D7C2227-4BA8-439C-B561-93B3951ACB6B}"/>
              </a:ext>
            </a:extLst>
          </p:cNvPr>
          <p:cNvSpPr>
            <a:spLocks xmlns:a="http://schemas.openxmlformats.org/drawingml/2006/main" noGrp="1"/>
          </p:cNvSpPr>
          <p:nvPr/>
        </p:nvSpPr>
        <p:spPr>
          <a:xfrm xmlns:a="http://schemas.openxmlformats.org/drawingml/2006/main">
            <a:off x="99060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2" name="workflow-title-0">
            <a:extLst xmlns:a="http://schemas.openxmlformats.org/drawingml/2006/main">
              <a:ext uri="{FF2B5EF4-FFF2-40B4-BE49-F238E27FC236}">
                <a16:creationId xmlns:a16="http://schemas.microsoft.com/office/drawing/2014/main" id="{F0265D09-F45C-41BA-AA4C-30916B91D9BB}"/>
              </a:ext>
            </a:extLst>
          </p:cNvPr>
          <p:cNvSpPr>
            <a:spLocks xmlns:a="http://schemas.openxmlformats.org/drawingml/2006/main" noGrp="1"/>
          </p:cNvSpPr>
          <p:nvPr/>
        </p:nvSpPr>
        <p:spPr>
          <a:xfrm xmlns:a="http://schemas.openxmlformats.org/drawingml/2006/main">
            <a:off x="120015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同步汇集</a:t>
            </a:r>
          </a:p>
        </p:txBody>
      </p:sp>
      <p:sp>
        <p:nvSpPr>
          <p:cNvPr id="13" name="workflow-body-0">
            <a:extLst xmlns:a="http://schemas.openxmlformats.org/drawingml/2006/main">
              <a:ext uri="{FF2B5EF4-FFF2-40B4-BE49-F238E27FC236}">
                <a16:creationId xmlns:a16="http://schemas.microsoft.com/office/drawing/2014/main" id="{5FC1FB5C-AED5-40C5-8337-8CB6762C2681}"/>
              </a:ext>
            </a:extLst>
          </p:cNvPr>
          <p:cNvSpPr>
            <a:spLocks xmlns:a="http://schemas.openxmlformats.org/drawingml/2006/main" noGrp="1"/>
          </p:cNvSpPr>
          <p:nvPr/>
        </p:nvSpPr>
        <p:spPr>
          <a:xfrm xmlns:a="http://schemas.openxmlformats.org/drawingml/2006/main">
            <a:off x="120015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全量同步</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增量更新与校准</a:t>
            </a:r>
          </a:p>
        </p:txBody>
      </p:sp>
      <p:sp>
        <p:nvSpPr>
          <p:cNvPr id="14" name="workflow-stage-1">
            <a:extLst xmlns:a="http://schemas.openxmlformats.org/drawingml/2006/main">
              <a:ext uri="{FF2B5EF4-FFF2-40B4-BE49-F238E27FC236}">
                <a16:creationId xmlns:a16="http://schemas.microsoft.com/office/drawing/2014/main" id="{F6AC04C0-44D5-496F-ACBB-FB5826D08550}"/>
              </a:ext>
            </a:extLst>
          </p:cNvPr>
          <p:cNvSpPr>
            <a:spLocks xmlns:a="http://schemas.openxmlformats.org/drawingml/2006/main" noGrp="1"/>
          </p:cNvSpPr>
          <p:nvPr/>
        </p:nvSpPr>
        <p:spPr>
          <a:xfrm xmlns:a="http://schemas.openxmlformats.org/drawingml/2006/main">
            <a:off x="428625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5" name="workflow-title-1">
            <a:extLst xmlns:a="http://schemas.openxmlformats.org/drawingml/2006/main">
              <a:ext uri="{FF2B5EF4-FFF2-40B4-BE49-F238E27FC236}">
                <a16:creationId xmlns:a16="http://schemas.microsoft.com/office/drawing/2014/main" id="{ED9ACAA6-86A1-46F6-ACFC-C00F4B6989C2}"/>
              </a:ext>
            </a:extLst>
          </p:cNvPr>
          <p:cNvSpPr>
            <a:spLocks xmlns:a="http://schemas.openxmlformats.org/drawingml/2006/main" noGrp="1"/>
          </p:cNvSpPr>
          <p:nvPr/>
        </p:nvSpPr>
        <p:spPr>
          <a:xfrm xmlns:a="http://schemas.openxmlformats.org/drawingml/2006/main">
            <a:off x="449580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范围筛选</a:t>
            </a:r>
          </a:p>
        </p:txBody>
      </p:sp>
      <p:sp>
        <p:nvSpPr>
          <p:cNvPr id="16" name="workflow-body-1">
            <a:extLst xmlns:a="http://schemas.openxmlformats.org/drawingml/2006/main">
              <a:ext uri="{FF2B5EF4-FFF2-40B4-BE49-F238E27FC236}">
                <a16:creationId xmlns:a16="http://schemas.microsoft.com/office/drawing/2014/main" id="{7BCF5382-DA3D-46B6-85D9-D22FBE84A436}"/>
              </a:ext>
            </a:extLst>
          </p:cNvPr>
          <p:cNvSpPr>
            <a:spLocks xmlns:a="http://schemas.openxmlformats.org/drawingml/2006/main" noGrp="1"/>
          </p:cNvSpPr>
          <p:nvPr/>
        </p:nvSpPr>
        <p:spPr>
          <a:xfrm xmlns:a="http://schemas.openxmlformats.org/drawingml/2006/main">
            <a:off x="449580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日期、状态、标签</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版本与分析字段</a:t>
            </a:r>
          </a:p>
        </p:txBody>
      </p:sp>
      <p:sp>
        <p:nvSpPr>
          <p:cNvPr id="17" name="workflow-stage-2">
            <a:extLst xmlns:a="http://schemas.openxmlformats.org/drawingml/2006/main">
              <a:ext uri="{FF2B5EF4-FFF2-40B4-BE49-F238E27FC236}">
                <a16:creationId xmlns:a16="http://schemas.microsoft.com/office/drawing/2014/main" id="{4F326DC0-18B1-4410-A098-7BCFEF30C5A7}"/>
              </a:ext>
            </a:extLst>
          </p:cNvPr>
          <p:cNvSpPr>
            <a:spLocks xmlns:a="http://schemas.openxmlformats.org/drawingml/2006/main" noGrp="1"/>
          </p:cNvSpPr>
          <p:nvPr/>
        </p:nvSpPr>
        <p:spPr>
          <a:xfrm xmlns:a="http://schemas.openxmlformats.org/drawingml/2006/main">
            <a:off x="758190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8" name="workflow-title-2">
            <a:extLst xmlns:a="http://schemas.openxmlformats.org/drawingml/2006/main">
              <a:ext uri="{FF2B5EF4-FFF2-40B4-BE49-F238E27FC236}">
                <a16:creationId xmlns:a16="http://schemas.microsoft.com/office/drawing/2014/main" id="{0F1B640D-FC05-480D-8616-EA5DDD33F766}"/>
              </a:ext>
            </a:extLst>
          </p:cNvPr>
          <p:cNvSpPr>
            <a:spLocks xmlns:a="http://schemas.openxmlformats.org/drawingml/2006/main" noGrp="1"/>
          </p:cNvSpPr>
          <p:nvPr/>
        </p:nvSpPr>
        <p:spPr>
          <a:xfrm xmlns:a="http://schemas.openxmlformats.org/drawingml/2006/main">
            <a:off x="779145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AI 辅助分析</a:t>
            </a:r>
          </a:p>
        </p:txBody>
      </p:sp>
      <p:sp>
        <p:nvSpPr>
          <p:cNvPr id="19" name="workflow-body-2">
            <a:extLst xmlns:a="http://schemas.openxmlformats.org/drawingml/2006/main">
              <a:ext uri="{FF2B5EF4-FFF2-40B4-BE49-F238E27FC236}">
                <a16:creationId xmlns:a16="http://schemas.microsoft.com/office/drawing/2014/main" id="{B099EC65-907D-4754-873D-2C97ADCBE58F}"/>
              </a:ext>
            </a:extLst>
          </p:cNvPr>
          <p:cNvSpPr>
            <a:spLocks xmlns:a="http://schemas.openxmlformats.org/drawingml/2006/main" noGrp="1"/>
          </p:cNvSpPr>
          <p:nvPr/>
        </p:nvSpPr>
        <p:spPr>
          <a:xfrm xmlns:a="http://schemas.openxmlformats.org/drawingml/2006/main">
            <a:off x="779145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正文与评论归纳</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结构化补测建议</a:t>
            </a:r>
          </a:p>
        </p:txBody>
      </p:sp>
      <p:sp>
        <p:nvSpPr>
          <p:cNvPr id="20" name="workflow-stage-3">
            <a:extLst xmlns:a="http://schemas.openxmlformats.org/drawingml/2006/main">
              <a:ext uri="{FF2B5EF4-FFF2-40B4-BE49-F238E27FC236}">
                <a16:creationId xmlns:a16="http://schemas.microsoft.com/office/drawing/2014/main" id="{ECE27765-5C83-4F9C-ABB9-327235631421}"/>
              </a:ext>
            </a:extLst>
          </p:cNvPr>
          <p:cNvSpPr>
            <a:spLocks xmlns:a="http://schemas.openxmlformats.org/drawingml/2006/main" noGrp="1"/>
          </p:cNvSpPr>
          <p:nvPr/>
        </p:nvSpPr>
        <p:spPr>
          <a:xfrm xmlns:a="http://schemas.openxmlformats.org/drawingml/2006/main">
            <a:off x="1087755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1" name="workflow-title-3">
            <a:extLst xmlns:a="http://schemas.openxmlformats.org/drawingml/2006/main">
              <a:ext uri="{FF2B5EF4-FFF2-40B4-BE49-F238E27FC236}">
                <a16:creationId xmlns:a16="http://schemas.microsoft.com/office/drawing/2014/main" id="{C15271E0-B3F9-48B6-AC6A-ED2FE7BBE1B4}"/>
              </a:ext>
            </a:extLst>
          </p:cNvPr>
          <p:cNvSpPr>
            <a:spLocks xmlns:a="http://schemas.openxmlformats.org/drawingml/2006/main" noGrp="1"/>
          </p:cNvSpPr>
          <p:nvPr/>
        </p:nvSpPr>
        <p:spPr>
          <a:xfrm xmlns:a="http://schemas.openxmlformats.org/drawingml/2006/main">
            <a:off x="1108710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人工审核</a:t>
            </a:r>
          </a:p>
        </p:txBody>
      </p:sp>
      <p:sp>
        <p:nvSpPr>
          <p:cNvPr id="22" name="workflow-body-3">
            <a:extLst xmlns:a="http://schemas.openxmlformats.org/drawingml/2006/main">
              <a:ext uri="{FF2B5EF4-FFF2-40B4-BE49-F238E27FC236}">
                <a16:creationId xmlns:a16="http://schemas.microsoft.com/office/drawing/2014/main" id="{0253DEC8-3BF0-4A64-AE07-DC343B6503DF}"/>
              </a:ext>
            </a:extLst>
          </p:cNvPr>
          <p:cNvSpPr>
            <a:spLocks xmlns:a="http://schemas.openxmlformats.org/drawingml/2006/main" noGrp="1"/>
          </p:cNvSpPr>
          <p:nvPr/>
        </p:nvSpPr>
        <p:spPr>
          <a:xfrm xmlns:a="http://schemas.openxmlformats.org/drawingml/2006/main">
            <a:off x="1108710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核查证据</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选择采纳并保存</a:t>
            </a:r>
          </a:p>
        </p:txBody>
      </p:sp>
      <p:sp>
        <p:nvSpPr>
          <p:cNvPr id="23" name="workflow-stage-4">
            <a:extLst xmlns:a="http://schemas.openxmlformats.org/drawingml/2006/main">
              <a:ext uri="{FF2B5EF4-FFF2-40B4-BE49-F238E27FC236}">
                <a16:creationId xmlns:a16="http://schemas.microsoft.com/office/drawing/2014/main" id="{0915A570-4BD3-4E34-8E03-50F576259B64}"/>
              </a:ext>
            </a:extLst>
          </p:cNvPr>
          <p:cNvSpPr>
            <a:spLocks xmlns:a="http://schemas.openxmlformats.org/drawingml/2006/main" noGrp="1"/>
          </p:cNvSpPr>
          <p:nvPr/>
        </p:nvSpPr>
        <p:spPr>
          <a:xfrm xmlns:a="http://schemas.openxmlformats.org/drawingml/2006/main">
            <a:off x="1417320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4" name="workflow-title-4">
            <a:extLst xmlns:a="http://schemas.openxmlformats.org/drawingml/2006/main">
              <a:ext uri="{FF2B5EF4-FFF2-40B4-BE49-F238E27FC236}">
                <a16:creationId xmlns:a16="http://schemas.microsoft.com/office/drawing/2014/main" id="{E339FE2E-94FA-4BCD-85CA-865F8200573C}"/>
              </a:ext>
            </a:extLst>
          </p:cNvPr>
          <p:cNvSpPr>
            <a:spLocks xmlns:a="http://schemas.openxmlformats.org/drawingml/2006/main" noGrp="1"/>
          </p:cNvSpPr>
          <p:nvPr/>
        </p:nvSpPr>
        <p:spPr>
          <a:xfrm xmlns:a="http://schemas.openxmlformats.org/drawingml/2006/main">
            <a:off x="1438275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分析沉淀</a:t>
            </a:r>
          </a:p>
        </p:txBody>
      </p:sp>
      <p:sp>
        <p:nvSpPr>
          <p:cNvPr id="25" name="workflow-body-4">
            <a:extLst xmlns:a="http://schemas.openxmlformats.org/drawingml/2006/main">
              <a:ext uri="{FF2B5EF4-FFF2-40B4-BE49-F238E27FC236}">
                <a16:creationId xmlns:a16="http://schemas.microsoft.com/office/drawing/2014/main" id="{E036075E-5CC1-44B5-B89D-2C434000114F}"/>
              </a:ext>
            </a:extLst>
          </p:cNvPr>
          <p:cNvSpPr>
            <a:spLocks xmlns:a="http://schemas.openxmlformats.org/drawingml/2006/main" noGrp="1"/>
          </p:cNvSpPr>
          <p:nvPr/>
        </p:nvSpPr>
        <p:spPr>
          <a:xfrm xmlns:a="http://schemas.openxmlformats.org/drawingml/2006/main">
            <a:off x="1438275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版本支持与状态记录</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筛选导出</a:t>
            </a:r>
          </a:p>
        </p:txBody>
      </p:sp>
      <p:sp>
        <p:nvSpPr>
          <p:cNvPr id="26" name="workflow-followup-title">
            <a:extLst xmlns:a="http://schemas.openxmlformats.org/drawingml/2006/main">
              <a:ext uri="{FF2B5EF4-FFF2-40B4-BE49-F238E27FC236}">
                <a16:creationId xmlns:a16="http://schemas.microsoft.com/office/drawing/2014/main" id="{4C410E80-3D1D-49EF-B345-3C8BEF1C440F}"/>
              </a:ext>
            </a:extLst>
          </p:cNvPr>
          <p:cNvSpPr>
            <a:spLocks xmlns:a="http://schemas.openxmlformats.org/drawingml/2006/main" noGrp="1"/>
          </p:cNvSpPr>
          <p:nvPr/>
        </p:nvSpPr>
        <p:spPr>
          <a:xfrm xmlns:a="http://schemas.openxmlformats.org/drawingml/2006/main">
            <a:off x="1066800" y="6543675"/>
            <a:ext cx="1524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1372F"/>
                </a:solidFill>
                <a:latin typeface="Microsoft YaHei"/>
                <a:ea typeface="Microsoft YaHei"/>
                <a:cs typeface="Microsoft YaHei"/>
              </a:defRPr>
            </a:defPPr>
            <a:lvl1pPr algn="l">
              <a:defRPr sz="2850" b="1">
                <a:solidFill>
                  <a:srgbClr val="21372F"/>
                </a:solidFill>
                <a:latin typeface="Microsoft YaHei"/>
                <a:ea typeface="Microsoft YaHei"/>
                <a:cs typeface="Microsoft YaHei"/>
              </a:defRPr>
            </a:lvl1pPr>
            <a:lvl2pPr algn="l">
              <a:defRPr sz="2850" b="1">
                <a:solidFill>
                  <a:srgbClr val="21372F"/>
                </a:solidFill>
                <a:latin typeface="Microsoft YaHei"/>
                <a:ea typeface="Microsoft YaHei"/>
                <a:cs typeface="Microsoft YaHei"/>
              </a:defRPr>
            </a:lvl2pPr>
            <a:lvl3pPr algn="l">
              <a:defRPr sz="2850" b="1">
                <a:solidFill>
                  <a:srgbClr val="21372F"/>
                </a:solidFill>
                <a:latin typeface="Microsoft YaHei"/>
                <a:ea typeface="Microsoft YaHei"/>
                <a:cs typeface="Microsoft YaHei"/>
              </a:defRPr>
            </a:lvl3pPr>
            <a:lvl4pPr algn="l">
              <a:defRPr sz="2850" b="1">
                <a:solidFill>
                  <a:srgbClr val="21372F"/>
                </a:solidFill>
                <a:latin typeface="Microsoft YaHei"/>
                <a:ea typeface="Microsoft YaHei"/>
                <a:cs typeface="Microsoft YaHei"/>
              </a:defRPr>
            </a:lvl4pPr>
            <a:lvl5pPr algn="l">
              <a:defRPr sz="2850" b="1">
                <a:solidFill>
                  <a:srgbClr val="21372F"/>
                </a:solidFill>
                <a:latin typeface="Microsoft YaHei"/>
                <a:ea typeface="Microsoft YaHei"/>
                <a:cs typeface="Microsoft YaHei"/>
              </a:defRPr>
            </a:lvl5pPr>
            <a:lvl6pPr algn="l">
              <a:defRPr sz="2850" b="1">
                <a:solidFill>
                  <a:srgbClr val="21372F"/>
                </a:solidFill>
                <a:latin typeface="Microsoft YaHei"/>
                <a:ea typeface="Microsoft YaHei"/>
                <a:cs typeface="Microsoft YaHei"/>
              </a:defRPr>
            </a:lvl6pPr>
            <a:lvl7pPr algn="l">
              <a:defRPr sz="2850" b="1">
                <a:solidFill>
                  <a:srgbClr val="21372F"/>
                </a:solidFill>
                <a:latin typeface="Microsoft YaHei"/>
                <a:ea typeface="Microsoft YaHei"/>
                <a:cs typeface="Microsoft YaHei"/>
              </a:defRPr>
            </a:lvl7pPr>
            <a:lvl8pPr algn="l">
              <a:defRPr sz="2850" b="1">
                <a:solidFill>
                  <a:srgbClr val="21372F"/>
                </a:solidFill>
                <a:latin typeface="Microsoft YaHei"/>
                <a:ea typeface="Microsoft YaHei"/>
                <a:cs typeface="Microsoft YaHei"/>
              </a:defRPr>
            </a:lvl8pPr>
            <a:lvl9pPr algn="l">
              <a:defRPr sz="2850" b="1">
                <a:solidFill>
                  <a:srgbClr val="21372F"/>
                </a:solidFill>
                <a:latin typeface="Microsoft YaHei"/>
                <a:ea typeface="Microsoft YaHei"/>
                <a:cs typeface="Microsoft YaHei"/>
              </a:defRPr>
            </a:lvl9pPr>
          </a:lstStyle>
          <a:p xmlns:a="http://schemas.openxmlformats.org/drawingml/2006/main">
            <a:pPr algn="l">
              <a:defRPr sz="2850" b="1">
                <a:solidFill>
                  <a:srgbClr val="21372F"/>
                </a:solidFill>
                <a:latin typeface="Microsoft YaHei"/>
                <a:ea typeface="Microsoft YaHei"/>
                <a:cs typeface="Microsoft YaHei"/>
              </a:defRPr>
            </a:pPr>
            <a:r>
              <a:rPr sz="2850" b="1">
                <a:solidFill>
                  <a:srgbClr val="21372F"/>
                </a:solidFill>
                <a:latin typeface="Microsoft YaHei"/>
                <a:ea typeface="Microsoft YaHei"/>
                <a:cs typeface="Microsoft YaHei"/>
              </a:rPr>
              <a:t>后续测试工作</a:t>
            </a:r>
          </a:p>
        </p:txBody>
      </p:sp>
      <p:sp>
        <p:nvSpPr>
          <p:cNvPr id="27" name="workflow-followup">
            <a:extLst xmlns:a="http://schemas.openxmlformats.org/drawingml/2006/main">
              <a:ext uri="{FF2B5EF4-FFF2-40B4-BE49-F238E27FC236}">
                <a16:creationId xmlns:a16="http://schemas.microsoft.com/office/drawing/2014/main" id="{A9EFE173-9BEC-417D-9371-1E785E17CCF8}"/>
              </a:ext>
            </a:extLst>
          </p:cNvPr>
          <p:cNvSpPr>
            <a:spLocks xmlns:a="http://schemas.openxmlformats.org/drawingml/2006/main" noGrp="1"/>
          </p:cNvSpPr>
          <p:nvPr/>
        </p:nvSpPr>
        <p:spPr>
          <a:xfrm xmlns:a="http://schemas.openxmlformats.org/drawingml/2006/main">
            <a:off x="1066800" y="7353300"/>
            <a:ext cx="1581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60756B"/>
                </a:solidFill>
                <a:latin typeface="Microsoft YaHei"/>
                <a:ea typeface="Microsoft YaHei"/>
                <a:cs typeface="Microsoft YaHei"/>
              </a:defRPr>
            </a:defPPr>
            <a:lvl1pPr algn="l">
              <a:defRPr sz="2700" b="0">
                <a:solidFill>
                  <a:srgbClr val="60756B"/>
                </a:solidFill>
                <a:latin typeface="Microsoft YaHei"/>
                <a:ea typeface="Microsoft YaHei"/>
                <a:cs typeface="Microsoft YaHei"/>
              </a:defRPr>
            </a:lvl1pPr>
            <a:lvl2pPr algn="l">
              <a:defRPr sz="2700" b="0">
                <a:solidFill>
                  <a:srgbClr val="60756B"/>
                </a:solidFill>
                <a:latin typeface="Microsoft YaHei"/>
                <a:ea typeface="Microsoft YaHei"/>
                <a:cs typeface="Microsoft YaHei"/>
              </a:defRPr>
            </a:lvl2pPr>
            <a:lvl3pPr algn="l">
              <a:defRPr sz="2700" b="0">
                <a:solidFill>
                  <a:srgbClr val="60756B"/>
                </a:solidFill>
                <a:latin typeface="Microsoft YaHei"/>
                <a:ea typeface="Microsoft YaHei"/>
                <a:cs typeface="Microsoft YaHei"/>
              </a:defRPr>
            </a:lvl3pPr>
            <a:lvl4pPr algn="l">
              <a:defRPr sz="2700" b="0">
                <a:solidFill>
                  <a:srgbClr val="60756B"/>
                </a:solidFill>
                <a:latin typeface="Microsoft YaHei"/>
                <a:ea typeface="Microsoft YaHei"/>
                <a:cs typeface="Microsoft YaHei"/>
              </a:defRPr>
            </a:lvl4pPr>
            <a:lvl5pPr algn="l">
              <a:defRPr sz="2700" b="0">
                <a:solidFill>
                  <a:srgbClr val="60756B"/>
                </a:solidFill>
                <a:latin typeface="Microsoft YaHei"/>
                <a:ea typeface="Microsoft YaHei"/>
                <a:cs typeface="Microsoft YaHei"/>
              </a:defRPr>
            </a:lvl5pPr>
            <a:lvl6pPr algn="l">
              <a:defRPr sz="2700" b="0">
                <a:solidFill>
                  <a:srgbClr val="60756B"/>
                </a:solidFill>
                <a:latin typeface="Microsoft YaHei"/>
                <a:ea typeface="Microsoft YaHei"/>
                <a:cs typeface="Microsoft YaHei"/>
              </a:defRPr>
            </a:lvl6pPr>
            <a:lvl7pPr algn="l">
              <a:defRPr sz="2700" b="0">
                <a:solidFill>
                  <a:srgbClr val="60756B"/>
                </a:solidFill>
                <a:latin typeface="Microsoft YaHei"/>
                <a:ea typeface="Microsoft YaHei"/>
                <a:cs typeface="Microsoft YaHei"/>
              </a:defRPr>
            </a:lvl7pPr>
            <a:lvl8pPr algn="l">
              <a:defRPr sz="2700" b="0">
                <a:solidFill>
                  <a:srgbClr val="60756B"/>
                </a:solidFill>
                <a:latin typeface="Microsoft YaHei"/>
                <a:ea typeface="Microsoft YaHei"/>
                <a:cs typeface="Microsoft YaHei"/>
              </a:defRPr>
            </a:lvl8pPr>
            <a:lvl9pPr algn="l">
              <a:defRPr sz="2700" b="0">
                <a:solidFill>
                  <a:srgbClr val="60756B"/>
                </a:solidFill>
                <a:latin typeface="Microsoft YaHei"/>
                <a:ea typeface="Microsoft YaHei"/>
                <a:cs typeface="Microsoft YaHei"/>
              </a:defRPr>
            </a:lvl9pPr>
          </a:lstStyle>
          <a:p xmlns:a="http://schemas.openxmlformats.org/drawingml/2006/main">
            <a:pPr algn="l">
              <a:defRPr sz="2700" b="0">
                <a:solidFill>
                  <a:srgbClr val="60756B"/>
                </a:solidFill>
                <a:latin typeface="Microsoft YaHei"/>
                <a:ea typeface="Microsoft YaHei"/>
                <a:cs typeface="Microsoft YaHei"/>
              </a:defRPr>
            </a:pPr>
            <a:r>
              <a:rPr sz="2700" b="0">
                <a:solidFill>
                  <a:srgbClr val="60756B"/>
                </a:solidFill>
                <a:latin typeface="Microsoft YaHei"/>
                <a:ea typeface="Microsoft YaHei"/>
                <a:cs typeface="Microsoft YaHei"/>
              </a:rPr>
              <a:t>人工复现、最小用例提炼与 CI 回归仍需进一步衔接。</a:t>
            </a:r>
          </a:p>
        </p:txBody>
      </p:sp>
    </p:spTree>
    <p:extLst>
      <p:ext uri="{BB962C8B-B14F-4D97-AF65-F5344CB8AC3E}">
        <p14:creationId xmlns:p14="http://schemas.microsoft.com/office/powerpoint/2010/main" val="14881273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1C8BF8B-594F-45C4-9F1E-07FF18A2CBCC}"/>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已完成的核心能力</a:t>
            </a:r>
          </a:p>
        </p:txBody>
      </p:sp>
      <p:sp>
        <p:nvSpPr>
          <p:cNvPr id="3" name="slide-subtitle">
            <a:extLst xmlns:a="http://schemas.openxmlformats.org/drawingml/2006/main">
              <a:ext uri="{FF2B5EF4-FFF2-40B4-BE49-F238E27FC236}">
                <a16:creationId xmlns:a16="http://schemas.microsoft.com/office/drawing/2014/main" id="{479E991B-5D0F-464A-9F5D-1D6670217027}"/>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单条分析与阶段性的集中梳理，使用同一套数据和分析入口</a:t>
            </a:r>
          </a:p>
        </p:txBody>
      </p:sp>
      <p:sp>
        <p:nvSpPr>
          <p:cNvPr id="4" name="">
            <a:extLst xmlns:a="http://schemas.openxmlformats.org/drawingml/2006/main">
              <a:ext uri="{FF2B5EF4-FFF2-40B4-BE49-F238E27FC236}">
                <a16:creationId xmlns:a16="http://schemas.microsoft.com/office/drawing/2014/main" id="{8D65ECE7-FBFF-4CB4-8C40-31CD8CD24D7F}"/>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75F3A5B0-AC0F-41EB-945D-3ADA3FAF2AB7}"/>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35BACD03-7B42-4F83-A67D-1B91FE840860}"/>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05</a:t>
            </a:r>
          </a:p>
        </p:txBody>
      </p:sp>
      <p:graphicFrame>
        <p:nvGraphicFramePr>
          <p:cNvPr id="7" name="">
            <a:extLst xmlns:a="http://schemas.openxmlformats.org/drawingml/2006/main">
              <a:ext uri="{FF2B5EF4-FFF2-40B4-BE49-F238E27FC236}">
                <a16:creationId xmlns:a16="http://schemas.microsoft.com/office/drawing/2014/main" id="{EB382229-6470-4B13-9B88-66CEEEAC35F6}"/>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2619375"/>
                <a:gridCol w="7620000"/>
                <a:gridCol w="6048375"/>
              </a:tblGrid>
              <a:tr h="914400">
                <a:tc>
                  <a:txBody>
                    <a:bodyPr wrap="square">
                      <a:noAutofit/>
                    </a:bodyPr>
                    <a:lstStyle/>
                    <a:p>
                      <a:r>
                        <a:rPr sz="2325" b="1">
                          <a:solidFill>
                            <a:srgbClr val="FFFFFF"/>
                          </a:solidFill>
                          <a:latin typeface="Microsoft YaHei"/>
                          <a:ea typeface="Microsoft YaHei"/>
                          <a:cs typeface="Microsoft YaHei"/>
                        </a:rPr>
                        <a:t>工作环节</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已实现能力</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对实际工作的作用</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250" b="0">
                          <a:solidFill>
                            <a:srgbClr val="21372F"/>
                          </a:solidFill>
                          <a:latin typeface="Microsoft YaHei"/>
                          <a:ea typeface="Microsoft YaHei"/>
                          <a:cs typeface="Microsoft YaHei"/>
                        </a:rPr>
                        <a:t>数据同步</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全量同步、默认 15 分钟增量同步、全量校准</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持续跟进社区问题变化</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批量分析</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勾选或筛选创建任务，可配置并发</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支持集中梳理一批问题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任务运行</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进度、重试、取消、中断任务恢复</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持续跟踪任务和失败项</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结果管理</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建议独立保存、人工采纳、筛选导出</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积累分析材料，支持交接和评审</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13375031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39A584C-FD5E-4DAA-938A-88DAAA54B70D}"/>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AI 分析输出与人工职责</a:t>
            </a:r>
          </a:p>
        </p:txBody>
      </p:sp>
      <p:sp>
        <p:nvSpPr>
          <p:cNvPr id="3" name="slide-subtitle">
            <a:extLst xmlns:a="http://schemas.openxmlformats.org/drawingml/2006/main">
              <a:ext uri="{FF2B5EF4-FFF2-40B4-BE49-F238E27FC236}">
                <a16:creationId xmlns:a16="http://schemas.microsoft.com/office/drawing/2014/main" id="{F1E454FB-02E9-4F48-ADDC-9258A5702297}"/>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输出围绕测试准备展开，明确事实、假设和待补信息</a:t>
            </a:r>
          </a:p>
        </p:txBody>
      </p:sp>
      <p:sp>
        <p:nvSpPr>
          <p:cNvPr id="4" name="">
            <a:extLst xmlns:a="http://schemas.openxmlformats.org/drawingml/2006/main">
              <a:ext uri="{FF2B5EF4-FFF2-40B4-BE49-F238E27FC236}">
                <a16:creationId xmlns:a16="http://schemas.microsoft.com/office/drawing/2014/main" id="{45124BCE-9C94-4FF0-9A2C-48DCCD47317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6FFECAFD-AEF3-490C-90EF-39B4077E45F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FC70E7C3-8BFC-44FC-B35B-727BD1A82BFE}"/>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06</a:t>
            </a:r>
          </a:p>
        </p:txBody>
      </p:sp>
      <p:sp>
        <p:nvSpPr>
          <p:cNvPr id="7" name="ai-col-heading">
            <a:extLst xmlns:a="http://schemas.openxmlformats.org/drawingml/2006/main">
              <a:ext uri="{FF2B5EF4-FFF2-40B4-BE49-F238E27FC236}">
                <a16:creationId xmlns:a16="http://schemas.microsoft.com/office/drawing/2014/main" id="{B08FD751-DC02-476A-9100-89CF208C3F02}"/>
              </a:ext>
            </a:extLst>
          </p:cNvPr>
          <p:cNvSpPr>
            <a:spLocks xmlns:a="http://schemas.openxmlformats.org/drawingml/2006/main" noGrp="1"/>
          </p:cNvSpPr>
          <p:nvPr/>
        </p:nvSpPr>
        <p:spPr>
          <a:xfrm xmlns:a="http://schemas.openxmlformats.org/drawingml/2006/main">
            <a:off x="1047750" y="28575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AI 辅助整理</a:t>
            </a:r>
          </a:p>
        </p:txBody>
      </p:sp>
      <p:sp>
        <p:nvSpPr>
          <p:cNvPr id="8" name="ai-col-body">
            <a:extLst xmlns:a="http://schemas.openxmlformats.org/drawingml/2006/main">
              <a:ext uri="{FF2B5EF4-FFF2-40B4-BE49-F238E27FC236}">
                <a16:creationId xmlns:a16="http://schemas.microsoft.com/office/drawing/2014/main" id="{9D63CF55-C52D-460D-B2A9-B8C310ABE59F}"/>
              </a:ext>
            </a:extLst>
          </p:cNvPr>
          <p:cNvSpPr>
            <a:spLocks xmlns:a="http://schemas.openxmlformats.org/drawingml/2006/main" noGrp="1"/>
          </p:cNvSpPr>
          <p:nvPr/>
        </p:nvSpPr>
        <p:spPr>
          <a:xfrm xmlns:a="http://schemas.openxmlformats.org/drawingml/2006/main">
            <a:off x="1047750" y="3895725"/>
            <a:ext cx="7620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1372F"/>
                </a:solidFill>
                <a:latin typeface="Microsoft YaHei"/>
                <a:ea typeface="Microsoft YaHei"/>
                <a:cs typeface="Microsoft YaHei"/>
              </a:defRPr>
            </a:defPPr>
            <a:lvl1pPr algn="l">
              <a:defRPr sz="2625" b="0">
                <a:solidFill>
                  <a:srgbClr val="21372F"/>
                </a:solidFill>
                <a:latin typeface="Microsoft YaHei"/>
                <a:ea typeface="Microsoft YaHei"/>
                <a:cs typeface="Microsoft YaHei"/>
              </a:defRPr>
            </a:lvl1pPr>
            <a:lvl2pPr algn="l">
              <a:defRPr sz="2625" b="0">
                <a:solidFill>
                  <a:srgbClr val="21372F"/>
                </a:solidFill>
                <a:latin typeface="Microsoft YaHei"/>
                <a:ea typeface="Microsoft YaHei"/>
                <a:cs typeface="Microsoft YaHei"/>
              </a:defRPr>
            </a:lvl2pPr>
            <a:lvl3pPr algn="l">
              <a:defRPr sz="2625" b="0">
                <a:solidFill>
                  <a:srgbClr val="21372F"/>
                </a:solidFill>
                <a:latin typeface="Microsoft YaHei"/>
                <a:ea typeface="Microsoft YaHei"/>
                <a:cs typeface="Microsoft YaHei"/>
              </a:defRPr>
            </a:lvl3pPr>
            <a:lvl4pPr algn="l">
              <a:defRPr sz="2625" b="0">
                <a:solidFill>
                  <a:srgbClr val="21372F"/>
                </a:solidFill>
                <a:latin typeface="Microsoft YaHei"/>
                <a:ea typeface="Microsoft YaHei"/>
                <a:cs typeface="Microsoft YaHei"/>
              </a:defRPr>
            </a:lvl4pPr>
            <a:lvl5pPr algn="l">
              <a:defRPr sz="2625" b="0">
                <a:solidFill>
                  <a:srgbClr val="21372F"/>
                </a:solidFill>
                <a:latin typeface="Microsoft YaHei"/>
                <a:ea typeface="Microsoft YaHei"/>
                <a:cs typeface="Microsoft YaHei"/>
              </a:defRPr>
            </a:lvl5pPr>
            <a:lvl6pPr algn="l">
              <a:defRPr sz="2625" b="0">
                <a:solidFill>
                  <a:srgbClr val="21372F"/>
                </a:solidFill>
                <a:latin typeface="Microsoft YaHei"/>
                <a:ea typeface="Microsoft YaHei"/>
                <a:cs typeface="Microsoft YaHei"/>
              </a:defRPr>
            </a:lvl6pPr>
            <a:lvl7pPr algn="l">
              <a:defRPr sz="2625" b="0">
                <a:solidFill>
                  <a:srgbClr val="21372F"/>
                </a:solidFill>
                <a:latin typeface="Microsoft YaHei"/>
                <a:ea typeface="Microsoft YaHei"/>
                <a:cs typeface="Microsoft YaHei"/>
              </a:defRPr>
            </a:lvl7pPr>
            <a:lvl8pPr algn="l">
              <a:defRPr sz="2625" b="0">
                <a:solidFill>
                  <a:srgbClr val="21372F"/>
                </a:solidFill>
                <a:latin typeface="Microsoft YaHei"/>
                <a:ea typeface="Microsoft YaHei"/>
                <a:cs typeface="Microsoft YaHei"/>
              </a:defRPr>
            </a:lvl8pPr>
            <a:lvl9pPr algn="l">
              <a:defRPr sz="2625" b="0">
                <a:solidFill>
                  <a:srgbClr val="21372F"/>
                </a:solidFill>
                <a:latin typeface="Microsoft YaHei"/>
                <a:ea typeface="Microsoft YaHei"/>
                <a:cs typeface="Microsoft YaHei"/>
              </a:defRPr>
            </a:lvl9pPr>
          </a:lstStyle>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中文摘要与价值判断</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复现性评估与可能根因</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模型配置、硬件和软件版本</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触发场景、预期结果与验证断言</a:t>
            </a:r>
          </a:p>
        </p:txBody>
      </p:sp>
      <p:sp>
        <p:nvSpPr>
          <p:cNvPr id="9" name="human-col-heading">
            <a:extLst xmlns:a="http://schemas.openxmlformats.org/drawingml/2006/main">
              <a:ext uri="{FF2B5EF4-FFF2-40B4-BE49-F238E27FC236}">
                <a16:creationId xmlns:a16="http://schemas.microsoft.com/office/drawing/2014/main" id="{7FA41D9B-2237-49B9-8372-D349FEB233EE}"/>
              </a:ext>
            </a:extLst>
          </p:cNvPr>
          <p:cNvSpPr>
            <a:spLocks xmlns:a="http://schemas.openxmlformats.org/drawingml/2006/main" noGrp="1"/>
          </p:cNvSpPr>
          <p:nvPr/>
        </p:nvSpPr>
        <p:spPr>
          <a:xfrm xmlns:a="http://schemas.openxmlformats.org/drawingml/2006/main">
            <a:off x="10096500" y="285750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人工审核与决策</a:t>
            </a:r>
          </a:p>
        </p:txBody>
      </p:sp>
      <p:sp>
        <p:nvSpPr>
          <p:cNvPr id="10" name="human-col-body">
            <a:extLst xmlns:a="http://schemas.openxmlformats.org/drawingml/2006/main">
              <a:ext uri="{FF2B5EF4-FFF2-40B4-BE49-F238E27FC236}">
                <a16:creationId xmlns:a16="http://schemas.microsoft.com/office/drawing/2014/main" id="{5E058C5A-2FE4-418B-ABDF-CD549D078BC8}"/>
              </a:ext>
            </a:extLst>
          </p:cNvPr>
          <p:cNvSpPr>
            <a:spLocks xmlns:a="http://schemas.openxmlformats.org/drawingml/2006/main" noGrp="1"/>
          </p:cNvSpPr>
          <p:nvPr/>
        </p:nvSpPr>
        <p:spPr>
          <a:xfrm xmlns:a="http://schemas.openxmlformats.org/drawingml/2006/main">
            <a:off x="10096500" y="3895725"/>
            <a:ext cx="7143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1372F"/>
                </a:solidFill>
                <a:latin typeface="Microsoft YaHei"/>
                <a:ea typeface="Microsoft YaHei"/>
                <a:cs typeface="Microsoft YaHei"/>
              </a:defRPr>
            </a:defPPr>
            <a:lvl1pPr algn="l">
              <a:defRPr sz="2625" b="0">
                <a:solidFill>
                  <a:srgbClr val="21372F"/>
                </a:solidFill>
                <a:latin typeface="Microsoft YaHei"/>
                <a:ea typeface="Microsoft YaHei"/>
                <a:cs typeface="Microsoft YaHei"/>
              </a:defRPr>
            </a:lvl1pPr>
            <a:lvl2pPr algn="l">
              <a:defRPr sz="2625" b="0">
                <a:solidFill>
                  <a:srgbClr val="21372F"/>
                </a:solidFill>
                <a:latin typeface="Microsoft YaHei"/>
                <a:ea typeface="Microsoft YaHei"/>
                <a:cs typeface="Microsoft YaHei"/>
              </a:defRPr>
            </a:lvl2pPr>
            <a:lvl3pPr algn="l">
              <a:defRPr sz="2625" b="0">
                <a:solidFill>
                  <a:srgbClr val="21372F"/>
                </a:solidFill>
                <a:latin typeface="Microsoft YaHei"/>
                <a:ea typeface="Microsoft YaHei"/>
                <a:cs typeface="Microsoft YaHei"/>
              </a:defRPr>
            </a:lvl3pPr>
            <a:lvl4pPr algn="l">
              <a:defRPr sz="2625" b="0">
                <a:solidFill>
                  <a:srgbClr val="21372F"/>
                </a:solidFill>
                <a:latin typeface="Microsoft YaHei"/>
                <a:ea typeface="Microsoft YaHei"/>
                <a:cs typeface="Microsoft YaHei"/>
              </a:defRPr>
            </a:lvl4pPr>
            <a:lvl5pPr algn="l">
              <a:defRPr sz="2625" b="0">
                <a:solidFill>
                  <a:srgbClr val="21372F"/>
                </a:solidFill>
                <a:latin typeface="Microsoft YaHei"/>
                <a:ea typeface="Microsoft YaHei"/>
                <a:cs typeface="Microsoft YaHei"/>
              </a:defRPr>
            </a:lvl5pPr>
            <a:lvl6pPr algn="l">
              <a:defRPr sz="2625" b="0">
                <a:solidFill>
                  <a:srgbClr val="21372F"/>
                </a:solidFill>
                <a:latin typeface="Microsoft YaHei"/>
                <a:ea typeface="Microsoft YaHei"/>
                <a:cs typeface="Microsoft YaHei"/>
              </a:defRPr>
            </a:lvl6pPr>
            <a:lvl7pPr algn="l">
              <a:defRPr sz="2625" b="0">
                <a:solidFill>
                  <a:srgbClr val="21372F"/>
                </a:solidFill>
                <a:latin typeface="Microsoft YaHei"/>
                <a:ea typeface="Microsoft YaHei"/>
                <a:cs typeface="Microsoft YaHei"/>
              </a:defRPr>
            </a:lvl7pPr>
            <a:lvl8pPr algn="l">
              <a:defRPr sz="2625" b="0">
                <a:solidFill>
                  <a:srgbClr val="21372F"/>
                </a:solidFill>
                <a:latin typeface="Microsoft YaHei"/>
                <a:ea typeface="Microsoft YaHei"/>
                <a:cs typeface="Microsoft YaHei"/>
              </a:defRPr>
            </a:lvl8pPr>
            <a:lvl9pPr algn="l">
              <a:defRPr sz="2625" b="0">
                <a:solidFill>
                  <a:srgbClr val="21372F"/>
                </a:solidFill>
                <a:latin typeface="Microsoft YaHei"/>
                <a:ea typeface="Microsoft YaHei"/>
                <a:cs typeface="Microsoft YaHei"/>
              </a:defRPr>
            </a:lvl9pPr>
          </a:lstStyle>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核对原文证据和关键参数</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确认缺失信息并补充材料</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验证根因与实际复现结果</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判断漏测原因和用例入库</a:t>
            </a:r>
          </a:p>
        </p:txBody>
      </p:sp>
      <p:sp>
        <p:nvSpPr>
          <p:cNvPr id="11" name="">
            <a:extLst xmlns:a="http://schemas.openxmlformats.org/drawingml/2006/main">
              <a:ext uri="{FF2B5EF4-FFF2-40B4-BE49-F238E27FC236}">
                <a16:creationId xmlns:a16="http://schemas.microsoft.com/office/drawing/2014/main" id="{A8546CC0-5D82-4714-897C-AB9E059164D1}"/>
              </a:ext>
            </a:extLst>
          </p:cNvPr>
          <p:cNvSpPr>
            <a:spLocks xmlns:a="http://schemas.openxmlformats.org/drawingml/2006/main" noGrp="1"/>
          </p:cNvSpPr>
          <p:nvPr/>
        </p:nvSpPr>
        <p:spPr>
          <a:xfrm xmlns:a="http://schemas.openxmlformats.org/drawingml/2006/main">
            <a:off x="971550" y="7858125"/>
            <a:ext cx="162687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2" name="ai-input-rule">
            <a:extLst xmlns:a="http://schemas.openxmlformats.org/drawingml/2006/main">
              <a:ext uri="{FF2B5EF4-FFF2-40B4-BE49-F238E27FC236}">
                <a16:creationId xmlns:a16="http://schemas.microsoft.com/office/drawing/2014/main" id="{B33A9DA3-167B-4C6C-92AD-3DB05F3A6393}"/>
              </a:ext>
            </a:extLst>
          </p:cNvPr>
          <p:cNvSpPr>
            <a:spLocks xmlns:a="http://schemas.openxmlformats.org/drawingml/2006/main" noGrp="1"/>
          </p:cNvSpPr>
          <p:nvPr/>
        </p:nvSpPr>
        <p:spPr>
          <a:xfrm xmlns:a="http://schemas.openxmlformats.org/drawingml/2006/main">
            <a:off x="1047750" y="8181975"/>
            <a:ext cx="1619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A2 / A3 / A5、量化与并行配置仅提取原文已提供的信息，缺失项标为“待确认”。</a:t>
            </a:r>
          </a:p>
        </p:txBody>
      </p:sp>
    </p:spTree>
    <p:extLst>
      <p:ext uri="{BB962C8B-B14F-4D97-AF65-F5344CB8AC3E}">
        <p14:creationId xmlns:p14="http://schemas.microsoft.com/office/powerpoint/2010/main" val="13988409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0B83EC4-D090-4C1E-9F73-D6541F1D5AC1}"/>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案例：Kimi 模型 decode 崩溃反馈</a:t>
            </a:r>
          </a:p>
        </p:txBody>
      </p:sp>
      <p:sp>
        <p:nvSpPr>
          <p:cNvPr id="3" name="slide-subtitle">
            <a:extLst xmlns:a="http://schemas.openxmlformats.org/drawingml/2006/main">
              <a:ext uri="{FF2B5EF4-FFF2-40B4-BE49-F238E27FC236}">
                <a16:creationId xmlns:a16="http://schemas.microsoft.com/office/drawing/2014/main" id="{D6B16BCD-BC99-4049-8DA9-A9EB4D7307AF}"/>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依据此前提供的反馈材料整理，根因和实际复现结果仍待核实</a:t>
            </a:r>
          </a:p>
        </p:txBody>
      </p:sp>
      <p:sp>
        <p:nvSpPr>
          <p:cNvPr id="4" name="">
            <a:extLst xmlns:a="http://schemas.openxmlformats.org/drawingml/2006/main">
              <a:ext uri="{FF2B5EF4-FFF2-40B4-BE49-F238E27FC236}">
                <a16:creationId xmlns:a16="http://schemas.microsoft.com/office/drawing/2014/main" id="{0702CF46-0AE5-4DC1-A622-15A6659E4F01}"/>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1571F04-46DB-4888-A728-9C94E36661F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49147374-6006-4E78-B20F-4008BB4B1886}"/>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07</a:t>
            </a:r>
          </a:p>
        </p:txBody>
      </p:sp>
      <p:graphicFrame>
        <p:nvGraphicFramePr>
          <p:cNvPr id="7" name="">
            <a:extLst xmlns:a="http://schemas.openxmlformats.org/drawingml/2006/main">
              <a:ext uri="{FF2B5EF4-FFF2-40B4-BE49-F238E27FC236}">
                <a16:creationId xmlns:a16="http://schemas.microsoft.com/office/drawing/2014/main" id="{8479FE56-AD3F-4DAA-9E28-44017BE649E9}"/>
              </a:ext>
            </a:extLst>
          </p:cNvPr>
          <p:cNvGraphicFramePr/>
          <p:nvPr/>
        </p:nvGraphicFramePr>
        <p:xfrm>
          <a:off xmlns:a="http://schemas.openxmlformats.org/drawingml/2006/main" x="990600" y="2857500"/>
          <a:ext xmlns:a="http://schemas.openxmlformats.org/drawingml/2006/main" cx="16287750" cy="5476875"/>
        </p:xfrm>
        <a:graphic xmlns:a="http://schemas.openxmlformats.org/drawingml/2006/main">
          <a:graphicData uri="http://schemas.openxmlformats.org/drawingml/2006/table">
            <a:tbl>
              <a:tblPr firstRow="1" bandRow="0"/>
              <a:tblGrid>
                <a:gridCol w="4191000"/>
                <a:gridCol w="12096750"/>
              </a:tblGrid>
              <a:tr h="914400">
                <a:tc>
                  <a:txBody>
                    <a:bodyPr wrap="square">
                      <a:noAutofit/>
                    </a:bodyPr>
                    <a:lstStyle/>
                    <a:p>
                      <a:r>
                        <a:rPr sz="2475" b="1">
                          <a:solidFill>
                            <a:srgbClr val="FFFFFF"/>
                          </a:solidFill>
                          <a:latin typeface="Microsoft YaHei"/>
                          <a:ea typeface="Microsoft YaHei"/>
                          <a:cs typeface="Microsoft YaHei"/>
                        </a:rPr>
                        <a:t>需要提取的内容</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475" b="1">
                          <a:solidFill>
                            <a:srgbClr val="FFFFFF"/>
                          </a:solidFill>
                          <a:latin typeface="Microsoft YaHei"/>
                          <a:ea typeface="Microsoft YaHei"/>
                          <a:cs typeface="Microsoft YaHei"/>
                        </a:rPr>
                        <a:t>案例材料与下一步动作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40619">
                <a:tc>
                  <a:txBody>
                    <a:bodyPr wrap="square">
                      <a:noAutofit/>
                    </a:bodyPr>
                    <a:lstStyle/>
                    <a:p>
                      <a:r>
                        <a:rPr sz="2400" b="0">
                          <a:solidFill>
                            <a:srgbClr val="21372F"/>
                          </a:solidFill>
                          <a:latin typeface="Microsoft YaHei"/>
                          <a:ea typeface="Microsoft YaHei"/>
                          <a:cs typeface="Microsoft YaHei"/>
                        </a:rPr>
                        <a:t>环境与配置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Atlas 800I A3、CANN 9.2.0</a:t>
                      </a:r>
                    </a:p>
                    <a:p>
                      <a:r>
                        <a:rPr sz="2400" b="0">
                          <a:solidFill>
                            <a:srgbClr val="21372F"/>
                          </a:solidFill>
                          <a:latin typeface="Microsoft YaHei"/>
                          <a:ea typeface="Microsoft YaHei"/>
                          <a:cs typeface="Microsoft YaHei"/>
                        </a:rPr>
                        <a:t>Kimi-K3 W4A8、TP16 加 EP</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报告者描述的现象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prefill 正常，decode 崩溃</a:t>
                      </a:r>
                    </a:p>
                    <a:p>
                      <a:r>
                        <a:rPr sz="2400" b="0">
                          <a:solidFill>
                            <a:srgbClr val="21372F"/>
                          </a:solidFill>
                          <a:latin typeface="Microsoft YaHei"/>
                          <a:ea typeface="Microsoft YaHei"/>
                          <a:cs typeface="Microsoft YaHei"/>
                        </a:rPr>
                        <a:t>keyRope 视图偏移非法</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待验证假设</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算子内部偏移计算异常，整数溢出属于假设</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建议验证动作</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补齐关键参数，复现 decode 请求</a:t>
                      </a:r>
                    </a:p>
                    <a:p>
                      <a:r>
                        <a:rPr sz="2400" b="0">
                          <a:solidFill>
                            <a:srgbClr val="21372F"/>
                          </a:solidFill>
                          <a:latin typeface="Microsoft YaHei"/>
                          <a:ea typeface="Microsoft YaHei"/>
                          <a:cs typeface="Microsoft YaHei"/>
                        </a:rPr>
                        <a:t>对照 eager、图模式与不同软件环境</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8923774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7A5E85-B67A-4700-98A8-04F76B9950C0}"/>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“优先处理”的筛选与排序</a:t>
            </a:r>
          </a:p>
        </p:txBody>
      </p:sp>
      <p:sp>
        <p:nvSpPr>
          <p:cNvPr id="3" name="slide-subtitle">
            <a:extLst xmlns:a="http://schemas.openxmlformats.org/drawingml/2006/main">
              <a:ext uri="{FF2B5EF4-FFF2-40B4-BE49-F238E27FC236}">
                <a16:creationId xmlns:a16="http://schemas.microsoft.com/office/drawing/2014/main" id="{B9DE70B0-8FD3-4ABF-976E-E1032787AAEC}"/>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为当前一批问题提供复现投入的候选顺序</a:t>
            </a:r>
          </a:p>
        </p:txBody>
      </p:sp>
      <p:sp>
        <p:nvSpPr>
          <p:cNvPr id="4" name="">
            <a:extLst xmlns:a="http://schemas.openxmlformats.org/drawingml/2006/main">
              <a:ext uri="{FF2B5EF4-FFF2-40B4-BE49-F238E27FC236}">
                <a16:creationId xmlns:a16="http://schemas.microsoft.com/office/drawing/2014/main" id="{C657523D-2A2A-4E76-9D7C-7CC60EEC63C6}"/>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13AAE8A7-EB75-4DD7-AAF1-009398EADFB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BDA9CAF4-7128-416D-8E5B-AB8530A6EB14}"/>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08</a:t>
            </a:r>
          </a:p>
        </p:txBody>
      </p:sp>
      <p:sp>
        <p:nvSpPr>
          <p:cNvPr id="7" name="priority-filter-heading">
            <a:extLst xmlns:a="http://schemas.openxmlformats.org/drawingml/2006/main">
              <a:ext uri="{FF2B5EF4-FFF2-40B4-BE49-F238E27FC236}">
                <a16:creationId xmlns:a16="http://schemas.microsoft.com/office/drawing/2014/main" id="{EF177CEB-9BD8-49AD-9A98-6CDD811F54BF}"/>
              </a:ext>
            </a:extLst>
          </p:cNvPr>
          <p:cNvSpPr>
            <a:spLocks xmlns:a="http://schemas.openxmlformats.org/drawingml/2006/main" noGrp="1"/>
          </p:cNvSpPr>
          <p:nvPr/>
        </p:nvSpPr>
        <p:spPr>
          <a:xfrm xmlns:a="http://schemas.openxmlformats.org/drawingml/2006/main">
            <a:off x="1047750" y="28575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入选条件</a:t>
            </a:r>
          </a:p>
        </p:txBody>
      </p:sp>
      <p:sp>
        <p:nvSpPr>
          <p:cNvPr id="8" name="priority-filter-body">
            <a:extLst xmlns:a="http://schemas.openxmlformats.org/drawingml/2006/main">
              <a:ext uri="{FF2B5EF4-FFF2-40B4-BE49-F238E27FC236}">
                <a16:creationId xmlns:a16="http://schemas.microsoft.com/office/drawing/2014/main" id="{5AB58B67-1888-4082-97A1-E50B34EBA794}"/>
              </a:ext>
            </a:extLst>
          </p:cNvPr>
          <p:cNvSpPr>
            <a:spLocks xmlns:a="http://schemas.openxmlformats.org/drawingml/2006/main" noGrp="1"/>
          </p:cNvSpPr>
          <p:nvPr/>
        </p:nvSpPr>
        <p:spPr>
          <a:xfrm xmlns:a="http://schemas.openxmlformats.org/drawingml/2006/main">
            <a:off x="1047750" y="3905250"/>
            <a:ext cx="7905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1372F"/>
                </a:solidFill>
                <a:latin typeface="Microsoft YaHei"/>
                <a:ea typeface="Microsoft YaHei"/>
                <a:cs typeface="Microsoft YaHei"/>
              </a:defRPr>
            </a:defPPr>
            <a:lvl1pPr algn="l">
              <a:defRPr sz="2550" b="0">
                <a:solidFill>
                  <a:srgbClr val="21372F"/>
                </a:solidFill>
                <a:latin typeface="Microsoft YaHei"/>
                <a:ea typeface="Microsoft YaHei"/>
                <a:cs typeface="Microsoft YaHei"/>
              </a:defRPr>
            </a:lvl1pPr>
            <a:lvl2pPr algn="l">
              <a:defRPr sz="2550" b="0">
                <a:solidFill>
                  <a:srgbClr val="21372F"/>
                </a:solidFill>
                <a:latin typeface="Microsoft YaHei"/>
                <a:ea typeface="Microsoft YaHei"/>
                <a:cs typeface="Microsoft YaHei"/>
              </a:defRPr>
            </a:lvl2pPr>
            <a:lvl3pPr algn="l">
              <a:defRPr sz="2550" b="0">
                <a:solidFill>
                  <a:srgbClr val="21372F"/>
                </a:solidFill>
                <a:latin typeface="Microsoft YaHei"/>
                <a:ea typeface="Microsoft YaHei"/>
                <a:cs typeface="Microsoft YaHei"/>
              </a:defRPr>
            </a:lvl3pPr>
            <a:lvl4pPr algn="l">
              <a:defRPr sz="2550" b="0">
                <a:solidFill>
                  <a:srgbClr val="21372F"/>
                </a:solidFill>
                <a:latin typeface="Microsoft YaHei"/>
                <a:ea typeface="Microsoft YaHei"/>
                <a:cs typeface="Microsoft YaHei"/>
              </a:defRPr>
            </a:lvl4pPr>
            <a:lvl5pPr algn="l">
              <a:defRPr sz="2550" b="0">
                <a:solidFill>
                  <a:srgbClr val="21372F"/>
                </a:solidFill>
                <a:latin typeface="Microsoft YaHei"/>
                <a:ea typeface="Microsoft YaHei"/>
                <a:cs typeface="Microsoft YaHei"/>
              </a:defRPr>
            </a:lvl5pPr>
            <a:lvl6pPr algn="l">
              <a:defRPr sz="2550" b="0">
                <a:solidFill>
                  <a:srgbClr val="21372F"/>
                </a:solidFill>
                <a:latin typeface="Microsoft YaHei"/>
                <a:ea typeface="Microsoft YaHei"/>
                <a:cs typeface="Microsoft YaHei"/>
              </a:defRPr>
            </a:lvl6pPr>
            <a:lvl7pPr algn="l">
              <a:defRPr sz="2550" b="0">
                <a:solidFill>
                  <a:srgbClr val="21372F"/>
                </a:solidFill>
                <a:latin typeface="Microsoft YaHei"/>
                <a:ea typeface="Microsoft YaHei"/>
                <a:cs typeface="Microsoft YaHei"/>
              </a:defRPr>
            </a:lvl7pPr>
            <a:lvl8pPr algn="l">
              <a:defRPr sz="2550" b="0">
                <a:solidFill>
                  <a:srgbClr val="21372F"/>
                </a:solidFill>
                <a:latin typeface="Microsoft YaHei"/>
                <a:ea typeface="Microsoft YaHei"/>
                <a:cs typeface="Microsoft YaHei"/>
              </a:defRPr>
            </a:lvl8pPr>
            <a:lvl9pPr algn="l">
              <a:defRPr sz="2550" b="0">
                <a:solidFill>
                  <a:srgbClr val="21372F"/>
                </a:solidFill>
                <a:latin typeface="Microsoft YaHei"/>
                <a:ea typeface="Microsoft YaHei"/>
                <a:cs typeface="Microsoft YaHei"/>
              </a:defRPr>
            </a:lvl9pPr>
          </a:lstStyle>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有最新已保存的 AI 分析结果</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复现性和价值均为“高”或“中”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排除 Doc、RFC、咨询与非问题</a:t>
            </a:r>
          </a:p>
        </p:txBody>
      </p:sp>
      <p:sp>
        <p:nvSpPr>
          <p:cNvPr id="9" name="priority-order-heading">
            <a:extLst xmlns:a="http://schemas.openxmlformats.org/drawingml/2006/main">
              <a:ext uri="{FF2B5EF4-FFF2-40B4-BE49-F238E27FC236}">
                <a16:creationId xmlns:a16="http://schemas.microsoft.com/office/drawing/2014/main" id="{4432EE63-1A0C-4CEA-AAE0-D64841FCFFED}"/>
              </a:ext>
            </a:extLst>
          </p:cNvPr>
          <p:cNvSpPr>
            <a:spLocks xmlns:a="http://schemas.openxmlformats.org/drawingml/2006/main" noGrp="1"/>
          </p:cNvSpPr>
          <p:nvPr/>
        </p:nvSpPr>
        <p:spPr>
          <a:xfrm xmlns:a="http://schemas.openxmlformats.org/drawingml/2006/main">
            <a:off x="10287000" y="2857500"/>
            <a:ext cx="685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排序顺序</a:t>
            </a:r>
          </a:p>
        </p:txBody>
      </p:sp>
      <p:sp>
        <p:nvSpPr>
          <p:cNvPr id="10" name="priority-order-body">
            <a:extLst xmlns:a="http://schemas.openxmlformats.org/drawingml/2006/main">
              <a:ext uri="{FF2B5EF4-FFF2-40B4-BE49-F238E27FC236}">
                <a16:creationId xmlns:a16="http://schemas.microsoft.com/office/drawing/2014/main" id="{E449686F-0C53-44C9-B748-0DE4394A5392}"/>
              </a:ext>
            </a:extLst>
          </p:cNvPr>
          <p:cNvSpPr>
            <a:spLocks xmlns:a="http://schemas.openxmlformats.org/drawingml/2006/main" noGrp="1"/>
          </p:cNvSpPr>
          <p:nvPr/>
        </p:nvSpPr>
        <p:spPr>
          <a:xfrm xmlns:a="http://schemas.openxmlformats.org/drawingml/2006/main">
            <a:off x="10287000" y="3905250"/>
            <a:ext cx="685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1372F"/>
                </a:solidFill>
                <a:latin typeface="Microsoft YaHei"/>
                <a:ea typeface="Microsoft YaHei"/>
                <a:cs typeface="Microsoft YaHei"/>
              </a:defRPr>
            </a:defPPr>
            <a:lvl1pPr algn="l">
              <a:defRPr sz="2550" b="0">
                <a:solidFill>
                  <a:srgbClr val="21372F"/>
                </a:solidFill>
                <a:latin typeface="Microsoft YaHei"/>
                <a:ea typeface="Microsoft YaHei"/>
                <a:cs typeface="Microsoft YaHei"/>
              </a:defRPr>
            </a:lvl1pPr>
            <a:lvl2pPr algn="l">
              <a:defRPr sz="2550" b="0">
                <a:solidFill>
                  <a:srgbClr val="21372F"/>
                </a:solidFill>
                <a:latin typeface="Microsoft YaHei"/>
                <a:ea typeface="Microsoft YaHei"/>
                <a:cs typeface="Microsoft YaHei"/>
              </a:defRPr>
            </a:lvl2pPr>
            <a:lvl3pPr algn="l">
              <a:defRPr sz="2550" b="0">
                <a:solidFill>
                  <a:srgbClr val="21372F"/>
                </a:solidFill>
                <a:latin typeface="Microsoft YaHei"/>
                <a:ea typeface="Microsoft YaHei"/>
                <a:cs typeface="Microsoft YaHei"/>
              </a:defRPr>
            </a:lvl3pPr>
            <a:lvl4pPr algn="l">
              <a:defRPr sz="2550" b="0">
                <a:solidFill>
                  <a:srgbClr val="21372F"/>
                </a:solidFill>
                <a:latin typeface="Microsoft YaHei"/>
                <a:ea typeface="Microsoft YaHei"/>
                <a:cs typeface="Microsoft YaHei"/>
              </a:defRPr>
            </a:lvl4pPr>
            <a:lvl5pPr algn="l">
              <a:defRPr sz="2550" b="0">
                <a:solidFill>
                  <a:srgbClr val="21372F"/>
                </a:solidFill>
                <a:latin typeface="Microsoft YaHei"/>
                <a:ea typeface="Microsoft YaHei"/>
                <a:cs typeface="Microsoft YaHei"/>
              </a:defRPr>
            </a:lvl5pPr>
            <a:lvl6pPr algn="l">
              <a:defRPr sz="2550" b="0">
                <a:solidFill>
                  <a:srgbClr val="21372F"/>
                </a:solidFill>
                <a:latin typeface="Microsoft YaHei"/>
                <a:ea typeface="Microsoft YaHei"/>
                <a:cs typeface="Microsoft YaHei"/>
              </a:defRPr>
            </a:lvl6pPr>
            <a:lvl7pPr algn="l">
              <a:defRPr sz="2550" b="0">
                <a:solidFill>
                  <a:srgbClr val="21372F"/>
                </a:solidFill>
                <a:latin typeface="Microsoft YaHei"/>
                <a:ea typeface="Microsoft YaHei"/>
                <a:cs typeface="Microsoft YaHei"/>
              </a:defRPr>
            </a:lvl7pPr>
            <a:lvl8pPr algn="l">
              <a:defRPr sz="2550" b="0">
                <a:solidFill>
                  <a:srgbClr val="21372F"/>
                </a:solidFill>
                <a:latin typeface="Microsoft YaHei"/>
                <a:ea typeface="Microsoft YaHei"/>
                <a:cs typeface="Microsoft YaHei"/>
              </a:defRPr>
            </a:lvl8pPr>
            <a:lvl9pPr algn="l">
              <a:defRPr sz="2550" b="0">
                <a:solidFill>
                  <a:srgbClr val="21372F"/>
                </a:solidFill>
                <a:latin typeface="Microsoft YaHei"/>
                <a:ea typeface="Microsoft YaHei"/>
                <a:cs typeface="Microsoft YaHei"/>
              </a:defRPr>
            </a:lvl9pPr>
          </a:lstStyle>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1   复现性</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2   价值，优先采用人工填写值</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3   明确版本的相对新旧</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4   AI 自评置信度及创建时间</a:t>
            </a:r>
          </a:p>
        </p:txBody>
      </p:sp>
      <p:sp>
        <p:nvSpPr>
          <p:cNvPr id="11" name="priority-caveat">
            <a:extLst xmlns:a="http://schemas.openxmlformats.org/drawingml/2006/main">
              <a:ext uri="{FF2B5EF4-FFF2-40B4-BE49-F238E27FC236}">
                <a16:creationId xmlns:a16="http://schemas.microsoft.com/office/drawing/2014/main" id="{8ED72445-7C7B-4E1A-97B4-A300DD261371}"/>
              </a:ext>
            </a:extLst>
          </p:cNvPr>
          <p:cNvSpPr>
            <a:spLocks xmlns:a="http://schemas.openxmlformats.org/drawingml/2006/main" noGrp="1"/>
          </p:cNvSpPr>
          <p:nvPr/>
        </p:nvSpPr>
        <p:spPr>
          <a:xfrm xmlns:a="http://schemas.openxmlformats.org/drawingml/2006/main">
            <a:off x="1047750" y="7991475"/>
            <a:ext cx="1609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94672B"/>
                </a:solidFill>
                <a:latin typeface="Microsoft YaHei"/>
                <a:ea typeface="Microsoft YaHei"/>
                <a:cs typeface="Microsoft YaHei"/>
              </a:defRPr>
            </a:defPPr>
            <a:lvl1pPr algn="l">
              <a:defRPr sz="2400" b="0">
                <a:solidFill>
                  <a:srgbClr val="94672B"/>
                </a:solidFill>
                <a:latin typeface="Microsoft YaHei"/>
                <a:ea typeface="Microsoft YaHei"/>
                <a:cs typeface="Microsoft YaHei"/>
              </a:defRPr>
            </a:lvl1pPr>
            <a:lvl2pPr algn="l">
              <a:defRPr sz="2400" b="0">
                <a:solidFill>
                  <a:srgbClr val="94672B"/>
                </a:solidFill>
                <a:latin typeface="Microsoft YaHei"/>
                <a:ea typeface="Microsoft YaHei"/>
                <a:cs typeface="Microsoft YaHei"/>
              </a:defRPr>
            </a:lvl2pPr>
            <a:lvl3pPr algn="l">
              <a:defRPr sz="2400" b="0">
                <a:solidFill>
                  <a:srgbClr val="94672B"/>
                </a:solidFill>
                <a:latin typeface="Microsoft YaHei"/>
                <a:ea typeface="Microsoft YaHei"/>
                <a:cs typeface="Microsoft YaHei"/>
              </a:defRPr>
            </a:lvl3pPr>
            <a:lvl4pPr algn="l">
              <a:defRPr sz="2400" b="0">
                <a:solidFill>
                  <a:srgbClr val="94672B"/>
                </a:solidFill>
                <a:latin typeface="Microsoft YaHei"/>
                <a:ea typeface="Microsoft YaHei"/>
                <a:cs typeface="Microsoft YaHei"/>
              </a:defRPr>
            </a:lvl4pPr>
            <a:lvl5pPr algn="l">
              <a:defRPr sz="2400" b="0">
                <a:solidFill>
                  <a:srgbClr val="94672B"/>
                </a:solidFill>
                <a:latin typeface="Microsoft YaHei"/>
                <a:ea typeface="Microsoft YaHei"/>
                <a:cs typeface="Microsoft YaHei"/>
              </a:defRPr>
            </a:lvl5pPr>
            <a:lvl6pPr algn="l">
              <a:defRPr sz="2400" b="0">
                <a:solidFill>
                  <a:srgbClr val="94672B"/>
                </a:solidFill>
                <a:latin typeface="Microsoft YaHei"/>
                <a:ea typeface="Microsoft YaHei"/>
                <a:cs typeface="Microsoft YaHei"/>
              </a:defRPr>
            </a:lvl6pPr>
            <a:lvl7pPr algn="l">
              <a:defRPr sz="2400" b="0">
                <a:solidFill>
                  <a:srgbClr val="94672B"/>
                </a:solidFill>
                <a:latin typeface="Microsoft YaHei"/>
                <a:ea typeface="Microsoft YaHei"/>
                <a:cs typeface="Microsoft YaHei"/>
              </a:defRPr>
            </a:lvl7pPr>
            <a:lvl8pPr algn="l">
              <a:defRPr sz="2400" b="0">
                <a:solidFill>
                  <a:srgbClr val="94672B"/>
                </a:solidFill>
                <a:latin typeface="Microsoft YaHei"/>
                <a:ea typeface="Microsoft YaHei"/>
                <a:cs typeface="Microsoft YaHei"/>
              </a:defRPr>
            </a:lvl8pPr>
            <a:lvl9pPr algn="l">
              <a:defRPr sz="2400" b="0">
                <a:solidFill>
                  <a:srgbClr val="94672B"/>
                </a:solidFill>
                <a:latin typeface="Microsoft YaHei"/>
                <a:ea typeface="Microsoft YaHei"/>
                <a:cs typeface="Microsoft YaHei"/>
              </a:defRPr>
            </a:lvl9pPr>
          </a:lstStyle>
          <a:p xmlns:a="http://schemas.openxmlformats.org/drawingml/2006/main">
            <a:pPr algn="l">
              <a:defRPr sz="2400" b="0">
                <a:solidFill>
                  <a:srgbClr val="94672B"/>
                </a:solidFill>
                <a:latin typeface="Microsoft YaHei"/>
                <a:ea typeface="Microsoft YaHei"/>
                <a:cs typeface="Microsoft YaHei"/>
              </a:defRPr>
            </a:pPr>
            <a:r>
              <a:rPr sz="2400" b="0">
                <a:solidFill>
                  <a:srgbClr val="94672B"/>
                </a:solidFill>
                <a:latin typeface="Microsoft YaHei"/>
                <a:ea typeface="Microsoft YaHei"/>
                <a:cs typeface="Microsoft YaHei"/>
              </a:rPr>
              <a:t>高价值但信息不足的问题也可能被隐藏，需要回到完整列表复查。</a:t>
            </a:r>
          </a:p>
        </p:txBody>
      </p:sp>
    </p:spTree>
    <p:extLst>
      <p:ext uri="{BB962C8B-B14F-4D97-AF65-F5344CB8AC3E}">
        <p14:creationId xmlns:p14="http://schemas.microsoft.com/office/powerpoint/2010/main" val="14454377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1F9A2B1-ED10-4C42-A5C0-6903B1226BE3}"/>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项目收益与验证指标</a:t>
            </a:r>
          </a:p>
        </p:txBody>
      </p:sp>
      <p:sp>
        <p:nvSpPr>
          <p:cNvPr id="3" name="slide-subtitle">
            <a:extLst xmlns:a="http://schemas.openxmlformats.org/drawingml/2006/main">
              <a:ext uri="{FF2B5EF4-FFF2-40B4-BE49-F238E27FC236}">
                <a16:creationId xmlns:a16="http://schemas.microsoft.com/office/drawing/2014/main" id="{6FC9422A-6CB8-467C-9015-361BDBBECE42}"/>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当前可以确认能力已经落地，收益幅度需要持续统计</a:t>
            </a:r>
          </a:p>
        </p:txBody>
      </p:sp>
      <p:sp>
        <p:nvSpPr>
          <p:cNvPr id="4" name="">
            <a:extLst xmlns:a="http://schemas.openxmlformats.org/drawingml/2006/main">
              <a:ext uri="{FF2B5EF4-FFF2-40B4-BE49-F238E27FC236}">
                <a16:creationId xmlns:a16="http://schemas.microsoft.com/office/drawing/2014/main" id="{FC719CC9-EDF4-4691-9531-500B1F22C9F0}"/>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BE5E84F-11BA-42A6-AE5C-66D10B2AB46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6AAA32ED-830C-438A-A5DE-8333BA12D62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09</a:t>
            </a:r>
          </a:p>
        </p:txBody>
      </p:sp>
      <p:graphicFrame>
        <p:nvGraphicFramePr>
          <p:cNvPr id="7" name="">
            <a:extLst xmlns:a="http://schemas.openxmlformats.org/drawingml/2006/main">
              <a:ext uri="{FF2B5EF4-FFF2-40B4-BE49-F238E27FC236}">
                <a16:creationId xmlns:a16="http://schemas.microsoft.com/office/drawing/2014/main" id="{923286CC-E515-4EBC-87F6-8619BE052BFF}"/>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5048250"/>
                <a:gridCol w="5524500"/>
                <a:gridCol w="5715000"/>
              </a:tblGrid>
              <a:tr h="914400">
                <a:tc>
                  <a:txBody>
                    <a:bodyPr wrap="square">
                      <a:noAutofit/>
                    </a:bodyPr>
                    <a:lstStyle/>
                    <a:p>
                      <a:r>
                        <a:rPr sz="2325" b="1">
                          <a:solidFill>
                            <a:srgbClr val="FFFFFF"/>
                          </a:solidFill>
                          <a:latin typeface="Microsoft YaHei"/>
                          <a:ea typeface="Microsoft YaHei"/>
                          <a:cs typeface="Microsoft YaHei"/>
                        </a:rPr>
                        <a:t>已落地的能力</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预期收益</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建议验证指标</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250" b="0">
                          <a:solidFill>
                            <a:srgbClr val="21372F"/>
                          </a:solidFill>
                          <a:latin typeface="Microsoft YaHei"/>
                          <a:ea typeface="Microsoft YaHei"/>
                          <a:cs typeface="Microsoft YaHei"/>
                        </a:rPr>
                        <a:t>持续同步与统一台账</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减少重复收集和交接整理</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同步完整性、人工整理耗时</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AI 归纳与批量任务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缩短阅读与初步筛选时间</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人工审核耗时、建议采纳情况</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复现候选与补测建议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支持重点问题验证和测试准备</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推荐有效率、实际复现结果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分析记录与筛选导出</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积累可复用的测试输入</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回归用例转化量、后续复用情况</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11893901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D51250B-C57F-4530-AC9D-02AA33A60A69}"/>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当前边界与使用原则</a:t>
            </a:r>
          </a:p>
        </p:txBody>
      </p:sp>
      <p:sp>
        <p:nvSpPr>
          <p:cNvPr id="3" name="slide-subtitle">
            <a:extLst xmlns:a="http://schemas.openxmlformats.org/drawingml/2006/main">
              <a:ext uri="{FF2B5EF4-FFF2-40B4-BE49-F238E27FC236}">
                <a16:creationId xmlns:a16="http://schemas.microsoft.com/office/drawing/2014/main" id="{5DF8CC48-1C50-4E19-8F76-D2DC7E2C3718}"/>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分析质量与最终测试效果，需要独立核查</a:t>
            </a:r>
          </a:p>
        </p:txBody>
      </p:sp>
      <p:sp>
        <p:nvSpPr>
          <p:cNvPr id="4" name="">
            <a:extLst xmlns:a="http://schemas.openxmlformats.org/drawingml/2006/main">
              <a:ext uri="{FF2B5EF4-FFF2-40B4-BE49-F238E27FC236}">
                <a16:creationId xmlns:a16="http://schemas.microsoft.com/office/drawing/2014/main" id="{7CED46B9-7BD1-430B-AAF3-10A1CA082B2D}"/>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4AD31CC0-300B-4501-80CE-52E73CFC8736}"/>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8F07C29F-0851-45CB-9B4B-6BAA59375D2E}"/>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10</a:t>
            </a:r>
          </a:p>
        </p:txBody>
      </p:sp>
      <p:sp>
        <p:nvSpPr>
          <p:cNvPr id="7" name="row-0-number">
            <a:extLst xmlns:a="http://schemas.openxmlformats.org/drawingml/2006/main">
              <a:ext uri="{FF2B5EF4-FFF2-40B4-BE49-F238E27FC236}">
                <a16:creationId xmlns:a16="http://schemas.microsoft.com/office/drawing/2014/main" id="{21357DAE-3D8D-4603-A421-7A0B92C09836}"/>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45200B8C-00EE-4B97-81F7-689CA04B44A1}"/>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复现性评价来自材料</a:t>
            </a:r>
          </a:p>
        </p:txBody>
      </p:sp>
      <p:sp>
        <p:nvSpPr>
          <p:cNvPr id="9" name="row-0-body">
            <a:extLst xmlns:a="http://schemas.openxmlformats.org/drawingml/2006/main">
              <a:ext uri="{FF2B5EF4-FFF2-40B4-BE49-F238E27FC236}">
                <a16:creationId xmlns:a16="http://schemas.microsoft.com/office/drawing/2014/main" id="{D8C11588-1B7E-436B-9F6F-D79D185C6281}"/>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AI 尚未执行真实环境，实际复现由人员和测试环境验证。</a:t>
            </a:r>
          </a:p>
        </p:txBody>
      </p:sp>
      <p:sp>
        <p:nvSpPr>
          <p:cNvPr id="10" name="">
            <a:extLst xmlns:a="http://schemas.openxmlformats.org/drawingml/2006/main">
              <a:ext uri="{FF2B5EF4-FFF2-40B4-BE49-F238E27FC236}">
                <a16:creationId xmlns:a16="http://schemas.microsoft.com/office/drawing/2014/main" id="{6B7CE099-EE8B-4465-B7CE-A9A99BFABC86}"/>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A7D46A97-CED5-4ABF-ADD2-FD928E8EAE83}"/>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405C3ABD-F44A-484B-BE43-34F74C845306}"/>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版本信息需要核查</a:t>
            </a:r>
          </a:p>
        </p:txBody>
      </p:sp>
      <p:sp>
        <p:nvSpPr>
          <p:cNvPr id="13" name="row-1-body">
            <a:extLst xmlns:a="http://schemas.openxmlformats.org/drawingml/2006/main">
              <a:ext uri="{FF2B5EF4-FFF2-40B4-BE49-F238E27FC236}">
                <a16:creationId xmlns:a16="http://schemas.microsoft.com/office/drawing/2014/main" id="{94A5B9F0-816D-4356-A19B-2F1BF1AFEE4F}"/>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当前按明确版本辅助排序，修复状态仍需官方信息或实验确认。</a:t>
            </a:r>
          </a:p>
        </p:txBody>
      </p:sp>
      <p:sp>
        <p:nvSpPr>
          <p:cNvPr id="14" name="">
            <a:extLst xmlns:a="http://schemas.openxmlformats.org/drawingml/2006/main">
              <a:ext uri="{FF2B5EF4-FFF2-40B4-BE49-F238E27FC236}">
                <a16:creationId xmlns:a16="http://schemas.microsoft.com/office/drawing/2014/main" id="{21EB95D6-7B4A-4DF0-98B4-EC1E1C7A80A7}"/>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7DEE2DD0-01AB-458C-BBB2-B01036E5A550}"/>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3485C489-AF76-434B-BBDB-0F503FBF7DB8}"/>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关键判断由人工负责</a:t>
            </a:r>
          </a:p>
        </p:txBody>
      </p:sp>
      <p:sp>
        <p:nvSpPr>
          <p:cNvPr id="17" name="row-2-body">
            <a:extLst xmlns:a="http://schemas.openxmlformats.org/drawingml/2006/main">
              <a:ext uri="{FF2B5EF4-FFF2-40B4-BE49-F238E27FC236}">
                <a16:creationId xmlns:a16="http://schemas.microsoft.com/office/drawing/2014/main" id="{F794E631-E9D2-490E-9D69-EF20887DE29A}"/>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核查事实与假设，复查高价值信息不足的问题，确认采纳与入库。</a:t>
            </a:r>
          </a:p>
        </p:txBody>
      </p:sp>
    </p:spTree>
    <p:extLst>
      <p:ext uri="{BB962C8B-B14F-4D97-AF65-F5344CB8AC3E}">
        <p14:creationId xmlns:p14="http://schemas.microsoft.com/office/powerpoint/2010/main" val="3206817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7B4E67A-4F82-440B-820B-745CCA7400C6}"/>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后续优化计划</a:t>
            </a:r>
          </a:p>
        </p:txBody>
      </p:sp>
      <p:sp>
        <p:nvSpPr>
          <p:cNvPr id="3" name="slide-subtitle">
            <a:extLst xmlns:a="http://schemas.openxmlformats.org/drawingml/2006/main">
              <a:ext uri="{FF2B5EF4-FFF2-40B4-BE49-F238E27FC236}">
                <a16:creationId xmlns:a16="http://schemas.microsoft.com/office/drawing/2014/main" id="{D0E9393C-881D-4FE8-83D1-34F06462F3AD}"/>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先建立质量基线，再改进证据与规则，最后开展测试转化试点</a:t>
            </a:r>
          </a:p>
        </p:txBody>
      </p:sp>
      <p:sp>
        <p:nvSpPr>
          <p:cNvPr id="4" name="">
            <a:extLst xmlns:a="http://schemas.openxmlformats.org/drawingml/2006/main">
              <a:ext uri="{FF2B5EF4-FFF2-40B4-BE49-F238E27FC236}">
                <a16:creationId xmlns:a16="http://schemas.microsoft.com/office/drawing/2014/main" id="{475F058F-E72F-4EAA-A664-174998A28A07}"/>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4832509B-EC3F-4962-88FA-C21624027D59}"/>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D81D2DCA-3A0F-4BDE-96AA-BBC9CC5FD811}"/>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11</a:t>
            </a:r>
          </a:p>
        </p:txBody>
      </p:sp>
      <p:graphicFrame>
        <p:nvGraphicFramePr>
          <p:cNvPr id="7" name="">
            <a:extLst xmlns:a="http://schemas.openxmlformats.org/drawingml/2006/main">
              <a:ext uri="{FF2B5EF4-FFF2-40B4-BE49-F238E27FC236}">
                <a16:creationId xmlns:a16="http://schemas.microsoft.com/office/drawing/2014/main" id="{064DEB8F-1495-4B97-9A08-46D1587F8F11}"/>
              </a:ext>
            </a:extLst>
          </p:cNvPr>
          <p:cNvGraphicFramePr/>
          <p:nvPr/>
        </p:nvGraphicFramePr>
        <p:xfrm>
          <a:off xmlns:a="http://schemas.openxmlformats.org/drawingml/2006/main" x="990600" y="2857500"/>
          <a:ext xmlns:a="http://schemas.openxmlformats.org/drawingml/2006/main" cx="16287750" cy="5619750"/>
        </p:xfrm>
        <a:graphic xmlns:a="http://schemas.openxmlformats.org/drawingml/2006/main">
          <a:graphicData uri="http://schemas.openxmlformats.org/drawingml/2006/table">
            <a:tbl>
              <a:tblPr firstRow="1" bandRow="0"/>
              <a:tblGrid>
                <a:gridCol w="3143250"/>
                <a:gridCol w="7524750"/>
                <a:gridCol w="5619750"/>
              </a:tblGrid>
              <a:tr h="914400">
                <a:tc>
                  <a:txBody>
                    <a:bodyPr wrap="square">
                      <a:noAutofit/>
                    </a:bodyPr>
                    <a:lstStyle/>
                    <a:p>
                      <a:r>
                        <a:rPr sz="2325" b="1">
                          <a:solidFill>
                            <a:srgbClr val="FFFFFF"/>
                          </a:solidFill>
                          <a:latin typeface="Microsoft YaHei"/>
                          <a:ea typeface="Microsoft YaHei"/>
                          <a:cs typeface="Microsoft YaHei"/>
                        </a:rPr>
                        <a:t>阶段</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重点工作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可验收的交付物</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568450">
                <a:tc>
                  <a:txBody>
                    <a:bodyPr wrap="square">
                      <a:noAutofit/>
                    </a:bodyPr>
                    <a:lstStyle/>
                    <a:p>
                      <a:r>
                        <a:rPr sz="2250" b="0">
                          <a:solidFill>
                            <a:srgbClr val="21372F"/>
                          </a:solidFill>
                          <a:latin typeface="Microsoft YaHei"/>
                          <a:ea typeface="Microsoft YaHei"/>
                          <a:cs typeface="Microsoft YaHei"/>
                        </a:rPr>
                        <a:t>01  质量评估</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建议选取 50–100 条代表样本</a:t>
                      </a:r>
                    </a:p>
                    <a:p>
                      <a:r>
                        <a:rPr sz="2250" b="0">
                          <a:solidFill>
                            <a:srgbClr val="21372F"/>
                          </a:solidFill>
                          <a:latin typeface="Microsoft YaHei"/>
                          <a:ea typeface="Microsoft YaHei"/>
                          <a:cs typeface="Microsoft YaHei"/>
                        </a:rPr>
                        <a:t>人工评审，并抽查被筛掉的问题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样本集、评审标准</a:t>
                      </a:r>
                    </a:p>
                    <a:p>
                      <a:r>
                        <a:rPr sz="2250" b="0">
                          <a:solidFill>
                            <a:srgbClr val="21372F"/>
                          </a:solidFill>
                          <a:latin typeface="Microsoft YaHei"/>
                          <a:ea typeface="Microsoft YaHei"/>
                          <a:cs typeface="Microsoft YaHei"/>
                        </a:rPr>
                        <a:t>首轮质量基线</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250" b="0">
                          <a:solidFill>
                            <a:srgbClr val="21372F"/>
                          </a:solidFill>
                          <a:latin typeface="Microsoft YaHei"/>
                          <a:ea typeface="Microsoft YaHei"/>
                          <a:cs typeface="Microsoft YaHei"/>
                        </a:rPr>
                        <a:t>02  证据与规则</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补充原文依据、版本配套信息</a:t>
                      </a:r>
                    </a:p>
                    <a:p>
                      <a:r>
                        <a:rPr sz="2250" b="0">
                          <a:solidFill>
                            <a:srgbClr val="21372F"/>
                          </a:solidFill>
                          <a:latin typeface="Microsoft YaHei"/>
                          <a:ea typeface="Microsoft YaHei"/>
                          <a:cs typeface="Microsoft YaHei"/>
                        </a:rPr>
                        <a:t>跟进高价值但信息不足的问题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可核查的分析材料</a:t>
                      </a:r>
                    </a:p>
                    <a:p>
                      <a:r>
                        <a:rPr sz="2250" b="0">
                          <a:solidFill>
                            <a:srgbClr val="21372F"/>
                          </a:solidFill>
                          <a:latin typeface="Microsoft YaHei"/>
                          <a:ea typeface="Microsoft YaHei"/>
                          <a:cs typeface="Microsoft YaHei"/>
                        </a:rPr>
                        <a:t>规则改进与复评结果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250" b="0">
                          <a:solidFill>
                            <a:srgbClr val="21372F"/>
                          </a:solidFill>
                          <a:latin typeface="Microsoft YaHei"/>
                          <a:ea typeface="Microsoft YaHei"/>
                          <a:cs typeface="Microsoft YaHei"/>
                        </a:rPr>
                        <a:t>03  测试转化</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选择环境可用的问题开展人工复现</a:t>
                      </a:r>
                    </a:p>
                    <a:p>
                      <a:r>
                        <a:rPr sz="2250" b="0">
                          <a:solidFill>
                            <a:srgbClr val="21372F"/>
                          </a:solidFill>
                          <a:latin typeface="Microsoft YaHei"/>
                          <a:ea typeface="Microsoft YaHei"/>
                          <a:cs typeface="Microsoft YaHei"/>
                        </a:rPr>
                        <a:t>提炼最小用例并评审入库</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复现记录、验证结论</a:t>
                      </a:r>
                    </a:p>
                    <a:p>
                      <a:r>
                        <a:rPr sz="2250" b="0">
                          <a:solidFill>
                            <a:srgbClr val="21372F"/>
                          </a:solidFill>
                          <a:latin typeface="Microsoft YaHei"/>
                          <a:ea typeface="Microsoft YaHei"/>
                          <a:cs typeface="Microsoft YaHei"/>
                        </a:rPr>
                        <a:t>关联来源 Issue 的回归用例</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7158433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37528F9-5C28-4148-AB31-B524AF879874}"/>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下一阶段的成功标准</a:t>
            </a:r>
          </a:p>
        </p:txBody>
      </p:sp>
      <p:sp>
        <p:nvSpPr>
          <p:cNvPr id="3" name="">
            <a:extLst xmlns:a="http://schemas.openxmlformats.org/drawingml/2006/main">
              <a:ext uri="{FF2B5EF4-FFF2-40B4-BE49-F238E27FC236}">
                <a16:creationId xmlns:a16="http://schemas.microsoft.com/office/drawing/2014/main" id="{AE72C198-55FC-4E73-B55B-8BCC1E6405D5}"/>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4" name="footer">
            <a:extLst xmlns:a="http://schemas.openxmlformats.org/drawingml/2006/main">
              <a:ext uri="{FF2B5EF4-FFF2-40B4-BE49-F238E27FC236}">
                <a16:creationId xmlns:a16="http://schemas.microsoft.com/office/drawing/2014/main" id="{545A6BC9-3606-4A30-859E-F6C4C6769B5B}"/>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5" name="page-number">
            <a:extLst xmlns:a="http://schemas.openxmlformats.org/drawingml/2006/main">
              <a:ext uri="{FF2B5EF4-FFF2-40B4-BE49-F238E27FC236}">
                <a16:creationId xmlns:a16="http://schemas.microsoft.com/office/drawing/2014/main" id="{4B451AD6-9E5E-49B9-AF86-91656AEE5C2A}"/>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12</a:t>
            </a:r>
          </a:p>
        </p:txBody>
      </p:sp>
      <p:sp>
        <p:nvSpPr>
          <p:cNvPr id="6" name="close-main">
            <a:extLst xmlns:a="http://schemas.openxmlformats.org/drawingml/2006/main">
              <a:ext uri="{FF2B5EF4-FFF2-40B4-BE49-F238E27FC236}">
                <a16:creationId xmlns:a16="http://schemas.microsoft.com/office/drawing/2014/main" id="{ECE1CCC2-CFCD-4EEC-B671-687EBDFA346C}"/>
              </a:ext>
            </a:extLst>
          </p:cNvPr>
          <p:cNvSpPr>
            <a:spLocks xmlns:a="http://schemas.openxmlformats.org/drawingml/2006/main" noGrp="1"/>
          </p:cNvSpPr>
          <p:nvPr/>
        </p:nvSpPr>
        <p:spPr>
          <a:xfrm xmlns:a="http://schemas.openxmlformats.org/drawingml/2006/main">
            <a:off x="1047750" y="2647950"/>
            <a:ext cx="16002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227451"/>
                </a:solidFill>
                <a:latin typeface="Microsoft YaHei"/>
                <a:ea typeface="Microsoft YaHei"/>
                <a:cs typeface="Microsoft YaHei"/>
              </a:defRPr>
            </a:defPPr>
            <a:lvl1pPr algn="l">
              <a:defRPr sz="5625" b="1">
                <a:solidFill>
                  <a:srgbClr val="227451"/>
                </a:solidFill>
                <a:latin typeface="Microsoft YaHei"/>
                <a:ea typeface="Microsoft YaHei"/>
                <a:cs typeface="Microsoft YaHei"/>
              </a:defRPr>
            </a:lvl1pPr>
            <a:lvl2pPr algn="l">
              <a:defRPr sz="5625" b="1">
                <a:solidFill>
                  <a:srgbClr val="227451"/>
                </a:solidFill>
                <a:latin typeface="Microsoft YaHei"/>
                <a:ea typeface="Microsoft YaHei"/>
                <a:cs typeface="Microsoft YaHei"/>
              </a:defRPr>
            </a:lvl2pPr>
            <a:lvl3pPr algn="l">
              <a:defRPr sz="5625" b="1">
                <a:solidFill>
                  <a:srgbClr val="227451"/>
                </a:solidFill>
                <a:latin typeface="Microsoft YaHei"/>
                <a:ea typeface="Microsoft YaHei"/>
                <a:cs typeface="Microsoft YaHei"/>
              </a:defRPr>
            </a:lvl3pPr>
            <a:lvl4pPr algn="l">
              <a:defRPr sz="5625" b="1">
                <a:solidFill>
                  <a:srgbClr val="227451"/>
                </a:solidFill>
                <a:latin typeface="Microsoft YaHei"/>
                <a:ea typeface="Microsoft YaHei"/>
                <a:cs typeface="Microsoft YaHei"/>
              </a:defRPr>
            </a:lvl4pPr>
            <a:lvl5pPr algn="l">
              <a:defRPr sz="5625" b="1">
                <a:solidFill>
                  <a:srgbClr val="227451"/>
                </a:solidFill>
                <a:latin typeface="Microsoft YaHei"/>
                <a:ea typeface="Microsoft YaHei"/>
                <a:cs typeface="Microsoft YaHei"/>
              </a:defRPr>
            </a:lvl5pPr>
            <a:lvl6pPr algn="l">
              <a:defRPr sz="5625" b="1">
                <a:solidFill>
                  <a:srgbClr val="227451"/>
                </a:solidFill>
                <a:latin typeface="Microsoft YaHei"/>
                <a:ea typeface="Microsoft YaHei"/>
                <a:cs typeface="Microsoft YaHei"/>
              </a:defRPr>
            </a:lvl6pPr>
            <a:lvl7pPr algn="l">
              <a:defRPr sz="5625" b="1">
                <a:solidFill>
                  <a:srgbClr val="227451"/>
                </a:solidFill>
                <a:latin typeface="Microsoft YaHei"/>
                <a:ea typeface="Microsoft YaHei"/>
                <a:cs typeface="Microsoft YaHei"/>
              </a:defRPr>
            </a:lvl7pPr>
            <a:lvl8pPr algn="l">
              <a:defRPr sz="5625" b="1">
                <a:solidFill>
                  <a:srgbClr val="227451"/>
                </a:solidFill>
                <a:latin typeface="Microsoft YaHei"/>
                <a:ea typeface="Microsoft YaHei"/>
                <a:cs typeface="Microsoft YaHei"/>
              </a:defRPr>
            </a:lvl8pPr>
            <a:lvl9pPr algn="l">
              <a:defRPr sz="5625" b="1">
                <a:solidFill>
                  <a:srgbClr val="227451"/>
                </a:solidFill>
                <a:latin typeface="Microsoft YaHei"/>
                <a:ea typeface="Microsoft YaHei"/>
                <a:cs typeface="Microsoft YaHei"/>
              </a:defRPr>
            </a:lvl9pPr>
          </a:lstStyle>
          <a:p xmlns:a="http://schemas.openxmlformats.org/drawingml/2006/main">
            <a:pPr algn="l">
              <a:defRPr sz="5625" b="1">
                <a:solidFill>
                  <a:srgbClr val="227451"/>
                </a:solidFill>
                <a:latin typeface="Microsoft YaHei"/>
                <a:ea typeface="Microsoft YaHei"/>
                <a:cs typeface="Microsoft YaHei"/>
              </a:defRPr>
            </a:pPr>
            <a:r>
              <a:rPr sz="5625" b="1">
                <a:solidFill>
                  <a:srgbClr val="227451"/>
                </a:solidFill>
                <a:latin typeface="Microsoft YaHei"/>
                <a:ea typeface="Microsoft YaHei"/>
                <a:cs typeface="Microsoft YaHei"/>
              </a:rPr>
              <a:t>让值得投入的问题</a:t>
            </a:r>
          </a:p>
          <a:p xmlns:a="http://schemas.openxmlformats.org/drawingml/2006/main">
            <a:pPr algn="l">
              <a:defRPr sz="5625" b="1">
                <a:solidFill>
                  <a:srgbClr val="227451"/>
                </a:solidFill>
                <a:latin typeface="Microsoft YaHei"/>
                <a:ea typeface="Microsoft YaHei"/>
                <a:cs typeface="Microsoft YaHei"/>
              </a:defRPr>
            </a:pPr>
            <a:r>
              <a:rPr sz="5625" b="1">
                <a:solidFill>
                  <a:srgbClr val="227451"/>
                </a:solidFill>
                <a:latin typeface="Microsoft YaHei"/>
                <a:ea typeface="Microsoft YaHei"/>
                <a:cs typeface="Microsoft YaHei"/>
              </a:rPr>
              <a:t>更快进入实际验证</a:t>
            </a:r>
          </a:p>
        </p:txBody>
      </p:sp>
      <p:sp>
        <p:nvSpPr>
          <p:cNvPr id="7" name="close-evidence">
            <a:extLst xmlns:a="http://schemas.openxmlformats.org/drawingml/2006/main">
              <a:ext uri="{FF2B5EF4-FFF2-40B4-BE49-F238E27FC236}">
                <a16:creationId xmlns:a16="http://schemas.microsoft.com/office/drawing/2014/main" id="{D18E1DC3-582C-4DF8-981C-CE4410C94341}"/>
              </a:ext>
            </a:extLst>
          </p:cNvPr>
          <p:cNvSpPr>
            <a:spLocks xmlns:a="http://schemas.openxmlformats.org/drawingml/2006/main" noGrp="1"/>
          </p:cNvSpPr>
          <p:nvPr/>
        </p:nvSpPr>
        <p:spPr>
          <a:xfrm xmlns:a="http://schemas.openxmlformats.org/drawingml/2006/main">
            <a:off x="1123950" y="5638800"/>
            <a:ext cx="15049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1372F"/>
                </a:solidFill>
                <a:latin typeface="Microsoft YaHei"/>
                <a:ea typeface="Microsoft YaHei"/>
                <a:cs typeface="Microsoft YaHei"/>
              </a:defRPr>
            </a:defPPr>
            <a:lvl1pPr algn="l">
              <a:defRPr sz="3000" b="0">
                <a:solidFill>
                  <a:srgbClr val="21372F"/>
                </a:solidFill>
                <a:latin typeface="Microsoft YaHei"/>
                <a:ea typeface="Microsoft YaHei"/>
                <a:cs typeface="Microsoft YaHei"/>
              </a:defRPr>
            </a:lvl1pPr>
            <a:lvl2pPr algn="l">
              <a:defRPr sz="3000" b="0">
                <a:solidFill>
                  <a:srgbClr val="21372F"/>
                </a:solidFill>
                <a:latin typeface="Microsoft YaHei"/>
                <a:ea typeface="Microsoft YaHei"/>
                <a:cs typeface="Microsoft YaHei"/>
              </a:defRPr>
            </a:lvl2pPr>
            <a:lvl3pPr algn="l">
              <a:defRPr sz="3000" b="0">
                <a:solidFill>
                  <a:srgbClr val="21372F"/>
                </a:solidFill>
                <a:latin typeface="Microsoft YaHei"/>
                <a:ea typeface="Microsoft YaHei"/>
                <a:cs typeface="Microsoft YaHei"/>
              </a:defRPr>
            </a:lvl3pPr>
            <a:lvl4pPr algn="l">
              <a:defRPr sz="3000" b="0">
                <a:solidFill>
                  <a:srgbClr val="21372F"/>
                </a:solidFill>
                <a:latin typeface="Microsoft YaHei"/>
                <a:ea typeface="Microsoft YaHei"/>
                <a:cs typeface="Microsoft YaHei"/>
              </a:defRPr>
            </a:lvl4pPr>
            <a:lvl5pPr algn="l">
              <a:defRPr sz="3000" b="0">
                <a:solidFill>
                  <a:srgbClr val="21372F"/>
                </a:solidFill>
                <a:latin typeface="Microsoft YaHei"/>
                <a:ea typeface="Microsoft YaHei"/>
                <a:cs typeface="Microsoft YaHei"/>
              </a:defRPr>
            </a:lvl5pPr>
            <a:lvl6pPr algn="l">
              <a:defRPr sz="3000" b="0">
                <a:solidFill>
                  <a:srgbClr val="21372F"/>
                </a:solidFill>
                <a:latin typeface="Microsoft YaHei"/>
                <a:ea typeface="Microsoft YaHei"/>
                <a:cs typeface="Microsoft YaHei"/>
              </a:defRPr>
            </a:lvl6pPr>
            <a:lvl7pPr algn="l">
              <a:defRPr sz="3000" b="0">
                <a:solidFill>
                  <a:srgbClr val="21372F"/>
                </a:solidFill>
                <a:latin typeface="Microsoft YaHei"/>
                <a:ea typeface="Microsoft YaHei"/>
                <a:cs typeface="Microsoft YaHei"/>
              </a:defRPr>
            </a:lvl7pPr>
            <a:lvl8pPr algn="l">
              <a:defRPr sz="3000" b="0">
                <a:solidFill>
                  <a:srgbClr val="21372F"/>
                </a:solidFill>
                <a:latin typeface="Microsoft YaHei"/>
                <a:ea typeface="Microsoft YaHei"/>
                <a:cs typeface="Microsoft YaHei"/>
              </a:defRPr>
            </a:lvl8pPr>
            <a:lvl9pPr algn="l">
              <a:defRPr sz="3000" b="0">
                <a:solidFill>
                  <a:srgbClr val="21372F"/>
                </a:solidFill>
                <a:latin typeface="Microsoft YaHei"/>
                <a:ea typeface="Microsoft YaHei"/>
                <a:cs typeface="Microsoft YaHei"/>
              </a:defRPr>
            </a:lvl9pPr>
          </a:lstStyle>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人工分析更省时</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重点问题能够复现</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社区反馈形成可复用的回归测试</a:t>
            </a:r>
          </a:p>
        </p:txBody>
      </p:sp>
    </p:spTree>
    <p:extLst>
      <p:ext uri="{BB962C8B-B14F-4D97-AF65-F5344CB8AC3E}">
        <p14:creationId xmlns:p14="http://schemas.microsoft.com/office/powerpoint/2010/main" val="1134362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2026-10-27T13:56:58.4880000Z</dcterms:created>
  <dcterms:modified xsi:type="dcterms:W3CDTF">2026-10-27T13:56:58.4880000Z</dcterms:modified>
</coreProperties>
</file>