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821672b2cf441e" /><Relationship Type="http://schemas.openxmlformats.org/officeDocument/2006/relationships/extended-properties" Target="/docProps/app.xml" Id="Ra6a099f3b7384db1" /><Relationship Type="http://schemas.openxmlformats.org/officeDocument/2006/relationships/officeDocument" Target="/ppt/presentation.xml" Id="R3a212c75210445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44ddfbbb5b4bda"/>
  </p:sldMasterIdLst>
  <p:notesMasterIdLst>
    <p:notesMasterId xmlns:r="http://schemas.openxmlformats.org/officeDocument/2006/relationships" r:id="R3b730c0241ba454b"/>
  </p:notesMasterIdLst>
  <p:sldIdLst>
    <p:sldId xmlns:r="http://schemas.openxmlformats.org/officeDocument/2006/relationships" id="256" r:id="R76bb8b754e82458e"/>
    <p:sldId xmlns:r="http://schemas.openxmlformats.org/officeDocument/2006/relationships" id="257" r:id="Rf33c4705c9eb4661"/>
    <p:sldId xmlns:r="http://schemas.openxmlformats.org/officeDocument/2006/relationships" id="258" r:id="R6de6a7cc1f384d2f"/>
    <p:sldId xmlns:r="http://schemas.openxmlformats.org/officeDocument/2006/relationships" id="259" r:id="Rc14bc19f868d4551"/>
    <p:sldId xmlns:r="http://schemas.openxmlformats.org/officeDocument/2006/relationships" id="260" r:id="R65d4f68aa3c2427c"/>
    <p:sldId xmlns:r="http://schemas.openxmlformats.org/officeDocument/2006/relationships" id="261" r:id="R81a345966deb4745"/>
    <p:sldId xmlns:r="http://schemas.openxmlformats.org/officeDocument/2006/relationships" id="262" r:id="Rdee0db1c46ae43cc"/>
    <p:sldId xmlns:r="http://schemas.openxmlformats.org/officeDocument/2006/relationships" id="263" r:id="R34567d328926438d"/>
    <p:sldId xmlns:r="http://schemas.openxmlformats.org/officeDocument/2006/relationships" id="264" r:id="Rdd3ee63c5b4f400a"/>
    <p:sldId xmlns:r="http://schemas.openxmlformats.org/officeDocument/2006/relationships" id="265" r:id="Rceeb4e855e38415f"/>
    <p:sldId xmlns:r="http://schemas.openxmlformats.org/officeDocument/2006/relationships" id="266" r:id="R6f453474204d4656"/>
    <p:sldId xmlns:r="http://schemas.openxmlformats.org/officeDocument/2006/relationships" id="267" r:id="R4bfab6cb10104a94"/>
    <p:sldId xmlns:r="http://schemas.openxmlformats.org/officeDocument/2006/relationships" id="268" r:id="Rd4280aaa11614739"/>
    <p:sldId xmlns:r="http://schemas.openxmlformats.org/officeDocument/2006/relationships" id="269" r:id="R3590507304ab4d73"/>
    <p:sldId xmlns:r="http://schemas.openxmlformats.org/officeDocument/2006/relationships" id="270" r:id="R2516f422a75b4824"/>
    <p:sldId xmlns:r="http://schemas.openxmlformats.org/officeDocument/2006/relationships" id="271" r:id="Rc8968f12cb604af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2180f9b45488a" /><Relationship Type="http://schemas.openxmlformats.org/officeDocument/2006/relationships/slideMaster" Target="/ppt/slideMasters/slideMaster1.xml" Id="R5344ddfbbb5b4bda" /><Relationship Type="http://schemas.openxmlformats.org/officeDocument/2006/relationships/notesMaster" Target="/ppt/notesMasters/notesMaster1.xml" Id="R3b730c0241ba454b" /><Relationship Type="http://schemas.openxmlformats.org/officeDocument/2006/relationships/presProps" Target="/ppt/presProps.xml" Id="R43bc5f63baa24a33" /><Relationship Type="http://schemas.openxmlformats.org/officeDocument/2006/relationships/tableStyles" Target="/ppt/tableStyles.xml" Id="Rd3f1336915904ac0" /><Relationship Type="http://schemas.openxmlformats.org/officeDocument/2006/relationships/slide" Target="/ppt/slides/slide1.xml" Id="R76bb8b754e82458e" /><Relationship Type="http://schemas.openxmlformats.org/officeDocument/2006/relationships/slide" Target="/ppt/slides/slide2.xml" Id="Rf33c4705c9eb4661" /><Relationship Type="http://schemas.openxmlformats.org/officeDocument/2006/relationships/slide" Target="/ppt/slides/slide3.xml" Id="R6de6a7cc1f384d2f" /><Relationship Type="http://schemas.openxmlformats.org/officeDocument/2006/relationships/slide" Target="/ppt/slides/slide4.xml" Id="Rc14bc19f868d4551" /><Relationship Type="http://schemas.openxmlformats.org/officeDocument/2006/relationships/slide" Target="/ppt/slides/slide5.xml" Id="R65d4f68aa3c2427c" /><Relationship Type="http://schemas.openxmlformats.org/officeDocument/2006/relationships/slide" Target="/ppt/slides/slide6.xml" Id="R81a345966deb4745" /><Relationship Type="http://schemas.openxmlformats.org/officeDocument/2006/relationships/slide" Target="/ppt/slides/slide7.xml" Id="Rdee0db1c46ae43cc" /><Relationship Type="http://schemas.openxmlformats.org/officeDocument/2006/relationships/slide" Target="/ppt/slides/slide8.xml" Id="R34567d328926438d" /><Relationship Type="http://schemas.openxmlformats.org/officeDocument/2006/relationships/slide" Target="/ppt/slides/slide9.xml" Id="Rdd3ee63c5b4f400a" /><Relationship Type="http://schemas.openxmlformats.org/officeDocument/2006/relationships/slide" Target="/ppt/slides/slide10.xml" Id="Rceeb4e855e38415f" /><Relationship Type="http://schemas.openxmlformats.org/officeDocument/2006/relationships/slide" Target="/ppt/slides/slide11.xml" Id="R6f453474204d4656" /><Relationship Type="http://schemas.openxmlformats.org/officeDocument/2006/relationships/slide" Target="/ppt/slides/slide12.xml" Id="R4bfab6cb10104a94" /><Relationship Type="http://schemas.openxmlformats.org/officeDocument/2006/relationships/slide" Target="/ppt/slides/slide13.xml" Id="Rd4280aaa11614739" /><Relationship Type="http://schemas.openxmlformats.org/officeDocument/2006/relationships/slide" Target="/ppt/slides/slide14.xml" Id="R3590507304ab4d73" /><Relationship Type="http://schemas.openxmlformats.org/officeDocument/2006/relationships/slide" Target="/ppt/slides/slide15.xml" Id="R2516f422a75b4824" /><Relationship Type="http://schemas.openxmlformats.org/officeDocument/2006/relationships/slide" Target="/ppt/slides/slide16.xml" Id="Rc8968f12cb60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0c679f8636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6cca9ad17b442f" /><Relationship Type="http://schemas.openxmlformats.org/officeDocument/2006/relationships/notesMaster" Target="/ppt/notesMasters/notesMaster1.xml" Id="R107e56bd7fc542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91aa811bc34ee3" /><Relationship Type="http://schemas.openxmlformats.org/officeDocument/2006/relationships/notesMaster" Target="/ppt/notesMasters/notesMaster1.xml" Id="R49a71b366fba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6c6df4ad664dc8" /><Relationship Type="http://schemas.openxmlformats.org/officeDocument/2006/relationships/notesMaster" Target="/ppt/notesMasters/notesMaster1.xml" Id="R11f6f381f12e4f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a3963398194cab" /><Relationship Type="http://schemas.openxmlformats.org/officeDocument/2006/relationships/notesMaster" Target="/ppt/notesMasters/notesMaster1.xml" Id="R1d4460863c4d43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ff92a17fa045c3" /><Relationship Type="http://schemas.openxmlformats.org/officeDocument/2006/relationships/notesMaster" Target="/ppt/notesMasters/notesMaster1.xml" Id="Rd583c4cedbcf46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dd1558b4c04b00" /><Relationship Type="http://schemas.openxmlformats.org/officeDocument/2006/relationships/notesMaster" Target="/ppt/notesMasters/notesMaster1.xml" Id="R365511f7d2494d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8e25d90f1c4176" /><Relationship Type="http://schemas.openxmlformats.org/officeDocument/2006/relationships/notesMaster" Target="/ppt/notesMasters/notesMaster1.xml" Id="R93dbe59ce83a4b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14b0d42735484b" /><Relationship Type="http://schemas.openxmlformats.org/officeDocument/2006/relationships/notesMaster" Target="/ppt/notesMasters/notesMaster1.xml" Id="R073804f460d64b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cd9b550377401d" /><Relationship Type="http://schemas.openxmlformats.org/officeDocument/2006/relationships/notesMaster" Target="/ppt/notesMasters/notesMaster1.xml" Id="Rc82886f9c15b4b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3b1a9c5bdd457e" /><Relationship Type="http://schemas.openxmlformats.org/officeDocument/2006/relationships/notesMaster" Target="/ppt/notesMasters/notesMaster1.xml" Id="Rf14d452eac7949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f682abe8ed4da2" /><Relationship Type="http://schemas.openxmlformats.org/officeDocument/2006/relationships/notesMaster" Target="/ppt/notesMasters/notesMaster1.xml" Id="R15f1aa2a4f3345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01a52e789f49d8" /><Relationship Type="http://schemas.openxmlformats.org/officeDocument/2006/relationships/notesMaster" Target="/ppt/notesMasters/notesMaster1.xml" Id="Rc2d74daa528b41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8af826d8aa4c30" /><Relationship Type="http://schemas.openxmlformats.org/officeDocument/2006/relationships/notesMaster" Target="/ppt/notesMasters/notesMaster1.xml" Id="R4c75e07081aa42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37ec1e7eea4153" /><Relationship Type="http://schemas.openxmlformats.org/officeDocument/2006/relationships/notesMaster" Target="/ppt/notesMasters/notesMaster1.xml" Id="R0e9c3262329b45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1168599a8e46c1" /><Relationship Type="http://schemas.openxmlformats.org/officeDocument/2006/relationships/notesMaster" Target="/ppt/notesMasters/notesMaster1.xml" Id="R543feee4c30a40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8233e79c3e4b11" /><Relationship Type="http://schemas.openxmlformats.org/officeDocument/2006/relationships/notesMaster" Target="/ppt/notesMasters/notesMaster1.xml" Id="R50e2a7d406e746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issue-tracker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社区问题管理与测试分析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现状调查：社区 Issue 管理的五项痛点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r>
              <a:t>以下痛点来自项目需求与使用反馈，具体耗时和遗漏比例仍需建立统计基线。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痛点：具体表现：对测试工作的影响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持续跟踪困难：新增问题、历史更新和维护者回复需要反复查看。</a:t>
            </a:r>
          </a:p>
          <a:p xmlns:a="http://schemas.openxmlformats.org/drawingml/2006/main">
            <a:r>
              <a:t>正文、评论与状态变化缺少统一的跟踪入口。：容易重复查找与核对。</a:t>
            </a:r>
          </a:p>
          <a:p xmlns:a="http://schemas.openxmlformats.org/drawingml/2006/main">
            <a:r>
              <a:t>重要更新可能未能及时跟进。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人工整理投入大：逐条阅读长正文、多轮评论和错误日志。</a:t>
            </a:r>
          </a:p>
          <a:p xmlns:a="http://schemas.openxmlformats.org/drawingml/2006/main">
            <a:r>
              <a:t>重复提取问题现象、环境配置与处理进展。：资料准备占用分析精力。</a:t>
            </a:r>
          </a:p>
          <a:p xmlns:a="http://schemas.openxmlformats.org/drawingml/2006/main">
            <a:r>
              <a:t>集中梳理大量问题时耗时明显。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重点问题筛选难：缺陷、文档、咨询和 RFC 混杂在完整列表中。</a:t>
            </a:r>
          </a:p>
          <a:p xmlns:a="http://schemas.openxmlformats.org/drawingml/2006/main">
            <a:r>
              <a:t>价值、版本适用性和复现条件需要分别判断。：测试资源难以确定投入顺序。</a:t>
            </a:r>
          </a:p>
          <a:p xmlns:a="http://schemas.openxmlformats.org/drawingml/2006/main">
            <a:r>
              <a:t>重要缺陷可能被低相关反馈淹没。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复现材料不完整：模型、量化、并行方式与软硬件版本组合复杂。</a:t>
            </a:r>
          </a:p>
          <a:p xmlns:a="http://schemas.openxmlformats.org/drawingml/2006/main">
            <a:r>
              <a:t>启动参数、触发请求或复现步骤可能缺失。：需要重新翻阅正文与评论补齐参数。</a:t>
            </a:r>
          </a:p>
          <a:p xmlns:a="http://schemas.openxmlformats.org/drawingml/2006/main">
            <a:r>
              <a:t>难以判断是否具备开展验证的条件。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分析经验难复用：分析结论、补测建议与处理进展分散保存。</a:t>
            </a:r>
          </a:p>
          <a:p xmlns:a="http://schemas.openxmlformats.org/drawingml/2006/main">
            <a:r>
              <a:t>交接时缺少可直接接续的材料和判断依据。：接手者重复阅读与分析。</a:t>
            </a:r>
          </a:p>
          <a:p xmlns:a="http://schemas.openxmlformats.org/drawingml/2006/main">
            <a:r>
              <a:t>典型问题难以积累为后续测试输入。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SIPOC：流程范围与关键指标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r>
              <a:t>据此提出主指标“单条 Issue 分析平均人工耗时”，在输出质量满足要求的前提下比较改进前后变化。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供应方：I 输入：P 处理过程：O 输出：C 使用方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 提交者</a:t>
            </a:r>
          </a:p>
          <a:p xmlns:a="http://schemas.openxmlformats.org/drawingml/2006/main">
            <a:r>
              <a:t>社区维护者</a:t>
            </a:r>
          </a:p>
          <a:p xmlns:a="http://schemas.openxmlformats.org/drawingml/2006/main">
            <a:r>
              <a:t>参与讨论的用户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提供问题与后续反馈：正文、评论与日志</a:t>
            </a:r>
          </a:p>
          <a:p xmlns:a="http://schemas.openxmlformats.org/drawingml/2006/main">
            <a:r>
              <a:t>标签、状态与版本</a:t>
            </a:r>
          </a:p>
          <a:p xmlns:a="http://schemas.openxmlformats.org/drawingml/2006/main">
            <a:r>
              <a:t>模型、环境配置</a:t>
            </a:r>
          </a:p>
          <a:p xmlns:a="http://schemas.openxmlformats.org/drawingml/2006/main">
            <a:r>
              <a:t>已有人工分析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保留来源与信息缺口：同步获取与集中查看</a:t>
            </a:r>
          </a:p>
          <a:p xmlns:a="http://schemas.openxmlformats.org/drawingml/2006/main">
            <a:r>
              <a:t>筛选并确定分析范围</a:t>
            </a:r>
          </a:p>
          <a:p xmlns:a="http://schemas.openxmlformats.org/drawingml/2006/main">
            <a:r>
              <a:t>人工或 AI 辅助归纳</a:t>
            </a:r>
          </a:p>
          <a:p xmlns:a="http://schemas.openxmlformats.org/drawingml/2006/main">
            <a:r>
              <a:t>人员审核、修正</a:t>
            </a:r>
          </a:p>
          <a:p xmlns:a="http://schemas.openxmlformats.org/drawingml/2006/main">
            <a:r>
              <a:t>保存记录与专题导出：经审核的分析记录</a:t>
            </a:r>
          </a:p>
          <a:p xmlns:a="http://schemas.openxmlformats.org/drawingml/2006/main">
            <a:r>
              <a:t>问题判断与依据</a:t>
            </a:r>
          </a:p>
          <a:p xmlns:a="http://schemas.openxmlformats.org/drawingml/2006/main">
            <a:r>
              <a:t>关键配置与信息缺口</a:t>
            </a:r>
          </a:p>
          <a:p xmlns:a="http://schemas.openxmlformats.org/drawingml/2006/main">
            <a:r>
              <a:t>后续验证或跟进建议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为复现提供准备材料：测试人员</a:t>
            </a:r>
          </a:p>
          <a:p xmlns:a="http://schemas.openxmlformats.org/drawingml/2006/main">
            <a:r>
              <a:t>开发与问题负责人</a:t>
            </a:r>
          </a:p>
          <a:p xmlns:a="http://schemas.openxmlformats.org/drawingml/2006/main">
            <a:r>
              <a:t>评审和交接人员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据此判断下一步工作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把社区反馈的供应方、输入、处理过程、输出和使用方放在同一流程中。使用方需要的是可继续使用的分析记录，因此建议将形成审核合格记录的平均人工投入作为主指标。分子为固定样本所有参与人员的实际人工分钟之和，多人并行要相加，返工及 AI 失败后的人工处理都计入，不能只计算生成成功项。分母为预先选定并逐条完成分析的样本数量。若有未完成项，披露数量和原因，待完成后形成完整批次结果，不排除困难样本来降低均值。该指标不是模型接口耗时或缺陷自动复现率。没有实测数据时不填当前值与改善比例。质量审核是使用指标的前提，不能通过减少核对、遗漏信息或降低交付标准换取更低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根因分析：社区反馈转化为测试输入的障碍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从信息获取、分析方法、环境配置、人员协作、工作流程和知识沉淀六个方面展开原因。</a:t>
            </a:r>
          </a:p>
          <a:p xmlns:a="http://schemas.openxmlformats.org/drawingml/2006/main">
            <a:r>
              <a:t>鱼骨图列出可能因素，后续需要用流程走查、样本检查和对照验证确认主要原因。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目标设定：明确希望改善什么、如何验收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r>
              <a:t>目标描述的是希望取得的改进，是否达成需要结合实际使用数据和测试人员反馈判断。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目标：具体含义与项目解决方式：验收依据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提高跟踪可靠性：集中维护问题列表，持续同步新增和历史更新。</a:t>
            </a:r>
          </a:p>
          <a:p xmlns:a="http://schemas.openxmlformats.org/drawingml/2006/main">
            <a:r>
              <a:t>统一仓库、时间和状态口径，支持全量核对。</a:t>
            </a:r>
          </a:p>
          <a:p xmlns:a="http://schemas.openxmlformats.org/drawingml/2006/main">
            <a:r>
              <a:t>社区字段更新时保留本地人工分析。：同口径核对问题数量并抽查具体条目。</a:t>
            </a:r>
          </a:p>
          <a:p xmlns:a="http://schemas.openxmlformats.org/drawingml/2006/main">
            <a:r>
              <a:t>检查历史更新是否跟进。</a:t>
            </a:r>
          </a:p>
          <a:p xmlns:a="http://schemas.openxmlformats.org/drawingml/2006/main">
            <a:r>
              <a:t>确认人工结论未被同步覆盖。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减少人工整理投入：集中展示原文与评论，减少跨页面查找。</a:t>
            </a:r>
          </a:p>
          <a:p xmlns:a="http://schemas.openxmlformats.org/drawingml/2006/main">
            <a:r>
              <a:t>AI 辅助归纳摘要与补测建议，支持批量处理。</a:t>
            </a:r>
          </a:p>
          <a:p xmlns:a="http://schemas.openxmlformats.org/drawingml/2006/main">
            <a:r>
              <a:t>人员核对和修正后使用结果。：对比单条 Issue 分析平均人工耗时。</a:t>
            </a:r>
          </a:p>
          <a:p xmlns:a="http://schemas.openxmlformats.org/drawingml/2006/main">
            <a:r>
              <a:t>包括查找、阅读、审核与修正。</a:t>
            </a:r>
          </a:p>
          <a:p xmlns:a="http://schemas.openxmlformats.org/drawingml/2006/main">
            <a:r>
              <a:t>质量标准一致，计入错误与返工。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提高重点筛选效率：按时间、状态、标签和版本收敛范围。</a:t>
            </a:r>
          </a:p>
          <a:p xmlns:a="http://schemas.openxmlformats.org/drawingml/2006/main">
            <a:r>
              <a:t>结合价值与复现条件形成优先处理候选。</a:t>
            </a:r>
          </a:p>
          <a:p xmlns:a="http://schemas.openxmlformats.org/drawingml/2006/main">
            <a:r>
              <a:t>保留完整列表，人工复查重要遗漏。：人工评审候选是否值得投入测试。</a:t>
            </a:r>
          </a:p>
          <a:p xmlns:a="http://schemas.openxmlformats.org/drawingml/2006/main">
            <a:r>
              <a:t>抽查筛选结果之外的重要问题。</a:t>
            </a:r>
          </a:p>
          <a:p xmlns:a="http://schemas.openxmlformats.org/drawingml/2006/main">
            <a:r>
              <a:t>观察筛选准备时间与判断分歧。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完整性：辅助提取模型配置、硬件环境和软件版本。</a:t>
            </a:r>
          </a:p>
          <a:p xmlns:a="http://schemas.openxmlformats.org/drawingml/2006/main">
            <a:r>
              <a:t>整理触发条件、预期结果和已知错误现象。</a:t>
            </a:r>
          </a:p>
          <a:p xmlns:a="http://schemas.openxmlformats.org/drawingml/2006/main">
            <a:r>
              <a:t>明确缺失信息，实际复现仍由测试人员执行。：检查关键参数与待确认项是否清楚。</a:t>
            </a:r>
          </a:p>
          <a:p xmlns:a="http://schemas.openxmlformats.org/drawingml/2006/main">
            <a:r>
              <a:t>由测试人员评估材料能否用于验证。</a:t>
            </a:r>
          </a:p>
          <a:p xmlns:a="http://schemas.openxmlformats.org/drawingml/2006/main">
            <a:r>
              <a:t>不能将材料生成等同于复现成功。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提高分析材料</a:t>
            </a:r>
          </a:p>
          <a:p xmlns:a="http://schemas.openxmlformats.org/drawingml/2006/main">
            <a:r>
              <a:t>复用能力：将人工结论、补测建议和进展保存在台账。</a:t>
            </a:r>
          </a:p>
          <a:p xmlns:a="http://schemas.openxmlformats.org/drawingml/2006/main">
            <a:r>
              <a:t>支持按专题整理与导出，便于评审交接。</a:t>
            </a:r>
          </a:p>
          <a:p xmlns:a="http://schemas.openxmlformats.org/drawingml/2006/main">
            <a:r>
              <a:t>关联来源问题，积累典型测试场景。：检查接手者能否继续分析而非重做。</a:t>
            </a:r>
          </a:p>
          <a:p xmlns:a="http://schemas.openxmlformats.org/drawingml/2006/main">
            <a:r>
              <a:t>记录材料在同类问题中的实际使用。</a:t>
            </a:r>
          </a:p>
          <a:p xmlns:a="http://schemas.openxmlformats.org/drawingml/2006/main">
            <a:r>
              <a:t>跟踪与测试验证记录的关联。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主要原因与改进方向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根据现状与鱼骨图，将需要重点改善的原因归纳为三个方面，并对应到后续五项具体对策。</a:t>
            </a:r>
          </a:p>
          <a:p xmlns:a="http://schemas.openxmlformats.org/drawingml/2006/main">
            <a:r>
              <a:t>以下是基于需求与使用反馈的初步判断，实际作用需结合工时、遗漏和材料使用记录持续核验。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主要原因判断：对工作的影响：对应的改进方向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信息与分析记录</a:t>
            </a:r>
          </a:p>
          <a:p xmlns:a="http://schemas.openxmlformats.org/drawingml/2006/main">
            <a:r>
              <a:t>分散：新增、历史更新和人工结论缺少集中管理。</a:t>
            </a:r>
          </a:p>
          <a:p xmlns:a="http://schemas.openxmlformats.org/drawingml/2006/main">
            <a:r>
              <a:t>人员在不同页面与材料间反复查找、核对。</a:t>
            </a:r>
          </a:p>
          <a:p xmlns:a="http://schemas.openxmlformats.org/drawingml/2006/main">
            <a:r>
              <a:t>交接时难以接续已有判断，容易重复收集信息。：持续同步与统一问题列表：集中获取、跟进更新。</a:t>
            </a:r>
          </a:p>
          <a:p xmlns:a="http://schemas.openxmlformats.org/drawingml/2006/main">
            <a:r>
              <a:t>分析记录与协作复用：保留结论、进展和依据。</a:t>
            </a:r>
          </a:p>
          <a:p xmlns:a="http://schemas.openxmlformats.org/drawingml/2006/main">
            <a:r>
              <a:t>通过专题导出支持评审交接，减少重复查找。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阅读归纳与配置提取</a:t>
            </a:r>
          </a:p>
          <a:p xmlns:a="http://schemas.openxmlformats.org/drawingml/2006/main">
            <a:r>
              <a:t>依赖人工：长正文、多轮评论与日志需要逐条阅读整理。</a:t>
            </a:r>
          </a:p>
          <a:p xmlns:a="http://schemas.openxmlformats.org/drawingml/2006/main">
            <a:r>
              <a:t>模型、软硬件环境和触发参数分散，容易遗漏。</a:t>
            </a:r>
          </a:p>
          <a:p xmlns:a="http://schemas.openxmlformats.org/drawingml/2006/main">
            <a:r>
              <a:t>缺少固定检查项时，需要再次翻阅和补采。：AI 辅助与批量任务：减少重复阅读和资料归纳。</a:t>
            </a:r>
          </a:p>
          <a:p xmlns:a="http://schemas.openxmlformats.org/drawingml/2006/main">
            <a:r>
              <a:t>复现材料整理：在“补充测试”中梳理关键条件。</a:t>
            </a:r>
          </a:p>
          <a:p xmlns:a="http://schemas.openxmlformats.org/drawingml/2006/main">
            <a:r>
              <a:t>明确缺失参数，由人员审核、补齐并执行验证。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价值与复现性判断</a:t>
            </a:r>
          </a:p>
          <a:p xmlns:a="http://schemas.openxmlformats.org/drawingml/2006/main">
            <a:r>
              <a:t>缺少统一口径：对问题价值、版本适用性和复现条件判断不一。</a:t>
            </a:r>
          </a:p>
          <a:p xmlns:a="http://schemas.openxmlformats.org/drawingml/2006/main">
            <a:r>
              <a:t>重点候选难以确定，人员评审容易出现分歧。</a:t>
            </a:r>
          </a:p>
          <a:p xmlns:a="http://schemas.openxmlformats.org/drawingml/2006/main">
            <a:r>
              <a:t>高价值但信息不足的问题可能过早排除。：多维筛选与统一评价：明确候选选择和排序依据。</a:t>
            </a:r>
          </a:p>
          <a:p xmlns:a="http://schemas.openxmlformats.org/drawingml/2006/main">
            <a:r>
              <a:t>保留完整列表，对重要但信息不足的问题复查。</a:t>
            </a:r>
          </a:p>
          <a:p xmlns:a="http://schemas.openxmlformats.org/drawingml/2006/main">
            <a:r>
              <a:t>结合人工评审与遗漏检查，持续调整筛选规则。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建议口播：根据前面的现状和原因分析，我们把重点改善方向归纳为三个方面：信息集中管理、减少重复整理，以及统一筛选判断。其中，信息集中管理对应持续同步和分析记录复用，减少重复整理对应 AI 辅助与复现材料整理，统一筛选判断对应评价口径和人工复查。这三个方向进一步展开为下一页的五项具体对策。这里属于初步原因判断，不表示已经完成严格的因果验证。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拟定对策：针对每项痛点设计解决方案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r>
              <a:t>方案是否有效，需要同时考虑人员投入、分析质量及后续测试使用情况。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针对的痛点：解决方案：预期形成的工作材料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持续跟踪困难：全量同步与增量更新结合，提供手动校准入口。</a:t>
            </a:r>
          </a:p>
          <a:p xmlns:a="http://schemas.openxmlformats.org/drawingml/2006/main">
            <a:r>
              <a:t>统一仓库、时间和状态口径，集中查看问题。</a:t>
            </a:r>
          </a:p>
          <a:p xmlns:a="http://schemas.openxmlformats.org/drawingml/2006/main">
            <a:r>
              <a:t>分别维护社区信息与本地人工分析。：持续更新的问题台账。</a:t>
            </a:r>
          </a:p>
          <a:p xmlns:a="http://schemas.openxmlformats.org/drawingml/2006/main">
            <a:r>
              <a:t>可核对的专项清单。</a:t>
            </a:r>
          </a:p>
          <a:p xmlns:a="http://schemas.openxmlformats.org/drawingml/2006/main">
            <a:r>
              <a:t>历史更新与人工分析记录。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人工整理投入大：集中提供正文、评论和已有分析作为上下文。</a:t>
            </a:r>
          </a:p>
          <a:p xmlns:a="http://schemas.openxmlformats.org/drawingml/2006/main">
            <a:r>
              <a:t>AI 辅助归纳，支持选中问题和筛选范围批量处理。</a:t>
            </a:r>
          </a:p>
          <a:p xmlns:a="http://schemas.openxmlformats.org/drawingml/2006/main">
            <a:r>
              <a:t>人员审核、修正并决定是否采纳建议。：待审核的结构化建议。</a:t>
            </a:r>
          </a:p>
          <a:p xmlns:a="http://schemas.openxmlformats.org/drawingml/2006/main">
            <a:r>
              <a:t>批量任务进度与失败项。</a:t>
            </a:r>
          </a:p>
          <a:p xmlns:a="http://schemas.openxmlformats.org/drawingml/2006/main">
            <a:r>
              <a:t>人工审核后的分析结果。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重点问题筛选难：按日期、状态、标签和版本缩小分析范围。</a:t>
            </a:r>
          </a:p>
          <a:p xmlns:a="http://schemas.openxmlformats.org/drawingml/2006/main">
            <a:r>
              <a:t>结合价值与复现条件形成候选排序。</a:t>
            </a:r>
          </a:p>
          <a:p xmlns:a="http://schemas.openxmlformats.org/drawingml/2006/main">
            <a:r>
              <a:t>过滤文档、RFC 等类型时保留完整列表供复查。：重点验证候选及筛选依据。</a:t>
            </a:r>
          </a:p>
          <a:p xmlns:a="http://schemas.openxmlformats.org/drawingml/2006/main">
            <a:r>
              <a:t>人工补充的价值判断。</a:t>
            </a:r>
          </a:p>
          <a:p xmlns:a="http://schemas.openxmlformats.org/drawingml/2006/main">
            <a:r>
              <a:t>重要遗漏的复查记录。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复现材料不完整：按模型、配置、环境和触发场景整理补测材料。</a:t>
            </a:r>
          </a:p>
          <a:p xmlns:a="http://schemas.openxmlformats.org/drawingml/2006/main">
            <a:r>
              <a:t>明确哪些参数来自原文，哪些信息尚未提供。</a:t>
            </a:r>
          </a:p>
          <a:p xmlns:a="http://schemas.openxmlformats.org/drawingml/2006/main">
            <a:r>
              <a:t>测试人员补齐条件后执行验证并记录结果。：模型与软硬件配置清单。</a:t>
            </a:r>
          </a:p>
          <a:p xmlns:a="http://schemas.openxmlformats.org/drawingml/2006/main">
            <a:r>
              <a:t>复现场景及缺失参数。</a:t>
            </a:r>
          </a:p>
          <a:p xmlns:a="http://schemas.openxmlformats.org/drawingml/2006/main">
            <a:r>
              <a:t>后续验证动作与结果记录。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分析经验难复用：集中保存分析结论、补测建议与处理进展。</a:t>
            </a:r>
          </a:p>
          <a:p xmlns:a="http://schemas.openxmlformats.org/drawingml/2006/main">
            <a:r>
              <a:t>支持按专题整理、导出和交接。</a:t>
            </a:r>
          </a:p>
          <a:p xmlns:a="http://schemas.openxmlformats.org/drawingml/2006/main">
            <a:r>
              <a:t>在测试材料中保留来源 Issue 及判断依据。：可接续的分析台账。</a:t>
            </a:r>
          </a:p>
          <a:p xmlns:a="http://schemas.openxmlformats.org/drawingml/2006/main">
            <a:r>
              <a:t>专题评审与交接材料。</a:t>
            </a:r>
          </a:p>
          <a:p xmlns:a="http://schemas.openxmlformats.org/drawingml/2006/main">
            <a:r>
              <a:t>典型场景及其来源记录。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对策实施：持续同步与统一台账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r>
              <a:t>统计时需要统一仓库、时间、状态以及是否包含 PR，避免把统计口径差异误判为数据遗漏。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明确同步与核对范围：统一仓库、日期和状态条件。</a:t>
            </a:r>
          </a:p>
          <a:p xmlns:a="http://schemas.openxmlformats.org/drawingml/2006/main">
            <a:r>
              <a:t>对照同一口径的问题数量与具体条目，</a:t>
            </a:r>
          </a:p>
          <a:p xmlns:a="http://schemas.openxmlformats.org/drawingml/2006/main">
            <a:r>
              <a:t>同时检查新增问题和历史更新。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持续维护问题台账：全量获取用于建立和校准台账，</a:t>
            </a:r>
          </a:p>
          <a:p xmlns:a="http://schemas.openxmlformats.org/drawingml/2006/main">
            <a:r>
              <a:t>增量同步用于日常跟进。</a:t>
            </a:r>
          </a:p>
          <a:p xmlns:a="http://schemas.openxmlformats.org/drawingml/2006/main">
            <a:r>
              <a:t>同步完成后仍需关注异常与漏项。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保护本地人工分析：社区字段与人工结论分开维护。</a:t>
            </a:r>
          </a:p>
          <a:p xmlns:a="http://schemas.openxmlformats.org/drawingml/2006/main">
            <a:r>
              <a:t>更新标题、正文和状态时，</a:t>
            </a:r>
          </a:p>
          <a:p xmlns:a="http://schemas.openxmlformats.org/drawingml/2006/main">
            <a:r>
              <a:t>保留已有分析、备注与补测建议。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形成可检查的专项清单：按时间、状态、标签等收敛范围。</a:t>
            </a:r>
          </a:p>
          <a:p xmlns:a="http://schemas.openxmlformats.org/drawingml/2006/main">
            <a:r>
              <a:t>通过清单逐项核对更新与遗漏，</a:t>
            </a:r>
          </a:p>
          <a:p xmlns:a="http://schemas.openxmlformats.org/drawingml/2006/main">
            <a:r>
              <a:t>减少反复打开社区页面查找。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对策实施：AI 辅助分析与批量任务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r>
              <a:t>AI 模块仍需持续评估，效率收益应包含审核、修正和失败重试成本，不能仅看生成建议数量。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准备可靠的分析上下文：结合正文、评论和已有分析。</a:t>
            </a:r>
          </a:p>
          <a:p xmlns:a="http://schemas.openxmlformats.org/drawingml/2006/main">
            <a:r>
              <a:t>明确材料来源与缺失部分，</a:t>
            </a:r>
          </a:p>
          <a:p xmlns:a="http://schemas.openxmlformats.org/drawingml/2006/main">
            <a:r>
              <a:t>避免模型把推测当成已确认事实。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生成待审核的结构化建议：归纳问题摘要、现象和补测建议。</a:t>
            </a:r>
          </a:p>
          <a:p xmlns:a="http://schemas.openxmlformats.org/drawingml/2006/main">
            <a:r>
              <a:t>区分事实、可能原因与待确认参数，</a:t>
            </a:r>
          </a:p>
          <a:p xmlns:a="http://schemas.openxmlformats.org/drawingml/2006/main">
            <a:r>
              <a:t>漏测原因结合实际测试覆盖人工判断。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批量处理与异常跟进：支持勾选问题或按筛选范围执行。</a:t>
            </a:r>
          </a:p>
          <a:p xmlns:a="http://schemas.openxmlformats.org/drawingml/2006/main">
            <a:r>
              <a:t>通过并发任务处理多条问题，</a:t>
            </a:r>
          </a:p>
          <a:p xmlns:a="http://schemas.openxmlformats.org/drawingml/2006/main">
            <a:r>
              <a:t>查看进度及失败项并跟进重试。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人工核对后保存结果：对照原文检查版本、配置和判断。</a:t>
            </a:r>
          </a:p>
          <a:p xmlns:a="http://schemas.openxmlformats.org/drawingml/2006/main">
            <a:r>
              <a:t>修正后决定是否采纳并保存，</a:t>
            </a:r>
          </a:p>
          <a:p xmlns:a="http://schemas.openxmlformats.org/drawingml/2006/main">
            <a:r>
              <a:t>保留已有人工内容及必要说明。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对策实施：重点筛选与复现材料整理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r>
              <a:t>系统辅助完成复现前的材料准备，不能代替测试人员部署环境、执行请求或确认根因。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筛选值得验证的候选问题：按时间、版本、类型等缩小范围。</a:t>
            </a:r>
          </a:p>
          <a:p xmlns:a="http://schemas.openxmlformats.org/drawingml/2006/main">
            <a:r>
              <a:t>结合价值与复现条件排序，</a:t>
            </a:r>
          </a:p>
          <a:p xmlns:a="http://schemas.openxmlformats.org/drawingml/2006/main">
            <a:r>
              <a:t>保留完整列表复查重要问题遗漏。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提取模型与环境配置：整理模型名称、量化与并行配置。</a:t>
            </a:r>
          </a:p>
          <a:p xmlns:a="http://schemas.openxmlformats.org/drawingml/2006/main">
            <a:r>
              <a:t>提取 A2/A3/A5 硬件及软件版本，</a:t>
            </a:r>
          </a:p>
          <a:p xmlns:a="http://schemas.openxmlformats.org/drawingml/2006/main">
            <a:r>
              <a:t>没有来源支持的参数标为待确认。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梳理触发条件与错误现象：整理启动命令、请求和执行阶段。</a:t>
            </a:r>
          </a:p>
          <a:p xmlns:a="http://schemas.openxmlformats.org/drawingml/2006/main">
            <a:r>
              <a:t>关注并发、输入长度与异常日志，</a:t>
            </a:r>
          </a:p>
          <a:p xmlns:a="http://schemas.openxmlformats.org/drawingml/2006/main">
            <a:r>
              <a:t>写清预期结果和实际差异。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由测试人员补齐并验证：列出缺失参数和需要追问的信息。</a:t>
            </a:r>
          </a:p>
          <a:p xmlns:a="http://schemas.openxmlformats.org/drawingml/2006/main">
            <a:r>
              <a:t>人员准备环境并执行验证，</a:t>
            </a:r>
          </a:p>
          <a:p xmlns:a="http://schemas.openxmlformats.org/drawingml/2006/main">
            <a:r>
              <a:t>将复现是否成功及结果补回记录。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对策实施：分析记录、评审交接与材料复用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r>
              <a:t>典型问题转化为测试场景时，还需要人员补充实际执行结果，并保留来源问题与验证记录的关联。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统一维护人工分析记录：保存问题识别、结论与补测建议。</a:t>
            </a:r>
          </a:p>
          <a:p xmlns:a="http://schemas.openxmlformats.org/drawingml/2006/main">
            <a:r>
              <a:t>持续补充版本支持和处理进展，</a:t>
            </a:r>
          </a:p>
          <a:p xmlns:a="http://schemas.openxmlformats.org/drawingml/2006/main">
            <a:r>
              <a:t>让后续人员了解当前判断与待办。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按专题组织评审材料：利用筛选结果形成专项清单。</a:t>
            </a:r>
          </a:p>
          <a:p xmlns:a="http://schemas.openxmlformats.org/drawingml/2006/main">
            <a:r>
              <a:t>导出后结合原文与已有结论评审，</a:t>
            </a:r>
          </a:p>
          <a:p xmlns:a="http://schemas.openxmlformats.org/drawingml/2006/main">
            <a:r>
              <a:t>保留判断依据与尚未解决的信息缺口。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减少交接中的重复工作：接手者先查看已有分析和验证情况。</a:t>
            </a:r>
          </a:p>
          <a:p xmlns:a="http://schemas.openxmlformats.org/drawingml/2006/main">
            <a:r>
              <a:t>在此前记录上补充、修正和跟进，</a:t>
            </a:r>
          </a:p>
          <a:p xmlns:a="http://schemas.openxmlformats.org/drawingml/2006/main">
            <a:r>
              <a:t>减少重新阅读和重复收集材料。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积累可追溯的典型场景：整理配置、触发条件与验证结果。</a:t>
            </a:r>
          </a:p>
          <a:p xmlns:a="http://schemas.openxmlformats.org/drawingml/2006/main">
            <a:r>
              <a:t>转化测试材料时关联来源 Issue，</a:t>
            </a:r>
          </a:p>
          <a:p xmlns:a="http://schemas.openxmlformats.org/drawingml/2006/main">
            <a:r>
              <a:t>通过再次使用判断材料是否有价值。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实施案例：Issue #16608 分析、复现与工单转化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处理流程包括社区反馈、AI 辅助分析、人工复现、工单处理及后续测试用例补充。</a:t>
            </a:r>
          </a:p>
          <a:p xmlns:a="http://schemas.openxmlformats.org/drawingml/2006/main">
            <a:r>
              <a:t>AI 辅助整理验证线索，人员核对并执行复现；当前已完成复现与工单转化，修复和补测继续跟进。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实施环节：案例内容与处理动作：当前状态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社区问题与验证线索：原帖报告：PP=2、TP=1 时推理乱码，切换为 TP=2、PP=1 后正常。</a:t>
            </a:r>
          </a:p>
          <a:p xmlns:a="http://schemas.openxmlformats.org/drawingml/2006/main">
            <a:r>
              <a:t>报告模型为 Qwen3.8-27B W8A8，并提供环境与启动参数。</a:t>
            </a:r>
          </a:p>
          <a:p xmlns:a="http://schemas.openxmlformats.org/drawingml/2006/main">
            <a:r>
              <a:t>这些是社区报告的信息，内部实际配置以复现记录为准。：来源明确</a:t>
            </a:r>
          </a:p>
          <a:p xmlns:a="http://schemas.openxmlformats.org/drawingml/2006/main">
            <a:r>
              <a:t>GitHub Issue #16608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辅助分析：利用项目 AI 分析辅助归纳问题现象、模型配置和环境参数。</a:t>
            </a:r>
          </a:p>
          <a:p xmlns:a="http://schemas.openxmlformats.org/drawingml/2006/main">
            <a:r>
              <a:t>围绕 PP/TP 对照条件整理验证建议，明确需要确认的信息。</a:t>
            </a:r>
          </a:p>
          <a:p xmlns:a="http://schemas.openxmlformats.org/drawingml/2006/main">
            <a:r>
              <a:t>人员核对后用于复现准备，可能原因仍需实际验证。：辅助整理与分析</a:t>
            </a:r>
          </a:p>
          <a:p xmlns:a="http://schemas.openxmlformats.org/drawingml/2006/main">
            <a:r>
              <a:t>建议需人工审核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人工执行复现：项目负责人已在实际环境中完成该问题的复现。</a:t>
            </a:r>
          </a:p>
          <a:p xmlns:a="http://schemas.openxmlformats.org/drawingml/2006/main">
            <a:r>
              <a:t>人工验证为转工单提供实际的问题依据。</a:t>
            </a:r>
          </a:p>
          <a:p xmlns:a="http://schemas.openxmlformats.org/drawingml/2006/main">
            <a:r>
              <a:t>内部环境配置、触发请求与结果建议随工单留存。：已完成复现</a:t>
            </a:r>
          </a:p>
          <a:p xmlns:a="http://schemas.openxmlformats.org/drawingml/2006/main">
            <a:r>
              <a:t>项目负责人确认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转为工单推进解决：已将复现问题转换为工单，进入问题处理流程。</a:t>
            </a:r>
          </a:p>
          <a:p xmlns:a="http://schemas.openxmlformats.org/drawingml/2006/main">
            <a:r>
              <a:t>后续结合工单跟进定位、修复和验证。</a:t>
            </a:r>
          </a:p>
          <a:p xmlns:a="http://schemas.openxmlformats.org/drawingml/2006/main">
            <a:r>
              <a:t>工单编号与处理进展可按实际记录补充。：已转为工单</a:t>
            </a:r>
          </a:p>
          <a:p xmlns:a="http://schemas.openxmlformats.org/drawingml/2006/main">
            <a:r>
              <a:t>修复完成状态未确认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安排补充测试用例：后续安排测试人员补充相关场景的测试用例。</a:t>
            </a:r>
          </a:p>
          <a:p xmlns:a="http://schemas.openxmlformats.org/drawingml/2006/main">
            <a:r>
              <a:t>建议结合 PP/TP 对照场景与修复结果评审回归范围。</a:t>
            </a:r>
          </a:p>
          <a:p xmlns:a="http://schemas.openxmlformats.org/drawingml/2006/main">
            <a:r>
              <a:t>用例完成、执行通过和纳入回归需要后续记录确认。：后续安排</a:t>
            </a:r>
          </a:p>
          <a:p xmlns:a="http://schemas.openxmlformats.org/drawingml/2006/main">
            <a:r>
              <a:t>用例完成情况待跟进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来源一：GitHub 原始 Issue，https://github.com/vllm-project/vllm-ascend/issues/16608 。原帖描述 PP=2、TP=1 推理乱码，TP=2、PP=1 正常，启动命令提供 Qwen3.8-27B W8A8 模型信息。来源二：项目负责人在本次对话中确认已复现并转换为工单，同时表示后续安排测试人员补充用例，并要求将 AI 分析纳入流程。AI 一行说明辅助归纳、配置提取和验证建议的作用，没有提供本例具体模型输出，因此不编造 AI 已确认根因或自动完成复现的结论。没有提供内部工单编号、修复结论或用例完成记录，因此不推断已修复、已闭环或已补齐测试。建议口播：这个案例按社区反馈、AI 辅助分析、人工复现、转工单和补充用例几个环节展开。AI 辅助整理问题现象、关键参数和验证线索，人员核对后开展实际复现。我已经完成问题复现并转为工单，后续安排测试人员补充相关用例。当前完成的是复现与工单转化，修复和补测进展继续跟进。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效果确认：已有案例与预期改善（未实测）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已确认事实：负责人已复现 Issue #16608 并转为工单，测试用例补充为后续安排。</a:t>
            </a:r>
          </a:p>
          <a:p xmlns:a="http://schemas.openxmlformats.org/drawingml/2006/main">
            <a:r>
              <a:t>以下百分比区分“情景估算”与“建议目标”，均未经试验验证，不作为已达成的收益或质量结论。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改善方面：改善来源与适用前提：情景估算或建议目标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减少人工整理投入：中文归纳减少英文理解与反复翻译，集中整理正文和评论。</a:t>
            </a:r>
          </a:p>
          <a:p xmlns:a="http://schemas.openxmlformats.org/drawingml/2006/main">
            <a:r>
              <a:t>批量任务减少逐条发起与页面切换，人员仍逐条审核。</a:t>
            </a:r>
          </a:p>
          <a:p xmlns:a="http://schemas.openxmlformats.org/drawingml/2006/main">
            <a:r>
              <a:t>假设中等复杂度英文问题，包含审核修正的人工投入。：情景估算：人工耗时降低 30%—40%。</a:t>
            </a:r>
          </a:p>
          <a:p xmlns:a="http://schemas.openxmlformats.org/drawingml/2006/main">
            <a:r>
              <a:t>假设 20 分钟降至 12—14 分钟。</a:t>
            </a:r>
          </a:p>
          <a:p xmlns:a="http://schemas.openxmlformats.org/drawingml/2006/main">
            <a:r>
              <a:t>实际基线与改善幅度尚未测量。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提高跟踪可靠性：统一同步入口跟进新增与历史更新，并保留人工分析。</a:t>
            </a:r>
          </a:p>
          <a:p xmlns:a="http://schemas.openxmlformats.org/drawingml/2006/main">
            <a:r>
              <a:t>完整性需核对 ID 集合，更新及时性需检查同步记录。</a:t>
            </a:r>
          </a:p>
          <a:p xmlns:a="http://schemas.openxmlformats.org/drawingml/2006/main">
            <a:r>
              <a:t>不能从功能存在直接推断真实漏项率和故障率。：建议目标：指定范围 ID 匹配率 100%。</a:t>
            </a:r>
          </a:p>
          <a:p xmlns:a="http://schemas.openxmlformats.org/drawingml/2006/main">
            <a:r>
              <a:t>同步时人工分析内容保持不变。</a:t>
            </a:r>
          </a:p>
          <a:p xmlns:a="http://schemas.openxmlformats.org/drawingml/2006/main">
            <a:r>
              <a:t>这是验收要求，尚未核验达成。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提高重点筛选效率：按日期、状态、类型和版本信息缩小需详细阅读的范围。</a:t>
            </a:r>
          </a:p>
          <a:p xmlns:a="http://schemas.openxmlformats.org/drawingml/2006/main">
            <a:r>
              <a:t>Doc/RFC 等不适合本次缺陷验证目标的类型可排除。</a:t>
            </a:r>
          </a:p>
          <a:p xmlns:a="http://schemas.openxmlformats.org/drawingml/2006/main">
            <a:r>
              <a:t>需保留完整列表复查，候选少不等于筛选准确。：情景估算：待细看条数减少 30%—50%。</a:t>
            </a:r>
          </a:p>
          <a:p xmlns:a="http://schemas.openxmlformats.org/drawingml/2006/main">
            <a:r>
              <a:t>假设 20 条保留 10—14 条。</a:t>
            </a:r>
          </a:p>
          <a:p xmlns:a="http://schemas.openxmlformats.org/drawingml/2006/main">
            <a:r>
              <a:t>取决于问题构成，不代表准确率。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完整性：在“补充测试”中整理模型、环境、触发条件和验证建议。</a:t>
            </a:r>
          </a:p>
          <a:p xmlns:a="http://schemas.openxmlformats.org/drawingml/2006/main">
            <a:r>
              <a:t>来源中已给参数准确提取，未给出的信息列为待确认。</a:t>
            </a:r>
          </a:p>
          <a:p xmlns:a="http://schemas.openxmlformats.org/drawingml/2006/main">
            <a:r>
              <a:t>已有 #16608 复现及工单案例，不等同整体材料质量达标。：建议目标：已知参数提取率 ≥90%。</a:t>
            </a:r>
          </a:p>
          <a:p xmlns:a="http://schemas.openxmlformats.org/drawingml/2006/main">
            <a:r>
              <a:t>缺失参数明确标注，不算已补齐。</a:t>
            </a:r>
          </a:p>
          <a:p xmlns:a="http://schemas.openxmlformats.org/drawingml/2006/main">
            <a:r>
              <a:t>不是已测完整率或复现成功率。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提高材料复用能力：结论、来源和待办集中保存，支持专题清单与导出。</a:t>
            </a:r>
          </a:p>
          <a:p xmlns:a="http://schemas.openxmlformats.org/drawingml/2006/main">
            <a:r>
              <a:t>假设接手者可以直接利用记录，减少查找和重复摘录。</a:t>
            </a:r>
          </a:p>
          <a:p xmlns:a="http://schemas.openxmlformats.org/drawingml/2006/main">
            <a:r>
              <a:t>归档数量和导出次数不直接等于实际复用。：情景估算：查找交接耗时降 20%—40%。</a:t>
            </a:r>
          </a:p>
          <a:p xmlns:a="http://schemas.openxmlformats.org/drawingml/2006/main">
            <a:r>
              <a:t>假设 10 分钟降至 6—8 分钟。</a:t>
            </a:r>
          </a:p>
          <a:p xmlns:a="http://schemas.openxmlformats.org/drawingml/2006/main">
            <a:r>
              <a:t>实际复用次数和收益尚未统计。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本页所有工时和数量均为按任务步骤设定的示例假设，来源是本次汇报的情景测算，不来自试验、问卷、系统日志或行业统计。估算区间不是置信区间，不承诺实际可达。30%—40% 来自人工20分钟与辅助12—14分钟；30%—50%来自假设原始20条与候选10—14条；20%—40%来自假设交接查找10分钟与辅助6—8分钟。100% ID匹配和90%已知参数提取是建议验收目标，不是预测结果。只有负责人确认的16608复现和工单转化属于本页已知应用事实。各项节省分别描述不同环节，不相加为总收益。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预期效果测算：人工整理投入（示意假设）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适用情景：需阅读英文正文及评论、提取环境配置并填写分析记录的中等复杂度 Issue。</a:t>
            </a:r>
          </a:p>
          <a:p xmlns:a="http://schemas.openxmlformats.org/drawingml/2006/main">
            <a:r>
              <a:t>所有分钟数是流程测算假设，并非实测；模型建议可用且完成同等质量审核，是估算成立的前提。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人工工作环节：原方式：辅助方式：假设的变化来源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查阅资料与理解英文内容：8 分钟：2 分钟：中文归纳减少翻译与查找。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提取配置、归纳现象与进展：7 分钟：5 分钟：核对归纳结果并回查原文。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填写或修改分析记录：3 分钟：3 分钟：仍需人工修改、确认与保存。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操作切换及异常处理：2 分钟：2 分钟：保留任务操作与异常处理时间。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人工投入合计（假设）：20 分钟／条：12 分钟／条：不计无人值守模型等待时间。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口播：我们暂时没有实测工时，因此这里采用明确的流程假设。原有方式每条20分钟，其中理解英文和查阅8分钟、归纳提取7分钟、记录3分钟、操作及异常处理2分钟。辅助方式仍保留5分钟核查整理内容、3分钟修改记录和2分钟异常投入，加上2分钟查阅，共12分钟，计算得到40%的情景改善。如果再增加2分钟返工，改善为30%。所以30%—40%只是用于评估潜在收益的假设区间，不代表实际达成，也不是AI接口速度。批量任务不能代替逐条质量审核，各环节不得重复计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预期效果：跟踪、筛选与材料使用（未实测）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有明确数据定义的质量项列为建议验收目标；缺少基线的效率项采用假设例子说明潜在改善。</a:t>
            </a:r>
          </a:p>
          <a:p xmlns:a="http://schemas.openxmlformats.org/drawingml/2006/main">
            <a:r>
              <a:t>不报告未经核验的准确率、漏项率、真实复用率，也不把原始材料缺失归因于提取功能。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评价方面：计算口径与估算依据：解释与使用边界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跟踪可靠性</a:t>
            </a:r>
          </a:p>
          <a:p xmlns:a="http://schemas.openxmlformats.org/drawingml/2006/main">
            <a:r>
              <a:t>建议目标：ID 匹配率 = 本地与源端匹配条数 ÷ 源端条数。</a:t>
            </a:r>
          </a:p>
          <a:p xmlns:a="http://schemas.openxmlformats.org/drawingml/2006/main">
            <a:r>
              <a:t>建议指定范围目标为 100%，人工分析内容保持不变。</a:t>
            </a:r>
          </a:p>
          <a:p xmlns:a="http://schemas.openxmlformats.org/drawingml/2006/main">
            <a:r>
              <a:t>统一仓库、时间截止点、状态以及是否包含 PR。</a:t>
            </a:r>
          </a:p>
          <a:p xmlns:a="http://schemas.openxmlformats.org/drawingml/2006/main">
            <a:r>
              <a:t>更新及时性另看是否在约定同步周期内跟进。：100% 为建议验收要求，不是实测值。</a:t>
            </a:r>
          </a:p>
          <a:p xmlns:a="http://schemas.openxmlformats.org/drawingml/2006/main">
            <a:r>
              <a:t>当前不能据此宣称全量无遗漏。</a:t>
            </a:r>
          </a:p>
          <a:p xmlns:a="http://schemas.openxmlformats.org/drawingml/2006/main">
            <a:r>
              <a:t>更新周期达标也需实际同步记录支持。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重点筛选</a:t>
            </a:r>
          </a:p>
          <a:p xmlns:a="http://schemas.openxmlformats.org/drawingml/2006/main">
            <a:r>
              <a:t>情景估算：假设原范围 20 条，按专题条件筛至 10—14 条。</a:t>
            </a:r>
          </a:p>
          <a:p xmlns:a="http://schemas.openxmlformats.org/drawingml/2006/main">
            <a:r>
              <a:t>减少比例 =（20 − 候选数）÷ 20，即 30%—50%。</a:t>
            </a:r>
          </a:p>
          <a:p xmlns:a="http://schemas.openxmlformats.org/drawingml/2006/main">
            <a:r>
              <a:t>数字只为示意，不代表实际 Doc/RFC 占比。</a:t>
            </a:r>
          </a:p>
          <a:p xmlns:a="http://schemas.openxmlformats.org/drawingml/2006/main">
            <a:r>
              <a:t>现有版本信息主要参与排序，不是旧版本阈值过滤。：减少条数不等于有效候选准确率。</a:t>
            </a:r>
          </a:p>
          <a:p xmlns:a="http://schemas.openxmlformats.org/drawingml/2006/main">
            <a:r>
              <a:t>老版本问题也可能影响当前版本。</a:t>
            </a:r>
          </a:p>
          <a:p xmlns:a="http://schemas.openxmlformats.org/drawingml/2006/main">
            <a:r>
              <a:t>需人工复查重要但信息不足的问题。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</a:t>
            </a:r>
          </a:p>
          <a:p xmlns:a="http://schemas.openxmlformats.org/drawingml/2006/main">
            <a:r>
              <a:t>建议目标：已知参数提取率 = 准确提取项 ÷ 原文已提供适用项。</a:t>
            </a:r>
          </a:p>
          <a:p xmlns:a="http://schemas.openxmlformats.org/drawingml/2006/main">
            <a:r>
              <a:t>建议目标 ≥90%，未提供的参数明确标为待确认。</a:t>
            </a:r>
          </a:p>
          <a:p xmlns:a="http://schemas.openxmlformats.org/drawingml/2006/main">
            <a:r>
              <a:t>缺失标记不计作参数齐全，不预测复现成功率。</a:t>
            </a:r>
          </a:p>
          <a:p xmlns:a="http://schemas.openxmlformats.org/drawingml/2006/main">
            <a:r>
              <a:t>已有 #16608 人工复现并转工单，用例补充待跟进。：90% 是建议目标，并无已测基线。</a:t>
            </a:r>
          </a:p>
          <a:p xmlns:a="http://schemas.openxmlformats.org/drawingml/2006/main">
            <a:r>
              <a:t>AI 不能补造设备、版本和模型参数。</a:t>
            </a:r>
          </a:p>
          <a:p xmlns:a="http://schemas.openxmlformats.org/drawingml/2006/main">
            <a:r>
              <a:t>是否具备验证条件仍由人员判断。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归档与复用</a:t>
            </a:r>
          </a:p>
          <a:p xmlns:a="http://schemas.openxmlformats.org/drawingml/2006/main">
            <a:r>
              <a:t>情景估算：假设查找和交接准备原需 10 分钟，集中记录后需 6—8 分钟。</a:t>
            </a:r>
          </a:p>
          <a:p xmlns:a="http://schemas.openxmlformats.org/drawingml/2006/main">
            <a:r>
              <a:t>减少比例 =（10 − 辅助耗时）÷ 10，即 20%—40%。</a:t>
            </a:r>
          </a:p>
          <a:p xmlns:a="http://schemas.openxmlformats.org/drawingml/2006/main">
            <a:r>
              <a:t>假设接手者能直接使用来源、结论和待办信息。</a:t>
            </a:r>
          </a:p>
          <a:p xmlns:a="http://schemas.openxmlformats.org/drawingml/2006/main">
            <a:r>
              <a:t>不含缺陷定位、修复和执行测试本身的耗时。：估算只针对查找与交接准备环节。</a:t>
            </a:r>
          </a:p>
          <a:p xmlns:a="http://schemas.openxmlformats.org/drawingml/2006/main">
            <a:r>
              <a:t>归档与导出不自动证明材料已复用。</a:t>
            </a:r>
          </a:p>
          <a:p xmlns:a="http://schemas.openxmlformats.org/drawingml/2006/main">
            <a:r>
              <a:t>实际复用案例及次数目前仍未统计。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口播：对跟踪和材料提取质量，我们没有足够依据预测真实改善比例，因此列为建议验收目标，不冒充已达成结果。筛选用20条变为10到14条说明可能减少的阅读范围，不是说系统有30到50%的准确率。实际候选构成未知，老版本问题不能机械排除，现有代码主要按明确版本参与相对排序。材料提取目标的分母是来源已提供的适用参数，不能把待确认当成已补齐。复用方面的20到40%是假设查找交接从10分钟减到6至8分钟，不是已统计复用率。这些分项与主指标可能重叠，不应相加计算总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总结：项目价值与后续优化重点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r>
              <a:t>项目价值需要结合实际使用、人工投入变化和测试验证贡献持续确认。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统一台账提供基础价值：持续跟进新增与历史更新，保留本地人工分析，减少跨页面查找、重复核对和交接中的资料分散。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辅助降低重复整理工作：帮助人员阅读、归纳和提取材料，支持批量处理。人员负责证据核对和结论把关，持续评估审核后的实际收益。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筛选与材料整理支撑测试准备：形成重点候选，整理模型、环境与触发条件，明确缺失信息。实际复现和根因确认仍需人员与实验环境完成。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后续优化以证据为依据：补充完整性核对、人工工时、候选有效性和材料复用记录。根据错误与返工情况优化提示词、筛选规则和分析流程。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c1f88ecd74f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8946374ff4c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fd01dcf2c4c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b7ec846424c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ef8a09e904a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1b15f96124b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3f2573023e4d07" /><Relationship Type="http://schemas.openxmlformats.org/officeDocument/2006/relationships/slideLayout" Target="/ppt/slideLayouts/slideLayout1.xml" Id="Re66454e9426b4251" /><Relationship Type="http://schemas.openxmlformats.org/officeDocument/2006/relationships/slideLayout" Target="/ppt/slideLayouts/slideLayout2.xml" Id="R2a2239c979b7418b" /><Relationship Type="http://schemas.openxmlformats.org/officeDocument/2006/relationships/slideLayout" Target="/ppt/slideLayouts/slideLayout3.xml" Id="Rff7ab12e7a5844d5" /><Relationship Type="http://schemas.openxmlformats.org/officeDocument/2006/relationships/slideLayout" Target="/ppt/slideLayouts/slideLayout4.xml" Id="R86b4f836c5164045" /><Relationship Type="http://schemas.openxmlformats.org/officeDocument/2006/relationships/slideLayout" Target="/ppt/slideLayouts/slideLayout5.xml" Id="R40ebc23545fb4d1a" /><Relationship Type="http://schemas.openxmlformats.org/officeDocument/2006/relationships/slideLayout" Target="/ppt/slideLayouts/slideLayout6.xml" Id="R29e86b48899947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6454e9426b4251"/>
    <p:sldLayoutId xmlns:r="http://schemas.openxmlformats.org/officeDocument/2006/relationships" id="2147483650" r:id="R2a2239c979b7418b"/>
    <p:sldLayoutId xmlns:r="http://schemas.openxmlformats.org/officeDocument/2006/relationships" id="2147483651" r:id="Rff7ab12e7a5844d5"/>
    <p:sldLayoutId xmlns:r="http://schemas.openxmlformats.org/officeDocument/2006/relationships" id="2147483652" r:id="R86b4f836c5164045"/>
    <p:sldLayoutId xmlns:r="http://schemas.openxmlformats.org/officeDocument/2006/relationships" id="2147483653" r:id="R40ebc23545fb4d1a"/>
    <p:sldLayoutId xmlns:r="http://schemas.openxmlformats.org/officeDocument/2006/relationships" id="2147483654" r:id="R29e86b48899947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afe0153144eb1" /><Relationship Type="http://schemas.openxmlformats.org/officeDocument/2006/relationships/notesSlide" Target="/ppt/notesSlides/notesSlide1.xml" Id="Rcf46b04fe34341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0d4db020f4143" /><Relationship Type="http://schemas.openxmlformats.org/officeDocument/2006/relationships/notesSlide" Target="/ppt/notesSlides/notesSlide2.xml" Id="Re7a9715c280d46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411a2252f4709" /><Relationship Type="http://schemas.openxmlformats.org/officeDocument/2006/relationships/notesSlide" Target="/ppt/notesSlides/notesSlide3.xml" Id="R06ebdd6ccd5c48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874060dd44bb1" /><Relationship Type="http://schemas.openxmlformats.org/officeDocument/2006/relationships/image" Target="/ppt/media/image.png" Id="R1b2bb008af964a13" /><Relationship Type="http://schemas.openxmlformats.org/officeDocument/2006/relationships/image" Target="/ppt/media/image.svg" Id="Re1c42facce7c4c36" /><Relationship Type="http://schemas.openxmlformats.org/officeDocument/2006/relationships/notesSlide" Target="/ppt/notesSlides/notesSlide4.xml" Id="R8e3e9f9aa31d41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14a347ccdc4698" /><Relationship Type="http://schemas.openxmlformats.org/officeDocument/2006/relationships/notesSlide" Target="/ppt/notesSlides/notesSlide5.xml" Id="Rcdc4a3a36d1a4c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47386dafe64c6e" /><Relationship Type="http://schemas.openxmlformats.org/officeDocument/2006/relationships/notesSlide" Target="/ppt/notesSlides/notesSlide6.xml" Id="Rf27c1b61ba1841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7b51a2d644b59" /><Relationship Type="http://schemas.openxmlformats.org/officeDocument/2006/relationships/notesSlide" Target="/ppt/notesSlides/notesSlide7.xml" Id="R31918f82798246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1e29ede83431b" /><Relationship Type="http://schemas.openxmlformats.org/officeDocument/2006/relationships/notesSlide" Target="/ppt/notesSlides/notesSlide8.xml" Id="R9e0b9a36769346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3c352ac604e92" /><Relationship Type="http://schemas.openxmlformats.org/officeDocument/2006/relationships/notesSlide" Target="/ppt/notesSlides/notesSlide9.xml" Id="Rc3a8cb06edf345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83065bcdc438b" /><Relationship Type="http://schemas.openxmlformats.org/officeDocument/2006/relationships/notesSlide" Target="/ppt/notesSlides/notesSlide10.xml" Id="R116c6456c97048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3e85b088f4548" /><Relationship Type="http://schemas.openxmlformats.org/officeDocument/2006/relationships/notesSlide" Target="/ppt/notesSlides/notesSlide11.xml" Id="R9f9453cb547549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e255376034301" /><Relationship Type="http://schemas.openxmlformats.org/officeDocument/2006/relationships/notesSlide" Target="/ppt/notesSlides/notesSlide12.xml" Id="Rc79fc189e3f749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ba440550245af" /><Relationship Type="http://schemas.openxmlformats.org/officeDocument/2006/relationships/notesSlide" Target="/ppt/notesSlides/notesSlide13.xml" Id="R70b8a6ac9abc42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6bb2b4dd74416" /><Relationship Type="http://schemas.openxmlformats.org/officeDocument/2006/relationships/notesSlide" Target="/ppt/notesSlides/notesSlide14.xml" Id="R8dca04d0fe5241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96718e67c4bb9" /><Relationship Type="http://schemas.openxmlformats.org/officeDocument/2006/relationships/notesSlide" Target="/ppt/notesSlides/notesSlide15.xml" Id="R36129804137a44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d6b82a97444d7f" /><Relationship Type="http://schemas.openxmlformats.org/officeDocument/2006/relationships/notesSlide" Target="/ppt/notesSlides/notesSlide16.xml" Id="R5e77d4a5d24e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BD1A8C-669D-4996-B094-68AFAFA7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5CDD107-6BC1-4187-B0A5-57F15C5F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社区问题管理与测试分析</a:t>
            </a:r>
          </a:p>
        </p:txBody>
      </p:sp>
      <p:sp>
        <p:nvSpPr>
          <p:cNvPr id="4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1332F13F-047B-49DF-82F4-750DA82B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1590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项目改进汇报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40EF867E-BF2F-4781-86AD-EE9BB7A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552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现状调查、根因分析、目标设定</a:t>
            </a:r>
          </a:p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对策实施与效果确认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C576F8B3-B28D-4A36-9ED1-0B742058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096250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299848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4F39F5-76A2-4079-90A9-40E470BE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现状调查：社区 Issue 管理的五项痛点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A45D7E55-BCB0-471E-905D-17E42E2F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以下痛点来自项目需求与使用反馈，具体耗时和遗漏比例仍需建立统计基线。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54D3D-8AF2-4438-A2C2-55AB98436E91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对测试工作的影响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新增问题、历史更新和维护者回复需要反复查看。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正文、评论与状态变化缺少统一的跟踪入口。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容易重复查找与核对。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重要更新可能未能及时跟进。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逐条阅读长正文、多轮评论和错误日志。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重复提取问题现象、环境配置与处理进展。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资料准备占用分析精力。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集中梳理大量问题时耗时明显。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缺陷、文档、咨询和 RFC 混杂在完整列表中。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价值、版本适用性和复现条件需要分别判断。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测试资源难以确定投入顺序。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重要缺陷可能被低相关反馈淹没。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模型、量化、并行方式与软硬件版本组合复杂。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启动参数、触发请求或复现步骤可能缺失。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需要重新翻阅正文与评论补齐参数。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难以判断是否具备开展验证的条件。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分析结论、补测建议与处理进展分散保存。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交接时缺少可直接接续的材料和判断依据。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接手者重复阅读与分析。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典型问题难以积累为后续测试输入。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51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50EC51-133A-42A0-86D2-13457E78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SIPOC：流程范围与关键指标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155FC3B8-F815-44E2-8CAF-EC541FA6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据此提出主指标“单条 Issue 分析平均人工耗时”，在输出质量满足要求的前提下比较改进前后变化。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AE87F-459B-433E-9BF2-F9BA649CD4B9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3429000"/>
                <a:gridCol w="3524250"/>
                <a:gridCol w="2952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供应方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 输入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处理过程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 输出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使用方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61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提交者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社区维护者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参与讨论的用户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提供问题与后续反馈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正文、评论与日志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标签、状态与版本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模型、环境配置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已有人工分析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保留来源与信息缺口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同步获取与集中查看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筛选并确定分析范围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人工或 AI 辅助归纳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保存记录与专题导出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经审核的分析记录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问题判断与依据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关键配置与信息缺口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后续验证或跟进建议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为复现提供准备材料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开发与问题负责人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评审和交接人员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据此判断下一步工作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主指标名称">
            <a:extLst xmlns:a="http://schemas.openxmlformats.org/drawingml/2006/main">
              <a:ext uri="{FF2B5EF4-FFF2-40B4-BE49-F238E27FC236}">
                <a16:creationId xmlns:a16="http://schemas.microsoft.com/office/drawing/2014/main" id="{D8FC1549-BFAA-4429-B5B8-C6B663C8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341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关键指标：单条 Issue 分析平均人工耗时（分钟／条）</a:t>
            </a:r>
          </a:p>
        </p:txBody>
      </p:sp>
      <p:sp>
        <p:nvSpPr>
          <p:cNvPr id="6" name="主指标公式">
            <a:extLst xmlns:a="http://schemas.openxmlformats.org/drawingml/2006/main">
              <a:ext uri="{FF2B5EF4-FFF2-40B4-BE49-F238E27FC236}">
                <a16:creationId xmlns:a16="http://schemas.microsoft.com/office/drawing/2014/main" id="{51B22FF8-B0A7-4006-AA94-C0FF8978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199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计算公式：样本全部参与人员的分析总工时（分钟） ÷ 样本 Issue 数量</a:t>
            </a:r>
          </a:p>
        </p:txBody>
      </p:sp>
      <p:sp>
        <p:nvSpPr>
          <p:cNvPr id="7" name="指标计量边界">
            <a:extLst xmlns:a="http://schemas.openxmlformats.org/drawingml/2006/main">
              <a:ext uri="{FF2B5EF4-FFF2-40B4-BE49-F238E27FC236}">
                <a16:creationId xmlns:a16="http://schemas.microsoft.com/office/drawing/2014/main" id="{AB523740-553A-452F-9009-3B060D68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15250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统计口径：从收集信息到审核保存分析记录，累计查找、阅读、提取、审核、修正及返工的人工时间。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固定样本清单，逐条完成记录；AI 失败后的人工接续照计，不只统计成功项，无人值守等待不计人工工时。</a:t>
            </a:r>
          </a:p>
        </p:txBody>
      </p:sp>
      <p:sp>
        <p:nvSpPr>
          <p:cNvPr id="8" name="指标对照和质量要求">
            <a:extLst xmlns:a="http://schemas.openxmlformats.org/drawingml/2006/main">
              <a:ext uri="{FF2B5EF4-FFF2-40B4-BE49-F238E27FC236}">
                <a16:creationId xmlns:a16="http://schemas.microsoft.com/office/drawing/2014/main" id="{54B06852-7C84-4C31-A5D6-F9F47763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对照要求：使用相近类型与复杂度的样本，统一完成标准，比较纯人工与辅助流程。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质量前提：结论可追溯、信息缺口明确、材料经使用方审核。当前基线待采集，目标值在首轮统计后确定。</a:t>
            </a:r>
          </a:p>
        </p:txBody>
      </p:sp>
    </p:spTree>
    <p:extLst>
      <p:ext uri="{BB962C8B-B14F-4D97-AF65-F5344CB8AC3E}">
        <p14:creationId xmlns:p14="http://schemas.microsoft.com/office/powerpoint/2010/main" val="2048128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BE2EC0-580C-428B-8D60-ADF7C10E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根因分析：社区反馈转化为测试输入的障碍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D97BE275-72B4-43B7-BEA8-736C25E7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从信息获取、分析方法、环境配置、人员协作、工作流程和知识沉淀六个方面展开原因。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鱼骨图列出可能因素，后续需要用流程走查、样本检查和对照验证确认主要原因。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6BCCC-A39D-4E73-862E-30A396B78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bb008af964a13">
            <a:extLst>
              <a:ext uri="{96DAC541-7B7A-43D3-8B79-37D633B846F1}">
                <asvg:svgBlip xmlns:asvg="http://schemas.microsoft.com/office/drawing/2016/SVG/main" r:embed="Re1c42facce7c4c36"/>
              </a:ext>
            </a:extLst>
          </a:blip>
          <a:srcRect xmlns:a="http://schemas.openxmlformats.org/drawingml/2006/main" l="0" t="17000" r="0" b="10000"/>
          <a:stretch xmlns:a="http://schemas.openxmlformats.org/drawingml/2006/main"/>
        </p:blipFill>
        <p:spPr>
          <a:xfrm xmlns:a="http://schemas.openxmlformats.org/drawingml/2006/main">
            <a:off x="476250" y="2714625"/>
            <a:ext cx="17335500" cy="676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9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175E7D-1422-43E7-AF8D-B7AC5A78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目标设定：明确希望改善什么、如何验收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126CBDF-F515-4498-A0A2-9AC8F093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目标描述的是希望取得的改进，是否达成需要结合实际使用数据和测试人员反馈判断。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6666D-52DC-4C46-8BC2-4FBF4A62B491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334250"/>
                <a:gridCol w="5810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具体含义与项目解决方式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验收依据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集中维护问题列表，持续同步新增和历史更新。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统一仓库、时间和状态口径，支持全量核对。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社区字段更新时保留本地人工分析。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同口径核对问题数量并抽查具体条目。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检查历史更新是否跟进。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确认人工结论未被同步覆盖。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集中展示原文与评论，减少跨页面查找。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辅助归纳摘要与补测建议，支持批量处理。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人员核对和修正后使用结果。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对比单条 Issue 分析平均人工耗时。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包括查找、阅读、审核与修正。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质量标准一致，计入错误与返工。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按时间、状态、标签和版本收敛范围。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结合价值与复现条件形成优先处理候选。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保留完整列表，人工复查重要遗漏。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抽查筛选结果之外的重要问题。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观察筛选准备时间与判断分歧。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辅助提取模型配置、硬件环境和软件版本。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整理触发条件、预期结果和已知错误现象。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明确缺失信息，实际复现仍由测试人员执行。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检查关键参数与待确认项是否清楚。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由测试人员评估材料能否用于验证。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不能将材料生成等同于复现成功。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提高分析材料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将人工结论、补测建议和进展保存在台账。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支持按专题整理与导出，便于评审交接。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关联来源问题，积累典型测试场景。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检查接手者能否继续分析而非重做。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记录材料在同类问题中的实际使用。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跟踪与测试验证记录的关联。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96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164B60-FC4D-43F4-A2AE-DFE229DA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主要原因与改进方向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F8A97DA-4044-494E-A60E-29E51A5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根据现状与鱼骨图，将需要重点改善的原因归纳为三个方面，并对应到后续五项具体对策。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以下是基于需求与使用反馈的初步判断，实际作用需结合工时、遗漏和材料使用记录持续核验。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07122-3717-4137-B75B-AA0E46618A0A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6191250"/>
                <a:gridCol w="6381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主要原因判断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对工作的影响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对应的改进方向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信息与分析记录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分散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新增、历史更新和人工结论缺少集中管理。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人员在不同页面与材料间反复查找、核对。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交接时难以接续已有判断，容易重复收集信息。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持续同步与统一问题列表：集中获取、跟进更新。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分析记录与协作复用：保留结论、进展和依据。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通过专题导出支持评审交接，减少重复查找。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阅读归纳与配置提取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依赖人工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长正文、多轮评论与日志需要逐条阅读整理。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模型、软硬件环境和触发参数分散，容易遗漏。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缺少固定检查项时，需要再次翻阅和补采。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辅助与批量任务：减少重复阅读和资料归纳。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复现材料整理：在“补充测试”中梳理关键条件。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明确缺失参数，由人员审核、补齐并执行验证。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价值与复现性判断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缺少统一口径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对问题价值、版本适用性和复现条件判断不一。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重点候选难以确定，人员评审容易出现分歧。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高价值但信息不足的问题可能过早排除。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多维筛选与统一评价：明确候选选择和排序依据。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保留完整列表，对重要但信息不足的问题复查。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结合人工评审与遗漏检查，持续调整筛选规则。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784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80735B-418E-41CC-9A1B-EF64F7CB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拟定对策：针对每项痛点设计解决方案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1671D75-3A32-46A6-97C4-107141FA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方案是否有效，需要同时考虑人员投入、分析质量及后续测试使用情况。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FA857-64DF-4DDB-85AB-BFEDC5062701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针对的痛点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预期形成的工作材料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全量同步与增量更新结合，提供手动校准入口。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统一仓库、时间和状态口径，集中查看问题。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分别维护社区信息与本地人工分析。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持续更新的问题台账。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可核对的专项清单。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历史更新与人工分析记录。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集中提供正文、评论和已有分析作为上下文。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辅助归纳，支持选中问题和筛选范围批量处理。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人员审核、修正并决定是否采纳建议。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待审核的结构化建议。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批量任务进度与失败项。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人工审核后的分析结果。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按日期、状态、标签和版本缩小分析范围。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结合价值与复现条件形成候选排序。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过滤文档、RFC 等类型时保留完整列表供复查。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重点验证候选及筛选依据。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人工补充的价值判断。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重要遗漏的复查记录。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按模型、配置、环境和触发场景整理补测材料。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明确哪些参数来自原文，哪些信息尚未提供。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测试人员补齐条件后执行验证并记录结果。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模型与软硬件配置清单。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复现场景及缺失参数。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后续验证动作与结果记录。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集中保存分析结论、补测建议与处理进展。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支持按专题整理、导出和交接。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在测试材料中保留来源 Issue 及判断依据。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可接续的分析台账。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专题评审与交接材料。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典型场景及其来源记录。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744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9B6D0B-7506-4188-A0FF-5155A152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对策实施：持续同步与统一台账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8D0C9972-8138-4526-89F1-8F2941E4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统计时需要统一仓库、时间、状态以及是否包含 PR，避免把统计口径差异误判为数据遗漏。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C18AEBA7-E02D-4427-ADE5-B6CB2A04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明确同步与核对范围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9AD81779-35EC-4FBC-8678-A9868225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统一仓库、日期和状态条件。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对照同一口径的问题数量与具体条目，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同时检查新增问题和历史更新。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276A9AB0-1568-4183-A4A8-33AA02CB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持续维护问题台账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4C26D95D-D07F-4C05-B604-4D190638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全量获取用于建立和校准台账，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增量同步用于日常跟进。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同步完成后仍需关注异常与漏项。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58467E14-9B6E-46BB-9EEF-50040985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保护本地人工分析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EF5E8320-744D-4C61-BDF1-376EFA1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社区字段与人工结论分开维护。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更新标题、正文和状态时，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保留已有分析、备注与补测建议。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21C47312-9796-4389-9187-28D9AE91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形成可检查的专项清单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16277651-6E97-4CD3-9B37-D4005088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按时间、状态、标签等收敛范围。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通过清单逐项核对更新与遗漏，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减少反复打开社区页面查找。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1E2CF4F1-80CD-4F9E-B19E-2FCEE971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实际界面：问题列表与同步状态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902FD5E0-B563-45D5-95D5-8E8D3E59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A37B5272-86A3-43A4-8CC3-26829869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3555C85B-159D-4628-9A95-B2D24FCC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建议粘贴问题列表、同步状态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或同口径数量核对截图</a:t>
            </a:r>
          </a:p>
        </p:txBody>
      </p:sp>
    </p:spTree>
    <p:extLst>
      <p:ext uri="{BB962C8B-B14F-4D97-AF65-F5344CB8AC3E}">
        <p14:creationId xmlns:p14="http://schemas.microsoft.com/office/powerpoint/2010/main" val="1339544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425A20-D520-4A05-A3DD-2DD8AF05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对策实施：AI 辅助分析与批量任务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8096B13E-C391-4ADB-AFFA-8DAE689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模块仍需持续评估，效率收益应包含审核、修正和失败重试成本，不能仅看生成建议数量。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95E8FF12-A990-4BE7-80E0-11D81457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准备可靠的分析上下文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80156D1C-AA22-4392-A799-D807E5B9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结合正文、评论和已有分析。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明确材料来源与缺失部分，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避免模型把推测当成已确认事实。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10207607-C271-4AD8-906F-F2511861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生成待审核的结构化建议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930429CF-182E-4405-80C2-28652C87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归纳问题摘要、现象和补测建议。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区分事实、可能原因与待确认参数，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漏测原因结合实际测试覆盖人工判断。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483A5E1B-FEAF-491D-BC83-6D6FAA8C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批量处理与异常跟进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4A2C54D1-2521-4109-9DFB-C39C7CEC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支持勾选问题或按筛选范围执行。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通过并发任务处理多条问题，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查看进度及失败项并跟进重试。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EC63F82F-BF0A-44E2-86A5-195A572A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人工核对后保存结果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BFB944ED-C467-4408-ACDD-24AC494F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对照原文检查版本、配置和判断。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修正后决定是否采纳并保存，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保留已有人工内容及必要说明。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DFF84B05-2F5F-45B4-BA5E-F6C89CC0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实际界面：分析建议与批量任务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A98D61C1-AA5A-4305-A54D-21E4B524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B345007F-65E9-4F24-B09E-513AB566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9269BC5A-740A-4BB7-87B9-5B6A4F50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 AI 建议、审核采纳界面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或批量分析进度截图</a:t>
            </a:r>
          </a:p>
        </p:txBody>
      </p:sp>
    </p:spTree>
    <p:extLst>
      <p:ext uri="{BB962C8B-B14F-4D97-AF65-F5344CB8AC3E}">
        <p14:creationId xmlns:p14="http://schemas.microsoft.com/office/powerpoint/2010/main" val="1304324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FD24D5-000F-4069-BE40-253F156D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对策实施：重点筛选与复现材料整理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4003E7E8-DD49-487E-85DA-74628DF6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系统辅助完成复现前的材料准备，不能代替测试人员部署环境、执行请求或确认根因。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B10178E7-CE3E-4395-9AD5-293F0E3D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筛选值得验证的候选问题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F3EDB7C6-21A0-4F41-8BAF-59F4F7AC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按时间、版本、类型等缩小范围。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结合价值与复现条件排序，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保留完整列表复查重要问题遗漏。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24893E91-A270-475A-BCA2-F87DBE13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提取模型与环境配置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6694F525-C40E-4BDA-8D4D-509F56C7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整理模型名称、量化与并行配置。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提取 A2/A3/A5 硬件及软件版本，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没有来源支持的参数标为待确认。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99FB0FAD-30FE-4189-B79E-A9D77B3C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梳理触发条件与错误现象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B568D519-37CA-48CC-AA63-05A1BF46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整理启动命令、请求和执行阶段。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关注并发、输入长度与异常日志，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写清预期结果和实际差异。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A7CC027C-6182-4CAC-A6D6-BDC73341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由测试人员补齐并验证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36AACF64-AF28-4965-8745-C1991464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列出缺失参数和需要追问的信息。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人员准备环境并执行验证，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将复现是否成功及结果补回记录。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3A383C62-57E3-4DBE-96ED-88AB3ABC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实际界面：候选清单与配置材料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797D67EA-7AF2-4D14-8899-72BDBE8A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CE3772D2-2C31-417E-9742-CC7EAAFD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B9ADA799-5C9C-4191-AD22-BFAC32EC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建议粘贴重点候选列表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或模型、环境、复现场景分析截图</a:t>
            </a:r>
          </a:p>
        </p:txBody>
      </p:sp>
    </p:spTree>
    <p:extLst>
      <p:ext uri="{BB962C8B-B14F-4D97-AF65-F5344CB8AC3E}">
        <p14:creationId xmlns:p14="http://schemas.microsoft.com/office/powerpoint/2010/main" val="6686928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E89061-6CAD-4147-BAF9-ABA1A5A0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对策实施：分析记录、评审交接与材料复用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94ABB65D-4527-4B5B-90D6-0B89EF38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典型问题转化为测试场景时，还需要人员补充实际执行结果，并保留来源问题与验证记录的关联。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B3094725-9093-4DE9-A4CC-A2E9545C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统一维护人工分析记录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7943722F-FBEE-4492-9850-2A716BF3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保存问题识别、结论与补测建议。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持续补充版本支持和处理进展，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让后续人员了解当前判断与待办。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3D4EECEC-8EC6-4364-90E6-8C620348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按专题组织评审材料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3D25F9E1-8825-4CB6-9EDC-C90DD048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利用筛选结果形成专项清单。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导出后结合原文与已有结论评审，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保留判断依据与尚未解决的信息缺口。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214F9302-793F-4334-8DB7-C5C50CA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减少交接中的重复工作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A7B0111D-ACA7-438D-A850-C07A7923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接手者先查看已有分析和验证情况。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在此前记录上补充、修正和跟进，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减少重新阅读和重复收集材料。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D9328E53-3EA3-46DA-8CA3-7340826C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积累可追溯的典型场景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47022322-F5E7-4206-A707-D2DB09EB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整理配置、触发条件与验证结果。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转化测试材料时关联来源 Issue，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通过再次使用判断材料是否有价值。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FCEBDC80-BCCC-41BE-88A7-CE5D089D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实际界面：分析记录与评审导出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D7F793B1-A529-4755-A9C2-D45DB2FC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210307E2-2866-4F6B-8488-AB10191D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CBB210E0-BE13-4D15-BA07-88087B28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建议粘贴人工分析、处理进展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或专题清单导出结果截图</a:t>
            </a:r>
          </a:p>
        </p:txBody>
      </p:sp>
    </p:spTree>
    <p:extLst>
      <p:ext uri="{BB962C8B-B14F-4D97-AF65-F5344CB8AC3E}">
        <p14:creationId xmlns:p14="http://schemas.microsoft.com/office/powerpoint/2010/main" val="20325496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F20558-D528-4E5C-8F44-9940C376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实施案例：Issue #16608 分析、复现与工单转化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D175E81-9837-4D7F-8AF4-B5FDF557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处理流程包括社区反馈、AI 辅助分析、人工复现、工单处理及后续测试用例补充。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辅助整理验证线索，人员核对并执行复现；当前已完成复现与工单转化，修复和补测继续跟进。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A7D78-4D48-41C9-8962-C024DAB724C8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9715500"/>
                <a:gridCol w="3429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实施环节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案例内容与处理动作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社区问题与验证线索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原帖报告：PP=2、TP=1 时推理乱码，切换为 TP=2、PP=1 后正常。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报告模型为 Qwen3.8-27B W8A8，并提供环境与启动参数。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这些是社区报告的信息，内部实际配置以复现记录为准。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来源明确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Issue #16608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辅助分析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利用项目 AI 分析辅助归纳问题现象、模型配置和环境参数。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 PP/TP 对照条件整理验证建议，明确需要确认的信息。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人员核对后用于复现准备，可能原因仍需实际验证。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辅助整理与分析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建议需人工审核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人工执行复现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项目负责人已在实际环境中完成该问题的复现。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人工验证为转工单提供实际的问题依据。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内部环境配置、触发请求与结果建议随工单留存。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已完成复现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项目负责人确认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转为工单推进解决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已将复现问题转换为工单，进入问题处理流程。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后续结合工单跟进定位、修复和验证。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工单编号与处理进展可按实际记录补充。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已转为工单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修复完成状态未确认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安排补充测试用例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后续安排测试人员补充相关场景的测试用例。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建议结合 PP/TP 对照场景与修复结果评审回归范围。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用例完成、执行通过和纳入回归需要后续记录确认。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后续安排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用例完成情况待跟进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787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3C84EB-DCC4-40A1-A385-765FB3AC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效果确认：已有案例与预期改善（未实测）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86D91196-88E9-4057-B05B-95548EAC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已确认事实：负责人已复现 Issue #16608 并转为工单，测试用例补充为后续安排。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以下百分比区分“情景估算”与“建议目标”，均未经试验验证，不作为已达成的收益或质量结论。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21E80-BEAC-4324-A051-271C97D80D7A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20000"/>
                <a:gridCol w="5524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改善方面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改善来源与适用前提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情景估算或建议目标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中文归纳减少英文理解与反复翻译，集中整理正文和评论。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批量任务减少逐条发起与页面切换，人员仍逐条审核。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假设中等复杂度英文问题，包含审核修正的人工投入。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情景估算：人工耗时降低 30%—40%。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 20 分钟降至 12—14 分钟。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实际基线与改善幅度尚未测量。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统一同步入口跟进新增与历史更新，并保留人工分析。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完整性需核对 ID 集合，更新及时性需检查同步记录。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不能从功能存在直接推断真实漏项率和故障率。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建议目标：指定范围 ID 匹配率 100%。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同步时人工分析内容保持不变。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这是验收要求，尚未核验达成。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按日期、状态、类型和版本信息缩小需详细阅读的范围。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Doc/RFC 等不适合本次缺陷验证目标的类型可排除。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需保留完整列表复查，候选少不等于筛选准确。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情景估算：待细看条数减少 30%—50%。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 20 条保留 10—14 条。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取决于问题构成，不代表准确率。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在“补充测试”中整理模型、环境、触发条件和验证建议。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来源中已给参数准确提取，未给出的信息列为待确认。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#16608 复现及工单案例，不等同整体材料质量达标。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建议目标：已知参数提取率 ≥90%。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缺失参数明确标注，不算已补齐。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不是已测完整率或复现成功率。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提高材料复用能力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结论、来源和待办集中保存，支持专题清单与导出。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假设接手者可以直接利用记录，减少查找和重复摘录。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归档数量和导出次数不直接等于实际复用。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情景估算：查找交接耗时降 20%—40%。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 10 分钟降至 6—8 分钟。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实际复用次数和收益尚未统计。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90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82ED59-A00E-4BC7-83E8-D383117B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预期效果测算：人工整理投入（示意假设）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187C5D1B-BEAF-480C-91F5-4F818F11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适用情景：需阅读英文正文及评论、提取环境配置并填写分析记录的中等复杂度 Issue。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所有分钟数是流程测算假设，并非实测；模型建议可用且完成同等质量审核，是估算成立的前提。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5DFE9-1A6D-4FCF-9E31-2EAD5D791D3F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857500"/>
                <a:gridCol w="2857500"/>
                <a:gridCol w="5238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人工工作环节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假设的变化来源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查阅资料与理解英文内容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分钟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分钟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中文归纳减少翻译与查找。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提取配置、归纳现象与进展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分钟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分钟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核对归纳结果并回查原文。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填写或修改分析记录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分钟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分钟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仍需人工修改、确认与保存。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操作切换及异常处理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分钟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分钟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保留任务操作与异常处理时间。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人工投入合计（假设）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分钟／条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分钟／条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不计无人值守模型等待时间。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工时情景计算">
            <a:extLst xmlns:a="http://schemas.openxmlformats.org/drawingml/2006/main">
              <a:ext uri="{FF2B5EF4-FFF2-40B4-BE49-F238E27FC236}">
                <a16:creationId xmlns:a16="http://schemas.microsoft.com/office/drawing/2014/main" id="{C27ACAC7-9F5A-4999-B8D2-E096FBA2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62875"/>
            <a:ext cx="1609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示意结果：（20 − 12）÷ 20 = 40% 人工耗时降低</a:t>
            </a:r>
          </a:p>
        </p:txBody>
      </p:sp>
      <p:sp>
        <p:nvSpPr>
          <p:cNvPr id="6" name="工时敏感性说明">
            <a:extLst xmlns:a="http://schemas.openxmlformats.org/drawingml/2006/main">
              <a:ext uri="{FF2B5EF4-FFF2-40B4-BE49-F238E27FC236}">
                <a16:creationId xmlns:a16="http://schemas.microsoft.com/office/drawing/2014/main" id="{287690BA-9380-4953-BA34-708EA2FC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0"/>
            <a:ext cx="1609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若审核或返工再增加 2 分钟，辅助投入为 14 分钟，对应降低 30%，因此采用 30%—40% 情景区间。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英文较短、参数缺失或 AI 输出错误较多时，收益可能更低，甚至增加人工投入；不外推为总体已节省工时。</a:t>
            </a:r>
          </a:p>
        </p:txBody>
      </p:sp>
    </p:spTree>
    <p:extLst>
      <p:ext uri="{BB962C8B-B14F-4D97-AF65-F5344CB8AC3E}">
        <p14:creationId xmlns:p14="http://schemas.microsoft.com/office/powerpoint/2010/main" val="12484985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519F27-C17D-4645-A487-6E8243B4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预期效果：跟踪、筛选与材料使用（未实测）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373AFA5-D1AA-4BFC-AA77-7585943F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有明确数据定义的质量项列为建议验收目标；缺少基线的效率项采用假设例子说明潜在改善。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不报告未经核验的准确率、漏项率、真实复用率，也不把原始材料缺失归因于提取功能。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2A355-8208-49A5-AB61-F0991E8EB12F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20000"/>
                <a:gridCol w="5524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评价方面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计算口径与估算依据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解释与使用边界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跟踪可靠性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 匹配率 = 本地与源端匹配条数 ÷ 源端条数。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建议指定范围目标为 100%，人工分析内容保持不变。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统一仓库、时间截止点、状态以及是否包含 PR。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更新及时性另看是否在约定同步周期内跟进。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 为建议验收要求，不是实测值。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当前不能据此宣称全量无遗漏。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更新周期达标也需实际同步记录支持。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重点筛选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情景估算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假设原范围 20 条，按专题条件筛至 10—14 条。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减少比例 =（20 − 候选数）÷ 20，即 30%—50%。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数字只为示意，不代表实际 Doc/RFC 占比。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现有版本信息主要参与排序，不是旧版本阈值过滤。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减少条数不等于有效候选准确率。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老版本问题也可能影响当前版本。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需人工复查重要但信息不足的问题。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已知参数提取率 = 准确提取项 ÷ 原文已提供适用项。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建议目标 ≥90%，未提供的参数明确标为待确认。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缺失标记不计作参数齐全，不预测复现成功率。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#16608 人工复现并转工单，用例补充待跟进。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90% 是建议目标，并无已测基线。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不能补造设备、版本和模型参数。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是否具备验证条件仍由人员判断。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归档与复用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情景估算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假设查找和交接准备原需 10 分钟，集中记录后需 6—8 分钟。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减少比例 =（10 − 辅助耗时）÷ 10，即 20%—40%。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假设接手者能直接使用来源、结论和待办信息。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不含缺陷定位、修复和执行测试本身的耗时。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估算只针对查找与交接准备环节。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归档与导出不自动证明材料已复用。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实际复用案例及次数目前仍未统计。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3045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9B4707-6757-49B9-8A64-B59FD6E3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总结：项目价值与后续优化重点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5E36C96E-686F-480D-828A-146BED3C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项目价值需要结合实际使用、人工投入变化和测试验证贡献持续确认。</a:t>
            </a:r>
          </a:p>
        </p:txBody>
      </p:sp>
      <p:sp>
        <p:nvSpPr>
          <p:cNvPr id="4" name="总结标题-0">
            <a:extLst xmlns:a="http://schemas.openxmlformats.org/drawingml/2006/main">
              <a:ext uri="{FF2B5EF4-FFF2-40B4-BE49-F238E27FC236}">
                <a16:creationId xmlns:a16="http://schemas.microsoft.com/office/drawing/2014/main" id="{99499CB1-C4AC-49B9-9BB1-A0C338B8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统一台账提供基础价值</a:t>
            </a:r>
          </a:p>
        </p:txBody>
      </p:sp>
      <p:sp>
        <p:nvSpPr>
          <p:cNvPr id="5" name="总结说明-0">
            <a:extLst xmlns:a="http://schemas.openxmlformats.org/drawingml/2006/main">
              <a:ext uri="{FF2B5EF4-FFF2-40B4-BE49-F238E27FC236}">
                <a16:creationId xmlns:a16="http://schemas.microsoft.com/office/drawing/2014/main" id="{014C9FCF-7B50-43C4-94D0-A9C4487A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持续跟进新增与历史更新，保留本地人工分析，减少跨页面查找、重复核对和交接中的资料分散。</a:t>
            </a:r>
          </a:p>
        </p:txBody>
      </p:sp>
      <p:sp>
        <p:nvSpPr>
          <p:cNvPr id="6" name="总结标题-1">
            <a:extLst xmlns:a="http://schemas.openxmlformats.org/drawingml/2006/main">
              <a:ext uri="{FF2B5EF4-FFF2-40B4-BE49-F238E27FC236}">
                <a16:creationId xmlns:a16="http://schemas.microsoft.com/office/drawing/2014/main" id="{1D6AEBDB-9532-4272-A733-EB6043A0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AI 辅助降低重复整理工作</a:t>
            </a:r>
          </a:p>
        </p:txBody>
      </p:sp>
      <p:sp>
        <p:nvSpPr>
          <p:cNvPr id="7" name="总结说明-1">
            <a:extLst xmlns:a="http://schemas.openxmlformats.org/drawingml/2006/main">
              <a:ext uri="{FF2B5EF4-FFF2-40B4-BE49-F238E27FC236}">
                <a16:creationId xmlns:a16="http://schemas.microsoft.com/office/drawing/2014/main" id="{EC84EA43-0F38-4F74-8A12-08CC2673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帮助人员阅读、归纳和提取材料，支持批量处理。人员负责证据核对和结论把关，持续评估审核后的实际收益。</a:t>
            </a:r>
          </a:p>
        </p:txBody>
      </p:sp>
      <p:sp>
        <p:nvSpPr>
          <p:cNvPr id="8" name="总结标题-2">
            <a:extLst xmlns:a="http://schemas.openxmlformats.org/drawingml/2006/main">
              <a:ext uri="{FF2B5EF4-FFF2-40B4-BE49-F238E27FC236}">
                <a16:creationId xmlns:a16="http://schemas.microsoft.com/office/drawing/2014/main" id="{87DD5114-6E5C-48E7-83F7-1BF1E604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筛选与材料整理支撑测试准备</a:t>
            </a:r>
          </a:p>
        </p:txBody>
      </p:sp>
      <p:sp>
        <p:nvSpPr>
          <p:cNvPr id="9" name="总结说明-2">
            <a:extLst xmlns:a="http://schemas.openxmlformats.org/drawingml/2006/main">
              <a:ext uri="{FF2B5EF4-FFF2-40B4-BE49-F238E27FC236}">
                <a16:creationId xmlns:a16="http://schemas.microsoft.com/office/drawing/2014/main" id="{64780717-4777-44B9-BC06-4D66D966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7227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形成重点候选，整理模型、环境与触发条件，明确缺失信息。实际复现和根因确认仍需人员与实验环境完成。</a:t>
            </a:r>
          </a:p>
        </p:txBody>
      </p:sp>
      <p:sp>
        <p:nvSpPr>
          <p:cNvPr id="10" name="总结标题-3">
            <a:extLst xmlns:a="http://schemas.openxmlformats.org/drawingml/2006/main">
              <a:ext uri="{FF2B5EF4-FFF2-40B4-BE49-F238E27FC236}">
                <a16:creationId xmlns:a16="http://schemas.microsoft.com/office/drawing/2014/main" id="{DDAA0F79-9C0D-4617-9376-4F2EB95D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5812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后续优化以证据为依据</a:t>
            </a:r>
          </a:p>
        </p:txBody>
      </p:sp>
      <p:sp>
        <p:nvSpPr>
          <p:cNvPr id="11" name="总结说明-3">
            <a:extLst xmlns:a="http://schemas.openxmlformats.org/drawingml/2006/main">
              <a:ext uri="{FF2B5EF4-FFF2-40B4-BE49-F238E27FC236}">
                <a16:creationId xmlns:a16="http://schemas.microsoft.com/office/drawing/2014/main" id="{C1C0DE3B-37A7-463F-B326-00D2FA6A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3915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补充完整性核对、人工工时、候选有效性和材料复用记录。根据错误与返工情况优化提示词、筛选规则和分析流程。</a:t>
            </a:r>
          </a:p>
        </p:txBody>
      </p:sp>
    </p:spTree>
    <p:extLst>
      <p:ext uri="{BB962C8B-B14F-4D97-AF65-F5344CB8AC3E}">
        <p14:creationId xmlns:p14="http://schemas.microsoft.com/office/powerpoint/2010/main" val="1179841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2026-10-28T12:19:03.4880000Z</dcterms:created>
  <dcterms:modified xsi:type="dcterms:W3CDTF">2026-10-28T12:19:03.4880000Z</dcterms:modified>
</coreProperties>
</file>