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3a019a1fc54f03" /><Relationship Type="http://schemas.openxmlformats.org/officeDocument/2006/relationships/extended-properties" Target="/docProps/app.xml" Id="R0e6f8258ea1c488c" /><Relationship Type="http://schemas.openxmlformats.org/officeDocument/2006/relationships/officeDocument" Target="/ppt/presentation.xml" Id="R8defa0b19842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7bd51fc54b4398"/>
  </p:sldMasterIdLst>
  <p:notesMasterIdLst>
    <p:notesMasterId xmlns:r="http://schemas.openxmlformats.org/officeDocument/2006/relationships" r:id="Rfcdfaf524a824df7"/>
  </p:notesMasterIdLst>
  <p:sldIdLst>
    <p:sldId xmlns:r="http://schemas.openxmlformats.org/officeDocument/2006/relationships" id="256" r:id="Rd6205c03723e423b"/>
    <p:sldId xmlns:r="http://schemas.openxmlformats.org/officeDocument/2006/relationships" id="257" r:id="Rbcf17f977bcc409b"/>
    <p:sldId xmlns:r="http://schemas.openxmlformats.org/officeDocument/2006/relationships" id="258" r:id="Rf49b66399e804953"/>
    <p:sldId xmlns:r="http://schemas.openxmlformats.org/officeDocument/2006/relationships" id="259" r:id="R963cb1b815884d8b"/>
    <p:sldId xmlns:r="http://schemas.openxmlformats.org/officeDocument/2006/relationships" id="260" r:id="Rd747e834c3374ab6"/>
    <p:sldId xmlns:r="http://schemas.openxmlformats.org/officeDocument/2006/relationships" id="261" r:id="R0a3be0de3daa443e"/>
    <p:sldId xmlns:r="http://schemas.openxmlformats.org/officeDocument/2006/relationships" id="262" r:id="Rc3e1f22cf9d144a7"/>
    <p:sldId xmlns:r="http://schemas.openxmlformats.org/officeDocument/2006/relationships" id="263" r:id="R18d86621a32144cf"/>
    <p:sldId xmlns:r="http://schemas.openxmlformats.org/officeDocument/2006/relationships" id="264" r:id="Rd81b8069b4954acb"/>
    <p:sldId xmlns:r="http://schemas.openxmlformats.org/officeDocument/2006/relationships" id="265" r:id="R2cbddee36b624430"/>
    <p:sldId xmlns:r="http://schemas.openxmlformats.org/officeDocument/2006/relationships" id="266" r:id="R24ddb1a225064a25"/>
    <p:sldId xmlns:r="http://schemas.openxmlformats.org/officeDocument/2006/relationships" id="267" r:id="Re650acbcb2994dd8"/>
    <p:sldId xmlns:r="http://schemas.openxmlformats.org/officeDocument/2006/relationships" id="268" r:id="Rec394c98657e4c76"/>
    <p:sldId xmlns:r="http://schemas.openxmlformats.org/officeDocument/2006/relationships" id="269" r:id="Re08eb707df9f4709"/>
    <p:sldId xmlns:r="http://schemas.openxmlformats.org/officeDocument/2006/relationships" id="270" r:id="Rb26b2577d25f49d1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e226b278b45f1" /><Relationship Type="http://schemas.openxmlformats.org/officeDocument/2006/relationships/slideMaster" Target="/ppt/slideMasters/slideMaster1.xml" Id="R0f7bd51fc54b4398" /><Relationship Type="http://schemas.openxmlformats.org/officeDocument/2006/relationships/notesMaster" Target="/ppt/notesMasters/notesMaster1.xml" Id="Rfcdfaf524a824df7" /><Relationship Type="http://schemas.openxmlformats.org/officeDocument/2006/relationships/presProps" Target="/ppt/presProps.xml" Id="R3512275da4104df3" /><Relationship Type="http://schemas.openxmlformats.org/officeDocument/2006/relationships/tableStyles" Target="/ppt/tableStyles.xml" Id="Rf0d8ce5da35e4eb5" /><Relationship Type="http://schemas.openxmlformats.org/officeDocument/2006/relationships/slide" Target="/ppt/slides/slide1.xml" Id="Rd6205c03723e423b" /><Relationship Type="http://schemas.openxmlformats.org/officeDocument/2006/relationships/slide" Target="/ppt/slides/slide2.xml" Id="Rbcf17f977bcc409b" /><Relationship Type="http://schemas.openxmlformats.org/officeDocument/2006/relationships/slide" Target="/ppt/slides/slide3.xml" Id="Rf49b66399e804953" /><Relationship Type="http://schemas.openxmlformats.org/officeDocument/2006/relationships/slide" Target="/ppt/slides/slide4.xml" Id="R963cb1b815884d8b" /><Relationship Type="http://schemas.openxmlformats.org/officeDocument/2006/relationships/slide" Target="/ppt/slides/slide5.xml" Id="Rd747e834c3374ab6" /><Relationship Type="http://schemas.openxmlformats.org/officeDocument/2006/relationships/slide" Target="/ppt/slides/slide6.xml" Id="R0a3be0de3daa443e" /><Relationship Type="http://schemas.openxmlformats.org/officeDocument/2006/relationships/slide" Target="/ppt/slides/slide7.xml" Id="Rc3e1f22cf9d144a7" /><Relationship Type="http://schemas.openxmlformats.org/officeDocument/2006/relationships/slide" Target="/ppt/slides/slide8.xml" Id="R18d86621a32144cf" /><Relationship Type="http://schemas.openxmlformats.org/officeDocument/2006/relationships/slide" Target="/ppt/slides/slide9.xml" Id="Rd81b8069b4954acb" /><Relationship Type="http://schemas.openxmlformats.org/officeDocument/2006/relationships/slide" Target="/ppt/slides/slide10.xml" Id="R2cbddee36b624430" /><Relationship Type="http://schemas.openxmlformats.org/officeDocument/2006/relationships/slide" Target="/ppt/slides/slide11.xml" Id="R24ddb1a225064a25" /><Relationship Type="http://schemas.openxmlformats.org/officeDocument/2006/relationships/slide" Target="/ppt/slides/slide12.xml" Id="Re650acbcb2994dd8" /><Relationship Type="http://schemas.openxmlformats.org/officeDocument/2006/relationships/slide" Target="/ppt/slides/slide13.xml" Id="Rec394c98657e4c76" /><Relationship Type="http://schemas.openxmlformats.org/officeDocument/2006/relationships/slide" Target="/ppt/slides/slide14.xml" Id="Re08eb707df9f4709" /><Relationship Type="http://schemas.openxmlformats.org/officeDocument/2006/relationships/slide" Target="/ppt/slides/slide15.xml" Id="Rb26b2577d25f49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e928657ce644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e8d460763b4a91" /><Relationship Type="http://schemas.openxmlformats.org/officeDocument/2006/relationships/notesMaster" Target="/ppt/notesMasters/notesMaster1.xml" Id="R0801de30937d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7822380ac04a65" /><Relationship Type="http://schemas.openxmlformats.org/officeDocument/2006/relationships/notesMaster" Target="/ppt/notesMasters/notesMaster1.xml" Id="R1f48b294d07d44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81f583394d47c8" /><Relationship Type="http://schemas.openxmlformats.org/officeDocument/2006/relationships/notesMaster" Target="/ppt/notesMasters/notesMaster1.xml" Id="Rf2d1fa0119a34b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2a200cee6142e9" /><Relationship Type="http://schemas.openxmlformats.org/officeDocument/2006/relationships/notesMaster" Target="/ppt/notesMasters/notesMaster1.xml" Id="R29685d07670547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742f56ac3a45da" /><Relationship Type="http://schemas.openxmlformats.org/officeDocument/2006/relationships/notesMaster" Target="/ppt/notesMasters/notesMaster1.xml" Id="R78c8fa7a7463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48774ba5074ac2" /><Relationship Type="http://schemas.openxmlformats.org/officeDocument/2006/relationships/notesMaster" Target="/ppt/notesMasters/notesMaster1.xml" Id="R0f5f743a78234e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afa625a3464f94" /><Relationship Type="http://schemas.openxmlformats.org/officeDocument/2006/relationships/notesMaster" Target="/ppt/notesMasters/notesMaster1.xml" Id="R06cc052805c64c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212dba5cb34336" /><Relationship Type="http://schemas.openxmlformats.org/officeDocument/2006/relationships/notesMaster" Target="/ppt/notesMasters/notesMaster1.xml" Id="R40137343cf0c4a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ceba3ec9db4769" /><Relationship Type="http://schemas.openxmlformats.org/officeDocument/2006/relationships/notesMaster" Target="/ppt/notesMasters/notesMaster1.xml" Id="R18c354b3092549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65d0bef65140eb" /><Relationship Type="http://schemas.openxmlformats.org/officeDocument/2006/relationships/notesMaster" Target="/ppt/notesMasters/notesMaster1.xml" Id="Reae26851eedd40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fd7c4e03b74f5d" /><Relationship Type="http://schemas.openxmlformats.org/officeDocument/2006/relationships/notesMaster" Target="/ppt/notesMasters/notesMaster1.xml" Id="Re718ce65e54e42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838ac3180b4ab7" /><Relationship Type="http://schemas.openxmlformats.org/officeDocument/2006/relationships/notesMaster" Target="/ppt/notesMasters/notesMaster1.xml" Id="R2e4b573f01ea4b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edbd7a30547ac" /><Relationship Type="http://schemas.openxmlformats.org/officeDocument/2006/relationships/notesMaster" Target="/ppt/notesMasters/notesMaster1.xml" Id="R5dd1d8afb50145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19e4ca544243f7" /><Relationship Type="http://schemas.openxmlformats.org/officeDocument/2006/relationships/notesMaster" Target="/ppt/notesMasters/notesMaster1.xml" Id="R732e52b2f76440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f20fc4b10b4f9d" /><Relationship Type="http://schemas.openxmlformats.org/officeDocument/2006/relationships/notesMaster" Target="/ppt/notesMasters/notesMaster1.xml" Id="R92230883d3e54f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人员核对和修正后使用结果。：对比相近复杂度问题的人工总耗时。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同时记录错误与返工情况。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根因确认：初步因果关联矩阵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强、中、弱表示现有材料下的关联假设，用于选择优先核验的原因。</a:t>
            </a:r>
          </a:p>
          <a:p xmlns:a="http://schemas.openxmlformats.org/drawingml/2006/main">
            <a:r>
              <a:t>此矩阵没有使用实测权重，不能直接作为根因已确认或改进效果已达成的证明。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原因候选：持续跟踪：人工投入：重点筛选：复现材料：经验复用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缺少持续同步与统一入口：强：中：弱：弱：中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正文评论归纳依赖人工：弱：强：中：中：中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缺少统一评价筛选口径：弱：中：强：中：弱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缺少结构化复现材料模板：弱：中：中：强：中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分析结论分散存放：中：中：弱：中：强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根因确认：主因候选及其验证办法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将原因归并为三组主因候选，分别检查它们如何造成重复工作、材料缺失或筛选分歧。</a:t>
            </a:r>
          </a:p>
          <a:p xmlns:a="http://schemas.openxmlformats.org/drawingml/2006/main">
            <a:r>
              <a:t>确认主因需要过程记录及针对性调整后的证据，目前保留为待验证假设。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主因候选：影响机制：验证办法与需要保留的证据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统一载体不足：问题获取、状态跟踪和分析结论缺少统一入口。</a:t>
            </a:r>
          </a:p>
          <a:p xmlns:a="http://schemas.openxmlformats.org/drawingml/2006/main">
            <a:r>
              <a:t>人员在不同页面或材料间切换，重复收集信息。</a:t>
            </a:r>
          </a:p>
          <a:p xmlns:a="http://schemas.openxmlformats.org/drawingml/2006/main">
            <a:r>
              <a:t>交接时难以查找此前结论及其依据。：走查一次专项分析和交接的完整过程。</a:t>
            </a:r>
          </a:p>
          <a:p xmlns:a="http://schemas.openxmlformats.org/drawingml/2006/main">
            <a:r>
              <a:t>记录查找入口、重复收集步骤和结论查找时间。</a:t>
            </a:r>
          </a:p>
          <a:p xmlns:a="http://schemas.openxmlformats.org/drawingml/2006/main">
            <a:r>
              <a:t>比较采用统一台账前后的工作方式与遗漏情况。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人工归纳与</a:t>
            </a:r>
          </a:p>
          <a:p xmlns:a="http://schemas.openxmlformats.org/drawingml/2006/main">
            <a:r>
              <a:t>配置提取依赖：长正文和多轮评论需要人工逐条整理。</a:t>
            </a:r>
          </a:p>
          <a:p xmlns:a="http://schemas.openxmlformats.org/drawingml/2006/main">
            <a:r>
              <a:t>缺少固定的复现材料检查项，关键参数容易遗漏。</a:t>
            </a:r>
          </a:p>
          <a:p xmlns:a="http://schemas.openxmlformats.org/drawingml/2006/main">
            <a:r>
              <a:t>同类问题仍需重复阅读、摘录与补采。：选取相近复杂度、信息完整度不同的样本。</a:t>
            </a:r>
          </a:p>
          <a:p xmlns:a="http://schemas.openxmlformats.org/drawingml/2006/main">
            <a:r>
              <a:t>记录阅读、提取、审核和修正的分环节耗时。</a:t>
            </a:r>
          </a:p>
          <a:p xmlns:a="http://schemas.openxmlformats.org/drawingml/2006/main">
            <a:r>
              <a:t>检查环境配置、触发条件及缺失项是否完整。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评价筛选口径</a:t>
            </a:r>
          </a:p>
          <a:p xmlns:a="http://schemas.openxmlformats.org/drawingml/2006/main">
            <a:r>
              <a:t>不统一：对价值、版本适用性和复现难度缺少共同标准。</a:t>
            </a:r>
          </a:p>
          <a:p xmlns:a="http://schemas.openxmlformats.org/drawingml/2006/main">
            <a:r>
              <a:t>不同人员可能给出不同的优先级和测试建议。</a:t>
            </a:r>
          </a:p>
          <a:p xmlns:a="http://schemas.openxmlformats.org/drawingml/2006/main">
            <a:r>
              <a:t>重要但信息不足的问题容易过早排除。：多人独立评审同一批问题并记录分歧。</a:t>
            </a:r>
          </a:p>
          <a:p xmlns:a="http://schemas.openxmlformats.org/drawingml/2006/main">
            <a:r>
              <a:t>比较候选有效性，抽查筛选之外的重要问题。</a:t>
            </a:r>
          </a:p>
          <a:p xmlns:a="http://schemas.openxmlformats.org/drawingml/2006/main">
            <a:r>
              <a:t>统一评价口径后，在另一批样本上复评。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实施示例：从复杂反馈整理出验证准备材料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以前述 Kimi decode 崩溃反馈为例，说明系统如何辅助整理信息，以及测试人员还需要完成哪些工作。</a:t>
            </a:r>
          </a:p>
          <a:p xmlns:a="http://schemas.openxmlformats.org/drawingml/2006/main">
            <a:r>
              <a:t>本例不代表问题已成功复现，也不代表已确认 CANN 侧根因。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材料类别：已有信息与后续处理方式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报告者提供的环境：Atlas 800I A3、CANN 9.2.0，模型为 Kimi-K3 W4A8，使用 TP16 加 EP。</a:t>
            </a:r>
          </a:p>
          <a:p xmlns:a="http://schemas.openxmlformats.org/drawingml/2006/main">
            <a:r>
              <a:t>将这些配置保留为报告者提供的信息，核对具体软件版本和完整启动参数。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触发场景与错误现象：报告者描述 prefill 正常，decode 阶段出现 keyRope 视图偏移非法错误。</a:t>
            </a:r>
          </a:p>
          <a:p xmlns:a="http://schemas.openxmlformats.org/drawingml/2006/main">
            <a:r>
              <a:t>整理日志、执行模式及对照结果，帮助测试人员确定优先验证的阶段。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仍需补齐的复现条件：核对模型来源、完整启动命令、请求内容、并发和输入长度等材料是否齐全。</a:t>
            </a:r>
          </a:p>
          <a:p xmlns:a="http://schemas.openxmlformats.org/drawingml/2006/main">
            <a:r>
              <a:t>Issue 未提供的参数明确标为待确认，不能让模型自行补造。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测试人员执行的验证：在可用的对应环境中执行请求，记录是否复现、报错位置及环境差异。</a:t>
            </a:r>
          </a:p>
          <a:p xmlns:a="http://schemas.openxmlformats.org/drawingml/2006/main">
            <a:r>
              <a:t>必要时对照 eager、图模式和不同软件环境，并记录每次实际结果。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结论与使用边界：偏移溢出属于待确认假设，需要可靠资料、算子检查或对照实验支持。</a:t>
            </a:r>
          </a:p>
          <a:p xmlns:a="http://schemas.openxmlformats.org/drawingml/2006/main">
            <a:r>
              <a:t>系统提供整理后的验证输入，实际复现、根因确认和用例转化依赖后续工作。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效果确认：逐项目标检查是否取得实际改善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截图可以展示功能与使用过程，但不能单独证明节省了多少人工或提高了多少质量。</a:t>
            </a:r>
          </a:p>
          <a:p xmlns:a="http://schemas.openxmlformats.org/drawingml/2006/main">
            <a:r>
              <a:t>以下列出需要补充的效果证据，当前没有前后对比数据的项目均保留“待确认”。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目标：效果确认方法：当前结论与所需材料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提高跟踪可靠性：同口径核对数量并抽查具体问题。</a:t>
            </a:r>
          </a:p>
          <a:p xmlns:a="http://schemas.openxmlformats.org/drawingml/2006/main">
            <a:r>
              <a:t>检查新增获取、历史更新和人工分析保留情况。：待确认。</a:t>
            </a:r>
          </a:p>
          <a:p xmlns:a="http://schemas.openxmlformats.org/drawingml/2006/main">
            <a:r>
              <a:t>补充核对清单、漏项抽查</a:t>
            </a:r>
          </a:p>
          <a:p xmlns:a="http://schemas.openxmlformats.org/drawingml/2006/main">
            <a:r>
              <a:t>和历史更新检查记录。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减少人工整理投入：对相近复杂度样本比较人工总耗时。</a:t>
            </a:r>
          </a:p>
          <a:p xmlns:a="http://schemas.openxmlformats.org/drawingml/2006/main">
            <a:r>
              <a:t>包含查找、阅读、提取、审核、修正与重试。：待确认。</a:t>
            </a:r>
          </a:p>
          <a:p xmlns:a="http://schemas.openxmlformats.org/drawingml/2006/main">
            <a:r>
              <a:t>补充纯人工基线与辅助流程工时，</a:t>
            </a:r>
          </a:p>
          <a:p xmlns:a="http://schemas.openxmlformats.org/drawingml/2006/main">
            <a:r>
              <a:t>同时统计错误与返工成本。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提高重点筛选效率：人工评审候选是否值得投入测试。</a:t>
            </a:r>
          </a:p>
          <a:p xmlns:a="http://schemas.openxmlformats.org/drawingml/2006/main">
            <a:r>
              <a:t>抽查被筛问题中的重要遗漏和评审分歧。：待确认。</a:t>
            </a:r>
          </a:p>
          <a:p xmlns:a="http://schemas.openxmlformats.org/drawingml/2006/main">
            <a:r>
              <a:t>补充候选评审、遗漏复查</a:t>
            </a:r>
          </a:p>
          <a:p xmlns:a="http://schemas.openxmlformats.org/drawingml/2006/main">
            <a:r>
              <a:t>和筛选准备耗时记录。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完整性：检查模型配置、环境、触发条件和缺失信息。</a:t>
            </a:r>
          </a:p>
          <a:p xmlns:a="http://schemas.openxmlformats.org/drawingml/2006/main">
            <a:r>
              <a:t>由测试人员反馈材料是否支持开展验证。：待确认。</a:t>
            </a:r>
          </a:p>
          <a:p xmlns:a="http://schemas.openxmlformats.org/drawingml/2006/main">
            <a:r>
              <a:t>补充参数完整性检查，</a:t>
            </a:r>
          </a:p>
          <a:p xmlns:a="http://schemas.openxmlformats.org/drawingml/2006/main">
            <a:r>
              <a:t>记录补采情况及实际执行反馈。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提高材料复用能力：检查分析能否接续、交接是否减少重复工作。</a:t>
            </a:r>
          </a:p>
          <a:p xmlns:a="http://schemas.openxmlformats.org/drawingml/2006/main">
            <a:r>
              <a:t>跟踪典型材料在其他问题或测试中的实际使用。：待确认。</a:t>
            </a:r>
          </a:p>
          <a:p xmlns:a="http://schemas.openxmlformats.org/drawingml/2006/main">
            <a:r>
              <a:t>补充交接使用、重复工作变化</a:t>
            </a:r>
          </a:p>
          <a:p xmlns:a="http://schemas.openxmlformats.org/drawingml/2006/main">
            <a:r>
              <a:t>和材料复用关联记录。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效果确认：建立可重复的基线与对照评价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采用一致的样本范围和评价口径，避免只展示容易处理的问题或只统计模型输出。</a:t>
            </a:r>
          </a:p>
          <a:p xmlns:a="http://schemas.openxmlformats.org/drawingml/2006/main">
            <a:r>
              <a:t>具体比例阈值在第一轮基线后评审确定，后续用新样本验证规则调整是否有效。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评价环节：具体实施方式：需要保留的证据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选取代表性样本：覆盖缺陷、文档、咨询及不同信息完整度。</a:t>
            </a:r>
          </a:p>
          <a:p xmlns:a="http://schemas.openxmlformats.org/drawingml/2006/main">
            <a:r>
              <a:t>统一仓库、时间范围和样本复杂度，</a:t>
            </a:r>
          </a:p>
          <a:p xmlns:a="http://schemas.openxmlformats.org/drawingml/2006/main">
            <a:r>
              <a:t>避免只选择短正文或容易判断的问题。：样本清单、数量和选取规则。</a:t>
            </a:r>
          </a:p>
          <a:p xmlns:a="http://schemas.openxmlformats.org/drawingml/2006/main">
            <a:r>
              <a:t>参与人员与执行时间。</a:t>
            </a:r>
          </a:p>
          <a:p xmlns:a="http://schemas.openxmlformats.org/drawingml/2006/main">
            <a:r>
              <a:t>问题类型和材料复杂度说明。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记录纯人工基线：按原有方式完成查找、阅读与资料整理。</a:t>
            </a:r>
          </a:p>
          <a:p xmlns:a="http://schemas.openxmlformats.org/drawingml/2006/main">
            <a:r>
              <a:t>分别记录各环节耗时及缺失参数，</a:t>
            </a:r>
          </a:p>
          <a:p xmlns:a="http://schemas.openxmlformats.org/drawingml/2006/main">
            <a:r>
              <a:t>检查原有交接是否需要重复收集信息。：分环节工时。</a:t>
            </a:r>
          </a:p>
          <a:p xmlns:a="http://schemas.openxmlformats.org/drawingml/2006/main">
            <a:r>
              <a:t>配置与触发条件检查结果。</a:t>
            </a:r>
          </a:p>
          <a:p xmlns:a="http://schemas.openxmlformats.org/drawingml/2006/main">
            <a:r>
              <a:t>原有交接过程和重复工作记录。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执行辅助流程并审核：通过台账、筛选与 AI 建议辅助处理。</a:t>
            </a:r>
          </a:p>
          <a:p xmlns:a="http://schemas.openxmlformats.org/drawingml/2006/main">
            <a:r>
              <a:t>人员核对、修正并补齐材料，</a:t>
            </a:r>
          </a:p>
          <a:p xmlns:a="http://schemas.openxmlformats.org/drawingml/2006/main">
            <a:r>
              <a:t>同时抽查候选和筛选之外的重要问题。：人工总耗时与审核修正情况。</a:t>
            </a:r>
          </a:p>
          <a:p xmlns:a="http://schemas.openxmlformats.org/drawingml/2006/main">
            <a:r>
              <a:t>候选有效性和重要遗漏。</a:t>
            </a:r>
          </a:p>
          <a:p xmlns:a="http://schemas.openxmlformats.org/drawingml/2006/main">
            <a:r>
              <a:t>失败重试、补采和实际使用反馈。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判断达成情况并复评：按各项目标比较基线与对照结果。</a:t>
            </a:r>
          </a:p>
          <a:p xmlns:a="http://schemas.openxmlformats.org/drawingml/2006/main">
            <a:r>
              <a:t>未改善时回看材料、规则或使用方式，</a:t>
            </a:r>
          </a:p>
          <a:p xmlns:a="http://schemas.openxmlformats.org/drawingml/2006/main">
            <a:r>
              <a:t>调整后用另一批样本再次评价。：目标达成结论及其依据。</a:t>
            </a:r>
          </a:p>
          <a:p xmlns:a="http://schemas.openxmlformats.org/drawingml/2006/main">
            <a:r>
              <a:t>尚未解决的问题与改进措施。</a:t>
            </a:r>
          </a:p>
          <a:p xmlns:a="http://schemas.openxmlformats.org/drawingml/2006/main">
            <a:r>
              <a:t>新一轮样本的复评结果。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3033285c548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5f28954c54f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7ae816aa046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243849b0549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145a2c3ab4e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19078c93d4c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49e613bc8402e" /><Relationship Type="http://schemas.openxmlformats.org/officeDocument/2006/relationships/slideLayout" Target="/ppt/slideLayouts/slideLayout1.xml" Id="Rfb470d01196b400e" /><Relationship Type="http://schemas.openxmlformats.org/officeDocument/2006/relationships/slideLayout" Target="/ppt/slideLayouts/slideLayout2.xml" Id="R88187f1e6548496d" /><Relationship Type="http://schemas.openxmlformats.org/officeDocument/2006/relationships/slideLayout" Target="/ppt/slideLayouts/slideLayout3.xml" Id="R95fcf5b4f8624f75" /><Relationship Type="http://schemas.openxmlformats.org/officeDocument/2006/relationships/slideLayout" Target="/ppt/slideLayouts/slideLayout4.xml" Id="R08bcc89ce22d4cc6" /><Relationship Type="http://schemas.openxmlformats.org/officeDocument/2006/relationships/slideLayout" Target="/ppt/slideLayouts/slideLayout5.xml" Id="R719afee11384423d" /><Relationship Type="http://schemas.openxmlformats.org/officeDocument/2006/relationships/slideLayout" Target="/ppt/slideLayouts/slideLayout6.xml" Id="R06b5fbb28d3b42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70d01196b400e"/>
    <p:sldLayoutId xmlns:r="http://schemas.openxmlformats.org/officeDocument/2006/relationships" id="2147483650" r:id="R88187f1e6548496d"/>
    <p:sldLayoutId xmlns:r="http://schemas.openxmlformats.org/officeDocument/2006/relationships" id="2147483651" r:id="R95fcf5b4f8624f75"/>
    <p:sldLayoutId xmlns:r="http://schemas.openxmlformats.org/officeDocument/2006/relationships" id="2147483652" r:id="R08bcc89ce22d4cc6"/>
    <p:sldLayoutId xmlns:r="http://schemas.openxmlformats.org/officeDocument/2006/relationships" id="2147483653" r:id="R719afee11384423d"/>
    <p:sldLayoutId xmlns:r="http://schemas.openxmlformats.org/officeDocument/2006/relationships" id="2147483654" r:id="R06b5fbb28d3b42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a1bfc215f4438" /><Relationship Type="http://schemas.openxmlformats.org/officeDocument/2006/relationships/notesSlide" Target="/ppt/notesSlides/notesSlide1.xml" Id="Rf285550cebf84b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35b6aecdf4cf1" /><Relationship Type="http://schemas.openxmlformats.org/officeDocument/2006/relationships/notesSlide" Target="/ppt/notesSlides/notesSlide2.xml" Id="R5279f10b9f724d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1f22ad982b49a6" /><Relationship Type="http://schemas.openxmlformats.org/officeDocument/2006/relationships/image" Target="/ppt/media/image.png" Id="R7b8501ac6ad441f0" /><Relationship Type="http://schemas.openxmlformats.org/officeDocument/2006/relationships/image" Target="/ppt/media/image.svg" Id="Re5f71812016940eb" /><Relationship Type="http://schemas.openxmlformats.org/officeDocument/2006/relationships/notesSlide" Target="/ppt/notesSlides/notesSlide3.xml" Id="R169798ac423649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778eedd5dc4d9c" /><Relationship Type="http://schemas.openxmlformats.org/officeDocument/2006/relationships/notesSlide" Target="/ppt/notesSlides/notesSlide4.xml" Id="R50ff43292392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bde2369a8a4fa4" /><Relationship Type="http://schemas.openxmlformats.org/officeDocument/2006/relationships/notesSlide" Target="/ppt/notesSlides/notesSlide5.xml" Id="Rda800ca8b0d441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03e782c7347da" /><Relationship Type="http://schemas.openxmlformats.org/officeDocument/2006/relationships/notesSlide" Target="/ppt/notesSlides/notesSlide6.xml" Id="R711039cc972840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df67fba54419d" /><Relationship Type="http://schemas.openxmlformats.org/officeDocument/2006/relationships/notesSlide" Target="/ppt/notesSlides/notesSlide7.xml" Id="Re25010f951c447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57de0c5c6a4246" /><Relationship Type="http://schemas.openxmlformats.org/officeDocument/2006/relationships/notesSlide" Target="/ppt/notesSlides/notesSlide8.xml" Id="Rae6c7a1f254047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9af2dcfc64ca7" /><Relationship Type="http://schemas.openxmlformats.org/officeDocument/2006/relationships/notesSlide" Target="/ppt/notesSlides/notesSlide9.xml" Id="R88b781d78a0741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8cd8d818364cad" /><Relationship Type="http://schemas.openxmlformats.org/officeDocument/2006/relationships/notesSlide" Target="/ppt/notesSlides/notesSlide10.xml" Id="R055cd5b26fef43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904ceee044750" /><Relationship Type="http://schemas.openxmlformats.org/officeDocument/2006/relationships/notesSlide" Target="/ppt/notesSlides/notesSlide11.xml" Id="R959969f67b8045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4a539568d44ed" /><Relationship Type="http://schemas.openxmlformats.org/officeDocument/2006/relationships/notesSlide" Target="/ppt/notesSlides/notesSlide12.xml" Id="R87b837e148b64a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d2426d0db04447" /><Relationship Type="http://schemas.openxmlformats.org/officeDocument/2006/relationships/notesSlide" Target="/ppt/notesSlides/notesSlide13.xml" Id="Re2e70f3505c844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1d22fd5cab4f9a" /><Relationship Type="http://schemas.openxmlformats.org/officeDocument/2006/relationships/notesSlide" Target="/ppt/notesSlides/notesSlide14.xml" Id="Rd636db33456143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60e1fcb7b42e3" /><Relationship Type="http://schemas.openxmlformats.org/officeDocument/2006/relationships/notesSlide" Target="/ppt/notesSlides/notesSlide15.xml" Id="R8deb72f5928c45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3E07AA-7A9E-4944-8635-7AC50634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9AFFC17-13BC-4A00-A2D6-BA4004AD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B06A4CA6-4D4A-4102-875E-C16D41F2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02079299-2819-4968-AE0E-3180A3E4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F7FBEDB3-0FA0-434A-AFD8-833D5160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534316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303F08-BFA0-45FB-BD58-1255693D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75B52EBE-B9B3-4A8E-B85C-433692F9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9E42F3-7605-4D15-9106-53B0B644683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新增问题、历史更新和维护者回复需要反复查看。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正文、评论与状态变化缺少统一的跟踪入口。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容易重复查找与核对。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重要更新可能未能及时跟进。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逐条阅读长正文、多轮评论和错误日志。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重复提取问题现象、环境配置与处理进展。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集中梳理大量问题时耗时明显。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缺陷、文档、咨询和 RFC 混杂在完整列表中。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价值、版本适用性和复现条件需要分别判断。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测试资源难以确定投入顺序。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重要缺陷可能被低相关反馈淹没。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模型、量化、并行方式与软硬件版本组合复杂。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启动参数、触发请求或复现步骤可能缺失。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需要重新翻阅正文与评论补齐参数。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难以判断是否具备开展验证的条件。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分析结论、补测建议与处理进展分散保存。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交接时缺少可直接接续的材料和判断依据。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接手者重复阅读与分析。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典型问题难以积累为后续测试输入。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871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5C5CB5-3BF2-4725-8C30-3AAC09E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3733508-A708-45BD-BB05-BC220D6E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092A9-AECE-4A9C-A43B-9B8761DF45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501ac6ad441f0">
            <a:extLst>
              <a:ext uri="{96DAC541-7B7A-43D3-8B79-37D633B846F1}">
                <asvg:svgBlip xmlns:asvg="http://schemas.microsoft.com/office/drawing/2016/SVG/main" r:embed="Re5f71812016940eb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5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5B0C30-55DD-4872-AAE8-ED04C064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CB034AB-8B3E-4CBD-8B08-04E2D820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3AB45-80C0-45F0-A9B1-9B2D7527F9A4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集中维护问题列表，持续同步新增和历史更新。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统一仓库、时间和状态口径，支持全量核对。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社区字段更新时保留本地人工分析。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同口径核对问题数量并抽查具体条目。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检查历史更新是否跟进。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确认人工结论未被同步覆盖。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集中展示原文与评论，减少跨页面查找。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辅助归纳摘要与补测建议，支持批量处理。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人员核对和修正后使用结果。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对比相近复杂度问题的人工总耗时。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包括查找、阅读、审核与修正。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同时记录错误与返工情况。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按时间、状态、标签和版本收敛范围。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结合价值与复现条件形成优先处理候选。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保留完整列表，人工复查重要遗漏。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抽查筛选结果之外的重要问题。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观察筛选准备时间与判断分歧。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辅助提取模型配置、硬件环境和软件版本。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整理触发条件、预期结果和已知错误现象。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明确缺失信息，实际复现仍由测试人员执行。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检查关键参数与待确认项是否清楚。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由测试人员评估材料能否用于验证。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不能将材料生成等同于复现成功。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提高分析材料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将人工结论、补测建议和进展保存在台账。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支持按专题整理与导出，便于评审交接。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关联来源问题，积累典型测试场景。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检查接手者能否继续分析而非重做。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记录材料在同类问题中的实际使用。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跟踪与测试验证记录的关联。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771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8E5C7-6551-4A4E-B5B1-AA6EE5E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根因确认：初步因果关联矩阵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27329B20-2539-4CD3-B6DB-5C5764F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强、中、弱表示现有材料下的关联假设，用于选择优先核验的原因。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此矩阵没有使用实测权重，不能直接作为根因已确认或改进效果已达成的证明。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8453C-B2C3-44A0-92EA-64FFC9247ED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095500"/>
                <a:gridCol w="2095500"/>
                <a:gridCol w="2095500"/>
                <a:gridCol w="2095500"/>
                <a:gridCol w="2095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原因候选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人工投入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重点筛选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经验复用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缺少持续同步与统一入口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正文评论归纳依赖人工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缺少统一评价筛选口径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缺少结构化复现材料模板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分析结论分散存放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325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0862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442D53-2AD5-425E-B712-AB40494E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根因确认：主因候选及其验证办法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DDE5438-0AAC-44CB-8FBD-BB9E1E9F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将原因归并为三组主因候选，分别检查它们如何造成重复工作、材料缺失或筛选分歧。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确认主因需要过程记录及针对性调整后的证据，目前保留为待验证假设。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0B2A1-7FEB-4E5E-8BF2-154E0DF3D2B9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6477000"/>
                <a:gridCol w="6477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主因候选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影响机制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验证办法与需要保留的证据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统一载体不足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问题获取、状态跟踪和分析结论缺少统一入口。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人员在不同页面或材料间切换，重复收集信息。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交接时难以查找此前结论及其依据。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走查一次专项分析和交接的完整过程。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记录查找入口、重复收集步骤和结论查找时间。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比较采用统一台账前后的工作方式与遗漏情况。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人工归纳与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配置提取依赖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长正文和多轮评论需要人工逐条整理。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缺少固定的复现材料检查项，关键参数容易遗漏。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同类问题仍需重复阅读、摘录与补采。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选取相近复杂度、信息完整度不同的样本。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记录阅读、提取、审核和修正的分环节耗时。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检查环境配置、触发条件及缺失项是否完整。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评价筛选口径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不统一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对价值、版本适用性和复现难度缺少共同标准。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不同人员可能给出不同的优先级和测试建议。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重要但信息不足的问题容易过早排除。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多人独立评审同一批问题并记录分歧。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比较候选有效性，抽查筛选之外的重要问题。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统一评价口径后，在另一批样本上复评。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812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4012EA-DFBF-42E5-BF8A-9167D722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2D764DD2-2768-4E7E-BDE4-F1C2BA8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8BCD7-09AD-4178-84E5-00F5978DCD3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全量同步与增量更新结合，提供手动校准入口。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统一仓库、时间和状态口径，集中查看问题。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分别维护社区信息与本地人工分析。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持续更新的问题台账。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可核对的专项清单。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历史更新与人工分析记录。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集中提供正文、评论和已有分析作为上下文。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辅助归纳，支持选中问题和筛选范围批量处理。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人员审核、修正并决定是否采纳建议。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批量任务进度与失败项。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人工审核后的分析结果。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按日期、状态、标签和版本缩小分析范围。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结合价值与复现条件形成候选排序。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过滤文档、RFC 等类型时保留完整列表供复查。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重点验证候选及筛选依据。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人工补充的价值判断。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重要遗漏的复查记录。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按模型、配置、环境和触发场景整理补测材料。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明确哪些参数来自原文，哪些信息尚未提供。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测试人员补齐条件后执行验证并记录结果。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模型与软硬件配置清单。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复现场景及缺失参数。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后续验证动作与结果记录。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集中保存分析结论、补测建议与处理进展。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支持按专题整理、导出和交接。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在测试材料中保留来源 Issue 及判断依据。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专题评审与交接材料。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典型场景及其来源记录。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076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D4B122-0CC9-482A-B367-46FC8F03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ECD5B33-F2CD-49F4-B3A0-B2DF4C5B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815A295C-BB58-48B5-8318-B17CA5BB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D0D2CAFE-9687-46E8-952D-2867E2AD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516B48BA-8D35-4F9A-8378-0A773D67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CFDB29C5-7F3E-4898-BB26-185EF529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5D597ECE-561C-465B-95EF-94292E66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39F39F64-0B36-46BD-9770-D01CDE86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8C37AA7B-3DE6-4D05-938F-4F9B4C44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00FDA79E-F2B5-4092-9C65-6ECE84CD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63708F90-F851-48D7-8B46-74165B8C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4D22DBA9-77D7-4E3A-A392-1A4352D8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A914C32D-7C2B-453C-A19A-3A8B3CAD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62A02314-DE19-4C07-8C02-15DDC0E0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20966143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010705-4DF6-4622-A34D-F76ABEA5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C23216B1-D1FD-4BD4-A971-B103E400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E0806953-A075-4856-AA8E-8D67E6AB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CA48529D-F9D1-4B44-BC5E-F2C91DC6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00A0F6F9-57B0-47B4-AC94-2EC6637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E7270345-4946-482E-8385-604CD0C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1814F652-9469-4120-BF46-337D14E9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9F0A8D21-5B21-4FB6-A044-F44B087F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5E482DA4-4267-45E8-9DDB-3A6B7B89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2A0D1486-3EBC-459B-A345-E7F95AEA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BE2F4859-2FC7-4D9F-8E69-40BA4332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25E24D1A-F1D4-4368-972E-2EE8E10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15B0F841-9904-47B2-BFE3-67ADBEEA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1D27D041-7FB0-46ED-A609-597C2D6D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1703693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EF4ED-8EF2-4AEE-A176-45C04567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95D5E61-9A16-47B3-BDD2-A974EBC9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1FA56AAC-8B73-432F-8F1D-4CA56C70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550294EB-97AC-417B-A5D5-BDEA1171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7EA8B76E-31D3-47D9-A148-DC77C62C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76F597DB-E9EB-46B7-8889-5B563941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FBA3BF4F-7655-432F-B5C5-777F5CA6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705C08D1-478A-45EC-8333-207D0BF3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2064ED5A-DFA0-45E1-88F1-5ACAD08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3379F4C6-3B3A-481B-983D-6AFF8A58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D9F10A5F-172C-42F1-AFB5-96A79CA5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5928A5A3-1F3D-4F5B-BAE8-4FC9CE56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A4F321E4-D7C2-4B81-9B9B-6712FE17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F867930C-D973-4027-8912-5F5B8BA9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17925263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137A99-9846-4635-B361-C016B14E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CFEB77E6-D0A5-41AD-BA11-F115E37E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F8E43CCA-039D-48A4-90E6-70AD53D2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FE0CE91C-4523-4FB9-86F4-43277C1A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D88DB361-7706-4221-A00C-BC74E474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6EF33C48-9ED4-40E7-95FF-65478B4F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E7ADE6FA-1BC0-4EF0-8BAD-B85D8B56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85D5CAE2-9C4F-4507-8E31-C9BEA256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A7D8FCBF-100C-4325-95CD-127B3AD5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3C0718E9-F088-46EA-A73C-677C7B6C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C370B0A2-5921-4AFF-95F8-0BB1B8AA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4526DBCC-1104-49B1-B9BA-95E8D959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76349579-B9FA-4264-BA3C-5F09966A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69E5A1CD-D068-4109-B4F5-0C663B8F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15584224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7DABB5-9854-4A02-8B49-4EFAE6B9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实施示例：从复杂反馈整理出验证准备材料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39A98EEF-93E0-4BF8-B07F-0C15F286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以前述 Kimi decode 崩溃反馈为例，说明系统如何辅助整理信息，以及测试人员还需要完成哪些工作。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本例不代表问题已成功复现，也不代表已确认 CANN 侧根因。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16338-A430-4A7E-919F-B5D68014FD10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12573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已有信息与后续处理方式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报告者提供的环境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800I A3、CANN 9.2.0，模型为 Kimi-K3 W4A8，使用 TP16 加 EP。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将这些配置保留为报告者提供的信息，核对具体软件版本和完整启动参数。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触发场景与错误现象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 prefill 正常，decode 阶段出现 keyRope 视图偏移非法错误。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整理日志、执行模式及对照结果，帮助测试人员确定优先验证的阶段。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仍需补齐的复现条件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核对模型来源、完整启动命令、请求内容、并发和输入长度等材料是否齐全。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未提供的参数明确标为待确认，不能让模型自行补造。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测试人员执行的验证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在可用的对应环境中执行请求，记录是否复现、报错位置及环境差异。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必要时对照 eager、图模式和不同软件环境，并记录每次实际结果。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结论与使用边界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偏移溢出属于待确认假设，需要可靠资料、算子检查或对照实验支持。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系统提供整理后的验证输入，实际复现、根因确认和用例转化依赖后续工作。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6763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FAB3AE-C835-4371-A320-C25227F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效果确认：逐项目标检查是否取得实际改善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84B8AA3-A70A-4B49-A9BF-0E1A260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截图可以展示功能与使用过程，但不能单独证明节省了多少人工或提高了多少质量。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以下列出需要补充的效果证据，当前没有前后对比数据的项目均保留“待确认”。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11493-17D2-41C0-BC9E-5AAC1CB3F38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10500"/>
                <a:gridCol w="5143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效果确认方法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当前结论与所需材料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同口径核对数量并抽查具体问题。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检查新增获取、历史更新和人工分析保留情况。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补充核对清单、漏项抽查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和历史更新检查记录。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对相近复杂度样本比较人工总耗时。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包含查找、阅读、提取、审核、修正与重试。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补充纯人工基线与辅助流程工时，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同时统计错误与返工成本。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抽查被筛问题中的重要遗漏和评审分歧。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补充候选评审、遗漏复查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和筛选准备耗时记录。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检查模型配置、环境、触发条件和缺失信息。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由测试人员反馈材料是否支持开展验证。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补充参数完整性检查，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记录补采情况及实际执行反馈。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检查分析能否接续、交接是否减少重复工作。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跟踪典型材料在其他问题或测试中的实际使用。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补充交接使用、重复工作变化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和材料复用关联记录。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589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420D5C-2255-4483-B474-5E533C9F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效果确认：建立可重复的基线与对照评价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6C7E0FC-254D-466A-BAE4-592DA39F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采用一致的样本范围和评价口径，避免只展示容易处理的问题或只统计模型输出。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具体比例阈值在第一轮基线后评审确定，后续用新样本验证规则调整是否有效。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BB8E6-D440-4D5E-8929-BB31DD2F215D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  <a:gridCol w="5429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具体实施方式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选取代表性样本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统一仓库、时间范围和样本复杂度，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避免只选择短正文或容易判断的问题。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样本清单、数量和选取规则。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参与人员与执行时间。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问题类型和材料复杂度说明。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记录纯人工基线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按原有方式完成查找、阅读与资料整理。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分别记录各环节耗时及缺失参数，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检查原有交接是否需要重复收集信息。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配置与触发条件检查结果。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原有交接过程和重复工作记录。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执行辅助流程并审核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通过台账、筛选与 AI 建议辅助处理。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人员核对、修正并补齐材料，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同时抽查候选和筛选之外的重要问题。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人工总耗时与审核修正情况。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候选有效性和重要遗漏。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失败重试、补采和实际使用反馈。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判断达成情况并复评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按各项目标比较基线与对照结果。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未改善时回看材料、规则或使用方式，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调整后用另一批样本再次评价。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目标达成结论及其依据。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尚未解决的问题与改进措施。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新一轮样本的复评结果。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85677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005FE7-C72C-4BFF-92BE-382E99B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61DC1B5-8343-4A58-8443-6088829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60797B4B-4C6E-4169-91CA-F9A0A45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66187EE6-C21F-4BE3-97DF-D2170DC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560E7BA8-CAF1-4E50-89E7-2C643125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EA7D5C85-9875-49A2-919E-B464EFD9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601C84F1-E393-4B84-9EDD-2CC787F9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361506F7-944B-4839-A59B-F95AE208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DF0DB7ED-04BC-4D1F-8BC5-DEF0AE9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645ACE10-5ADD-456D-A535-FD9AC977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143347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2026-10-28T03:29:49.8940000Z</dcterms:created>
  <dcterms:modified xsi:type="dcterms:W3CDTF">2026-10-28T03:29:49.8940000Z</dcterms:modified>
</coreProperties>
</file>