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90812f47364f20" /><Relationship Type="http://schemas.openxmlformats.org/officeDocument/2006/relationships/extended-properties" Target="/docProps/app.xml" Id="R4e5b6edbb3c647a7" /><Relationship Type="http://schemas.openxmlformats.org/officeDocument/2006/relationships/officeDocument" Target="/ppt/presentation.xml" Id="R53401288f000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c9548a9ad46f9"/>
  </p:sldMasterIdLst>
  <p:notesMasterIdLst>
    <p:notesMasterId xmlns:r="http://schemas.openxmlformats.org/officeDocument/2006/relationships" r:id="R0ea69ff91c094d2a"/>
  </p:notesMasterIdLst>
  <p:sldIdLst>
    <p:sldId xmlns:r="http://schemas.openxmlformats.org/officeDocument/2006/relationships" id="256" r:id="R2b660bd6fe3844b9"/>
    <p:sldId xmlns:r="http://schemas.openxmlformats.org/officeDocument/2006/relationships" id="257" r:id="R9417cbec8a574c9e"/>
    <p:sldId xmlns:r="http://schemas.openxmlformats.org/officeDocument/2006/relationships" id="258" r:id="R02e0b9b0ad1746b1"/>
    <p:sldId xmlns:r="http://schemas.openxmlformats.org/officeDocument/2006/relationships" id="259" r:id="R0f4b78aa013f498f"/>
    <p:sldId xmlns:r="http://schemas.openxmlformats.org/officeDocument/2006/relationships" id="260" r:id="Raa3a24082e54457b"/>
    <p:sldId xmlns:r="http://schemas.openxmlformats.org/officeDocument/2006/relationships" id="261" r:id="Ra509829abdd7422c"/>
    <p:sldId xmlns:r="http://schemas.openxmlformats.org/officeDocument/2006/relationships" id="262" r:id="Rc6adcaf5dffa4a35"/>
    <p:sldId xmlns:r="http://schemas.openxmlformats.org/officeDocument/2006/relationships" id="263" r:id="R3ff1740251d94c68"/>
    <p:sldId xmlns:r="http://schemas.openxmlformats.org/officeDocument/2006/relationships" id="264" r:id="Raec6b2b575264b95"/>
    <p:sldId xmlns:r="http://schemas.openxmlformats.org/officeDocument/2006/relationships" id="265" r:id="R31db95d815ab41c9"/>
    <p:sldId xmlns:r="http://schemas.openxmlformats.org/officeDocument/2006/relationships" id="266" r:id="Re1348fc1d49c4cc2"/>
    <p:sldId xmlns:r="http://schemas.openxmlformats.org/officeDocument/2006/relationships" id="267" r:id="Rd167fcf43a5f44ec"/>
    <p:sldId xmlns:r="http://schemas.openxmlformats.org/officeDocument/2006/relationships" id="268" r:id="R45c7a921c1174738"/>
    <p:sldId xmlns:r="http://schemas.openxmlformats.org/officeDocument/2006/relationships" id="269" r:id="R581d7c963b9647d7"/>
    <p:sldId xmlns:r="http://schemas.openxmlformats.org/officeDocument/2006/relationships" id="270" r:id="R80400a7f11964d1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43cf4125e45cd" /><Relationship Type="http://schemas.openxmlformats.org/officeDocument/2006/relationships/slideMaster" Target="/ppt/slideMasters/slideMaster1.xml" Id="Rbffc9548a9ad46f9" /><Relationship Type="http://schemas.openxmlformats.org/officeDocument/2006/relationships/notesMaster" Target="/ppt/notesMasters/notesMaster1.xml" Id="R0ea69ff91c094d2a" /><Relationship Type="http://schemas.openxmlformats.org/officeDocument/2006/relationships/presProps" Target="/ppt/presProps.xml" Id="R3603031da02d41bb" /><Relationship Type="http://schemas.openxmlformats.org/officeDocument/2006/relationships/tableStyles" Target="/ppt/tableStyles.xml" Id="Re9143e77e81c4198" /><Relationship Type="http://schemas.openxmlformats.org/officeDocument/2006/relationships/slide" Target="/ppt/slides/slide1.xml" Id="R2b660bd6fe3844b9" /><Relationship Type="http://schemas.openxmlformats.org/officeDocument/2006/relationships/slide" Target="/ppt/slides/slide2.xml" Id="R9417cbec8a574c9e" /><Relationship Type="http://schemas.openxmlformats.org/officeDocument/2006/relationships/slide" Target="/ppt/slides/slide3.xml" Id="R02e0b9b0ad1746b1" /><Relationship Type="http://schemas.openxmlformats.org/officeDocument/2006/relationships/slide" Target="/ppt/slides/slide4.xml" Id="R0f4b78aa013f498f" /><Relationship Type="http://schemas.openxmlformats.org/officeDocument/2006/relationships/slide" Target="/ppt/slides/slide5.xml" Id="Raa3a24082e54457b" /><Relationship Type="http://schemas.openxmlformats.org/officeDocument/2006/relationships/slide" Target="/ppt/slides/slide6.xml" Id="Ra509829abdd7422c" /><Relationship Type="http://schemas.openxmlformats.org/officeDocument/2006/relationships/slide" Target="/ppt/slides/slide7.xml" Id="Rc6adcaf5dffa4a35" /><Relationship Type="http://schemas.openxmlformats.org/officeDocument/2006/relationships/slide" Target="/ppt/slides/slide8.xml" Id="R3ff1740251d94c68" /><Relationship Type="http://schemas.openxmlformats.org/officeDocument/2006/relationships/slide" Target="/ppt/slides/slide9.xml" Id="Raec6b2b575264b95" /><Relationship Type="http://schemas.openxmlformats.org/officeDocument/2006/relationships/slide" Target="/ppt/slides/slide10.xml" Id="R31db95d815ab41c9" /><Relationship Type="http://schemas.openxmlformats.org/officeDocument/2006/relationships/slide" Target="/ppt/slides/slide11.xml" Id="Re1348fc1d49c4cc2" /><Relationship Type="http://schemas.openxmlformats.org/officeDocument/2006/relationships/slide" Target="/ppt/slides/slide12.xml" Id="Rd167fcf43a5f44ec" /><Relationship Type="http://schemas.openxmlformats.org/officeDocument/2006/relationships/slide" Target="/ppt/slides/slide13.xml" Id="R45c7a921c1174738" /><Relationship Type="http://schemas.openxmlformats.org/officeDocument/2006/relationships/slide" Target="/ppt/slides/slide14.xml" Id="R581d7c963b9647d7" /><Relationship Type="http://schemas.openxmlformats.org/officeDocument/2006/relationships/slide" Target="/ppt/slides/slide15.xml" Id="R80400a7f1196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ad31e99e78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293f1fdfe4a81" /><Relationship Type="http://schemas.openxmlformats.org/officeDocument/2006/relationships/notesMaster" Target="/ppt/notesMasters/notesMaster1.xml" Id="R66abdb45c6ac47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bb48dc10f1455d" /><Relationship Type="http://schemas.openxmlformats.org/officeDocument/2006/relationships/notesMaster" Target="/ppt/notesMasters/notesMaster1.xml" Id="Rcae64c6fee1b4e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747871f024c6c" /><Relationship Type="http://schemas.openxmlformats.org/officeDocument/2006/relationships/notesMaster" Target="/ppt/notesMasters/notesMaster1.xml" Id="Rbb08580ec04f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f73ed103394026" /><Relationship Type="http://schemas.openxmlformats.org/officeDocument/2006/relationships/notesMaster" Target="/ppt/notesMasters/notesMaster1.xml" Id="R917118ee3bd8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1b4efe3eab4022" /><Relationship Type="http://schemas.openxmlformats.org/officeDocument/2006/relationships/notesMaster" Target="/ppt/notesMasters/notesMaster1.xml" Id="Re1d640b5ae454b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4a43c9b1a54f4d" /><Relationship Type="http://schemas.openxmlformats.org/officeDocument/2006/relationships/notesMaster" Target="/ppt/notesMasters/notesMaster1.xml" Id="Rcc3f0f67d05a44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9635bbc9749e2" /><Relationship Type="http://schemas.openxmlformats.org/officeDocument/2006/relationships/notesMaster" Target="/ppt/notesMasters/notesMaster1.xml" Id="Reb8b753ba83d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9bbe3f376c4f3a" /><Relationship Type="http://schemas.openxmlformats.org/officeDocument/2006/relationships/notesMaster" Target="/ppt/notesMasters/notesMaster1.xml" Id="R9cac5438547741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baae85b4d41c5" /><Relationship Type="http://schemas.openxmlformats.org/officeDocument/2006/relationships/notesMaster" Target="/ppt/notesMasters/notesMaster1.xml" Id="R2c8d980a4b24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276c4ca37840dc" /><Relationship Type="http://schemas.openxmlformats.org/officeDocument/2006/relationships/notesMaster" Target="/ppt/notesMasters/notesMaster1.xml" Id="R13c81732d0224c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bd610d0b054aed" /><Relationship Type="http://schemas.openxmlformats.org/officeDocument/2006/relationships/notesMaster" Target="/ppt/notesMasters/notesMaster1.xml" Id="Rf37e2759963740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82d8ef5e44810" /><Relationship Type="http://schemas.openxmlformats.org/officeDocument/2006/relationships/notesMaster" Target="/ppt/notesMasters/notesMaster1.xml" Id="R3720d00bb18a4f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3e53692dd6407b" /><Relationship Type="http://schemas.openxmlformats.org/officeDocument/2006/relationships/notesMaster" Target="/ppt/notesMasters/notesMaster1.xml" Id="Rd38cd2f23c414d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2d76ba0fa14e7c" /><Relationship Type="http://schemas.openxmlformats.org/officeDocument/2006/relationships/notesMaster" Target="/ppt/notesMasters/notesMaster1.xml" Id="R3b252aba44f946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1366bb621c4adc" /><Relationship Type="http://schemas.openxmlformats.org/officeDocument/2006/relationships/notesMaster" Target="/ppt/notesMasters/notesMaster1.xml" Id="R5899af6fc16e48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项目改进汇报（25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各位好，今天汇报 issue-tracker 项目围绕社区问题管理和测试分析所做的改进设计。我们按照七个环节展开：先调查现状与痛点，再分析可能原因、设定目标和确认主因，然后拟定对策、安排实施，最后检查是否达到目标。整份汇报始终围绕一个问题：怎样让社区反馈更高效地进入分析与测试工作，并让分析经验持续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现状调查：五项主要痛点（70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结合项目需求和此前使用反馈，我们把现状归纳为五项痛点。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 是持续跟踪困难。问题不断新增和更新，历史评论、状态变化和关键材料分散，人工跟进容易反复查找。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 是人工整理投入大。长篇正文、英文内容和多轮评论需要逐条阅读，分析人员花了较多精力提取环境、现象和处理进展。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P3 是重点问题筛选难。缺陷、文档、咨询和 RFC 混在一起，问题价值及复现条件需要分别判断，影响测试资源分配。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P4 是复现材料不完整。模型、量化、并行、硬件和版本等参数复杂，缺失项不明确时，准备测试仍需重新整理。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P5 是分析经验难复用。结论和补测建议分散，团队交接与同类问题分析容易重复投入。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这些是目前需要验证的主要现状，后续还要补充数量、耗时和缺失项等基线数据。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根因分析：鱼骨图展开潜在因素（50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鱼骨图把影响因素分为信息获取、分析方法、环境配置、人员协作、工作流程和知识沉淀六个方面。例如，信息获取涉及人工跟进和正文评论分散，分析方法涉及统一标准和重复整理，环境配置涉及模型与软硬件组合。协作、流程和沉淀则影响交接、批量处理和经验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鱼骨图的作用是完整展开可能原因，帮助后续选取重点。图中每个分支都是原因假设，需要继续核查，不能仅凭分类就认定根因。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目标设定：让每项痛点都有验收依据（55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针对五项痛点，分别设定目标。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 对应持续跟踪：在相同仓库、相同时间和筛选范围下，问题数量核对一致，抽查不出现漏项。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T2 对应人工投入：在相近复杂度样本上，辅助分析后的人工总耗时低于纯人工基线，时间包含审核与修正。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T3 对应重点筛选：提高候选清单的有效性，同时抽查被筛掉的问题，关注重要问题遗漏。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T4 对应复现准备：统一列出关键配置、触发条件和信息缺口，使测试人员能够判断是否具备验证条件。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T5 对应经验复用：保留分析结论与处理进展，支持接续分析和典型测试场景复用。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这里给出的是目标和验收口径。具体比例阈值，需要在取得第一轮基线后评审确定。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根因确认：初步因果关联矩阵（70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鱼骨图展开因素之后，我们用因果矩阵把原因和痛点联系起来。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矩阵中的五个原因分别是：缺少持续同步与统一入口、正文评论归纳依赖人工、缺少统一筛选评价口径、缺少结构化复现材料模板，以及分析结论分散存放。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列方向对应 P1 到 P5，单元格用强、中、弱表示初步关联判断。例如，人工归纳与 P2 人工投入大的关联最直接，复现模板缺失与 P4 材料不完整的关联最直接，结论分散与 P5 经验难复用的关联最直接。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这张矩阵目前不使用人为编造的权重、打分或完成率。它帮助确定优先验证的方向，仍需用工作流程走查、样本检查和工时记录检验判断。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根因确认：三项主因候选与验证办法（60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基于矩阵，我们将重点确认的主因归为三组。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M1 是信息管理和结论沉淀缺少统一载体，对应跟踪和复用问题。验证时，抽查一次专项分析和交接，记录查找入口、重复收集以及结论定位的情况。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M2 是内容归纳和复现材料提取依赖人工，对应人工投入和测试准备问题。验证时，选取相近复杂度的 Issue，分别记录阅读、提取、审核和修正耗时，并检查关键参数缺失项。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M3 是价值与复现性评价缺少统一口径，对应重点筛选问题。验证时，由分析人员独立评审同一批样本，比较候选有效性和分歧，再检查筛选规则的影响。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只有观察到相应机制，并且针对性调整后结果发生改善，才能进一步支持主因判断。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拟定对策：五项痛点分别对应措施（80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围绕五项痛点，提出五组对策。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 用全量和增量同步、手动校准以及统一台账，应对持续跟踪困难，解决反复查找和核对的问题。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 用 AI 归纳和可批量执行的分析任务，应对人工整理投入大。AI 提取摘要、现象、配置和建议，人员审核后采纳。对策是否有效，要看包含审核修正在内的人工总投入。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D3 用多维筛选、统一价值与复现性口径、候选排序及人工复查，应对重点问题筛选难，帮助集中验证资源。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D4 用模型、软硬件、触发场景和断言等结构化材料，以及待确认参数清单，应对复现材料不完整。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D5 用人工分析记录、处理状态、评审导出和典型场景积累，应对经验难复用，支持交接与后续测试工作。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这些措施分别有明确的服务对象，也能够逐项检查效果。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对策实施：持续同步与统一台账（70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 的实施围绕数据和使用入口展开。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先明确统计范围，核对仓库、时间、状态及是否排除 PR，避免不同口径导致数量不一致。随后用首次全量同步获取问题，日常通过默认每 15 分钟的增量同步跟进变化，并用手动全量校准核对历史数据。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社区侧字段与本地人工分析分别维护，使信息更新后仍能保留分析积累。使用中通过日期、标签、版本和分析字段收敛专项范围，并导出需要评审的问题清单。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实施产出包括可持续维护的问题台账、专项清单和核对记录。效果确认关注抽查漏项、更新及时性以及人工资料整理投入，而不是仅看同步任务是否结束。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与批量任务减少人工整理（75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 的直接出发点是人工阅读和资料提取投入较大。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实施时先提供正文、评论和已有分析作为上下文，要求模型按统一字段整理摘要、价值、现象、可能根因和补充测试，区分事实、推测与缺失信息。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对于一批问题，可以选中指定 Issue，也可以按筛选结果创建任务，结合并发、进度、失败重试和恢复支持集中处理。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建议生成后，由人员核对重要参数和原文证据，决定采纳或修正。漏测原因结合实际测试覆盖由人工判断。AI 目前仍需持续评估，不能仅因模型有输出，就认定减少了人工投入。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因此，效果统计要记录从阅读到审核修正的总耗时，同时记录建议采纳质量和错误类型。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对策实施：重点筛选与复现材料整理（65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D3 和 D4 联合服务于测试资源选择与准备。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筛选时先按日期、状态、标签和版本确定范围，再结合价值和复现性形成候选清单。优先处理视图保留复现性与价值为高或中的问题，并排除文档、RFC 等类型。高价值但信息不足的问题仍需回到完整列表复查。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准备复现时，按模板整理模型、量化、TP/PP/EP、A2/A3/A5 环境、软件版本和触发请求，再明确预期结果和断言。原文没有提供的内容标为待确认，不能补造参数。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实施产出是重点候选、复现材料和待补信息清单，最终由人员和实际环境验证可执行性。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对策实施：记录沉淀与协作复用（55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D5 针对结论分散和交接重复投入。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实施时统一记录问题识别、分析结论、补测建议、版本支持和处理进展。分析人员可以查看已有结论，按需要继续补充，并通过筛选导出支持专项评审和团队交接。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对于有代表性的问题，再整理典型配置、复现条件和验证结果。需要形成回归测试时，关联来源 Issue、最小用例及评审记录，便于后续追溯和复用。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效果既要看是否记录，也要看记录能否帮助接手者继续工作，以及是否被同类问题分析或测试用例再次使用。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实施示例：复杂反馈怎样形成验证材料（50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以此前提供的 Kimi 模型 decode 崩溃反馈为例。报告者提供了 A3、CANN 9.2.0、Kimi-K3 W4A8 和 TP16 加 EP 等条件，并描述 prefill 正常、decode 出现 keyRope 偏移错误。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对策实施需要把环境配置、观察现象和验证动作分别整理出来。报告者提出的整数溢出属于待核实假设，不能写成已经确认的根因。随后补齐参数，在相应环境中进行 decode 与执行模式对照验证。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这个例子展示的是材料整理和人工审核的作用，实际复现、根因确认和回归用例结果仍需实验记录支持。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效果确认：逐项检查目标是否达成（75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效果确认必须回到 T1 到 T5，而不是只列功能。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 用同口径数量核对和漏项抽查检查持续跟踪。T2 用相近复杂度样本，对比纯人工与辅助后的总处理耗时。T3 同时评审候选有效性和被筛问题中的重要遗漏。T4 检查关键参数完整性、缺口识别及测试人员实际执行反馈。T5 检查记录完整性、交接使用和典型材料复用情况。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当前材料没有提供统一的前后对比统计，因此这些业务目标的达成情况应写为待确认。我们可以展示解决方案和操作记录，但暂不能用它们替代实际收益结论。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这一页要回答的是：每个目标需要什么证据，证据是否齐全，以及下一轮如何得到可以下结论的结果。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效果确认：建立可重复的评价过程（40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建议选择一组代表样本，先记录人工基线，再用相近复杂度样本执行辅助流程，最后由人员审核并统计结果。样本需要覆盖缺陷、咨询、文档以及信息充分和不足的情况，避免只选择容易处理的案例。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同时记录审核修正耗时、失败和重试成本。对未达到目标的环节，回看材料、规则和实施方式，再进行调整和复评，使效果确认能够重复开展。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总结（30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本次改进以五项痛点为起点，通过鱼骨图和因果矩阵形成主因候选，再用五组对策分别应对。AI 分析服务于降低人工整理投入，统一台账、重点筛选、复现模板和记录沉淀则共同支撑问题管理与测试工作。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项目效果最终通过目标达成证据确认。我们将持续跟踪、分析质量和测试材料复用放在同一条改进链条中，用实际工作结果指导方案优化。谢谢大家。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来源：docs/issue-tracker项目改进汇报-七步法讲稿.md。现状来自需求与反馈，因果矩阵为定性假设，效果需实际统计确认。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0da21fe7947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973aac96344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c197bad9e45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06a5b666c4f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6d2af8ae040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566bc4f364e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4e894ad63b4211" /><Relationship Type="http://schemas.openxmlformats.org/officeDocument/2006/relationships/slideLayout" Target="/ppt/slideLayouts/slideLayout1.xml" Id="R78a9daab3a6b4605" /><Relationship Type="http://schemas.openxmlformats.org/officeDocument/2006/relationships/slideLayout" Target="/ppt/slideLayouts/slideLayout2.xml" Id="R61e231ff86574e99" /><Relationship Type="http://schemas.openxmlformats.org/officeDocument/2006/relationships/slideLayout" Target="/ppt/slideLayouts/slideLayout3.xml" Id="R88caca40e001423c" /><Relationship Type="http://schemas.openxmlformats.org/officeDocument/2006/relationships/slideLayout" Target="/ppt/slideLayouts/slideLayout4.xml" Id="R3c8c7c111baa482c" /><Relationship Type="http://schemas.openxmlformats.org/officeDocument/2006/relationships/slideLayout" Target="/ppt/slideLayouts/slideLayout5.xml" Id="Ra16770aff4f94209" /><Relationship Type="http://schemas.openxmlformats.org/officeDocument/2006/relationships/slideLayout" Target="/ppt/slideLayouts/slideLayout6.xml" Id="R36baf8498ac941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9daab3a6b4605"/>
    <p:sldLayoutId xmlns:r="http://schemas.openxmlformats.org/officeDocument/2006/relationships" id="2147483650" r:id="R61e231ff86574e99"/>
    <p:sldLayoutId xmlns:r="http://schemas.openxmlformats.org/officeDocument/2006/relationships" id="2147483651" r:id="R88caca40e001423c"/>
    <p:sldLayoutId xmlns:r="http://schemas.openxmlformats.org/officeDocument/2006/relationships" id="2147483652" r:id="R3c8c7c111baa482c"/>
    <p:sldLayoutId xmlns:r="http://schemas.openxmlformats.org/officeDocument/2006/relationships" id="2147483653" r:id="Ra16770aff4f94209"/>
    <p:sldLayoutId xmlns:r="http://schemas.openxmlformats.org/officeDocument/2006/relationships" id="2147483654" r:id="R36baf8498ac941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bead498214b14" /><Relationship Type="http://schemas.openxmlformats.org/officeDocument/2006/relationships/notesSlide" Target="/ppt/notesSlides/notesSlide1.xml" Id="Ra28c96f91a17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24c823d264a3d" /><Relationship Type="http://schemas.openxmlformats.org/officeDocument/2006/relationships/notesSlide" Target="/ppt/notesSlides/notesSlide2.xml" Id="R38cfeab5729f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d294d0b0f4544" /><Relationship Type="http://schemas.openxmlformats.org/officeDocument/2006/relationships/image" Target="/ppt/media/image.png" Id="R33eea25c10cf44e2" /><Relationship Type="http://schemas.openxmlformats.org/officeDocument/2006/relationships/notesSlide" Target="/ppt/notesSlides/notesSlide3.xml" Id="R3751ebacbee941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def4b31b7476b" /><Relationship Type="http://schemas.openxmlformats.org/officeDocument/2006/relationships/notesSlide" Target="/ppt/notesSlides/notesSlide4.xml" Id="Ra9aedc6fdeeb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485734ae240b0" /><Relationship Type="http://schemas.openxmlformats.org/officeDocument/2006/relationships/notesSlide" Target="/ppt/notesSlides/notesSlide5.xml" Id="Rfe36c955b7c1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b6d83230c4869" /><Relationship Type="http://schemas.openxmlformats.org/officeDocument/2006/relationships/notesSlide" Target="/ppt/notesSlides/notesSlide6.xml" Id="R727b9cd4e03348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ecf37f0c341e4" /><Relationship Type="http://schemas.openxmlformats.org/officeDocument/2006/relationships/notesSlide" Target="/ppt/notesSlides/notesSlide7.xml" Id="R4439e6ca849e46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0bb359aec40e9" /><Relationship Type="http://schemas.openxmlformats.org/officeDocument/2006/relationships/notesSlide" Target="/ppt/notesSlides/notesSlide8.xml" Id="Rfe181975e369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48d91c3d54c7f" /><Relationship Type="http://schemas.openxmlformats.org/officeDocument/2006/relationships/notesSlide" Target="/ppt/notesSlides/notesSlide9.xml" Id="R25e88de3005f42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dcb647eea4b1d" /><Relationship Type="http://schemas.openxmlformats.org/officeDocument/2006/relationships/notesSlide" Target="/ppt/notesSlides/notesSlide10.xml" Id="R1035045d4cf9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8a42a5fdb4369" /><Relationship Type="http://schemas.openxmlformats.org/officeDocument/2006/relationships/notesSlide" Target="/ppt/notesSlides/notesSlide11.xml" Id="R5780707015ec4d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ed76a41f5412e" /><Relationship Type="http://schemas.openxmlformats.org/officeDocument/2006/relationships/notesSlide" Target="/ppt/notesSlides/notesSlide12.xml" Id="R22793a0c19ea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76ce3ef2249f3" /><Relationship Type="http://schemas.openxmlformats.org/officeDocument/2006/relationships/notesSlide" Target="/ppt/notesSlides/notesSlide13.xml" Id="R8d5a6535248e46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1f1c748d84124" /><Relationship Type="http://schemas.openxmlformats.org/officeDocument/2006/relationships/notesSlide" Target="/ppt/notesSlides/notesSlide14.xml" Id="R7336f122af1c45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0e3b30d444e84" /><Relationship Type="http://schemas.openxmlformats.org/officeDocument/2006/relationships/notesSlide" Target="/ppt/notesSlides/notesSlide15.xml" Id="R3c81361b5f5d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3C1E6B-C0FF-4F46-9A52-20A2423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44276F-76F0-4284-9899-7ADD282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8954C-946E-41C5-AE83-D38C4F7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CBC280-BBC4-4D3E-9A6A-70CA851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BEA6A7-CF19-464E-A857-A0A930BA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25118D2C-09DC-4EA8-A9DB-D209A33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581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8" name="cover-narrative">
            <a:extLst xmlns:a="http://schemas.openxmlformats.org/drawingml/2006/main">
              <a:ext uri="{FF2B5EF4-FFF2-40B4-BE49-F238E27FC236}">
                <a16:creationId xmlns:a16="http://schemas.microsoft.com/office/drawing/2014/main" id="{A591EE46-BBA7-4A85-8143-F3CD5C1F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1581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现状调查、原因分析、目标与对策效果验证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6300B484-593D-4DCC-98AF-3A70B22E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34325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567097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6C6EA4-7FB9-4DFB-8E2E-1F50EA6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现状调查：五项主要痛点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EA6314-B618-4D36-928E-E468B166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来自项目需求与此前使用反馈，定量基线需要补充调查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B3ED4-F973-4307-B263-37F7515B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E9723B-045B-4070-9073-7151D65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7235A7-205B-4D6C-9D42-B4D0EC5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0311D-99C6-4AB5-8C5E-7C173A892CA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858125"/>
                <a:gridCol w="5143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持续跟踪困难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新增和历史更新需要持续查看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关键材料、评论与状态变化分散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反复查找与核对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存在跟踪遗漏风险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人工整理投入大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长正文和多轮评论依赖人工阅读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需要逐条提取现象、环境与进展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集中梳理耗时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重点问题筛选难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缺陷、文档、咨询与 RFC 混杂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价值和复现条件需要分别判断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测试资源投入难选择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重要问题容易被淹没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复现材料不完整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模型、量化、并行、硬件和版本复杂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缺失参数和触发条件不明确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复现准备需要重新整理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难判断是否具备执行条件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分析经验难复用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结论、补测和处理进展分散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团队交接缺少统一查看入口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重复阅读与重复分析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典型测试场景难积累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0DE7723B-C856-4F33-8625-E9A731D0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调查补充：记录样本范围、查找与阅读耗时、配置缺失项和交接重复工作。</a:t>
            </a:r>
          </a:p>
        </p:txBody>
      </p:sp>
    </p:spTree>
    <p:extLst>
      <p:ext uri="{BB962C8B-B14F-4D97-AF65-F5344CB8AC3E}">
        <p14:creationId xmlns:p14="http://schemas.microsoft.com/office/powerpoint/2010/main" val="668419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29E5C2-F977-4D25-BD7B-F13B944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根因分析：鱼骨图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A14221-38F6-4654-B7AB-514C5C4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从六个方面展开可能原因，为主因确认提供候选因素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C8059-25C5-4622-8E24-9C668E42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6CA10F-480D-410F-8B40-01C15233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224EAF-A277-4944-A9DD-C32E3D8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3FA4-5D2B-458E-BE8A-8A5D9FA31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ea25c10cf44e2"/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476500"/>
            <a:ext cx="17335500" cy="6191250"/>
          </a:xfrm>
          <a:prstGeom xmlns:a="http://schemas.openxmlformats.org/drawingml/2006/main" prst="rect">
            <a:avLst/>
          </a:prstGeom>
        </p:spPr>
      </p:pic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6B06F0A1-0D3F-453C-8AEE-E1259400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鱼骨图展开原因假设，不能替代流程走查、样本核验和实验确认。</a:t>
            </a:r>
          </a:p>
        </p:txBody>
      </p:sp>
    </p:spTree>
    <p:extLst>
      <p:ext uri="{BB962C8B-B14F-4D97-AF65-F5344CB8AC3E}">
        <p14:creationId xmlns:p14="http://schemas.microsoft.com/office/powerpoint/2010/main" val="288312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15B79-44AF-4CD6-A1F7-6DD75DF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目标设定：痛点对应验收依据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40EAA5-339F-49EA-AD01-E316F92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整体目标：持续跟踪社区问题，降低整理投入，支撑测试分析与经验复用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2F422-B58D-4A59-869B-C288F3FD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BD41FD-9C72-451E-B24E-2B3565E8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08414E-6038-4C56-A0BE-772D491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6EDAD-7FB3-4F1B-9101-16AF01C0D0C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6572250"/>
                <a:gridCol w="6429375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对应目标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目标要求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验收口径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跟踪可靠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问题获取与更新有统一范围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支持完整性核对和历史校准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同仓库、同时间、同筛选口径核对一致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抽查无漏项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降低投入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相近复杂度下减少人工整理投入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审核与修正计入人工总耗时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对比纯人工基线与辅助流程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人工总耗时低于基线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聚焦重点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候选清单支持测试投入选择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同时关注重要问题遗漏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评审候选有效性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T4 支持复现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关键配置与触发条件清楚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信息缺口可识别、可补采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按模板检查参数和待确认项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由测试人员判断是否具备验证条件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T5 支持复用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分析结论和进展可接续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典型材料可以再次使用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检查交接使用和材料复用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 Issue 与测试验证记录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DF2A5689-EDE1-4492-8E5F-52E7CDCE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具体比例阈值在取得第一轮基线后评审确定，此处列出目标与验收口径。</a:t>
            </a:r>
          </a:p>
        </p:txBody>
      </p:sp>
    </p:spTree>
    <p:extLst>
      <p:ext uri="{BB962C8B-B14F-4D97-AF65-F5344CB8AC3E}">
        <p14:creationId xmlns:p14="http://schemas.microsoft.com/office/powerpoint/2010/main" val="1454987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34BB98-0A9E-4CC4-BBAE-415EF33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根因确认：初步因果关联矩阵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284138-E318-43B3-9F7B-6981ACB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矩阵为现有材料下的定性判断，强、中、弱表示关联假设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AF025-6115-4B68-833C-43D51C2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CDA46D-90CD-4882-BACB-8748F86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8A9AFC-EF1C-452D-B664-A648CDF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1A04-D8A5-43D2-894F-E04E230C14B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095500"/>
                <a:gridCol w="2095500"/>
                <a:gridCol w="2095500"/>
                <a:gridCol w="2095500"/>
                <a:gridCol w="2095500"/>
              </a:tblGrid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重点筛选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</a:t>
                      </a:r>
                    </a:p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</a:t>
                      </a:r>
                    </a:p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经验复用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缺少持续同步与统一入口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正文评论归纳依赖人工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缺少统一评价筛选口径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C4 缺少结构化复现材料模板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C5 分析结论分散存放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C8932776-6F84-4D88-AFCD-F9466D3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rPr>
              <a:t>不将矩阵当作正式评分或根因证据，优先核验与目标关联直接的因素。</a:t>
            </a:r>
          </a:p>
        </p:txBody>
      </p:sp>
    </p:spTree>
    <p:extLst>
      <p:ext uri="{BB962C8B-B14F-4D97-AF65-F5344CB8AC3E}">
        <p14:creationId xmlns:p14="http://schemas.microsoft.com/office/powerpoint/2010/main" val="1194554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3A484-DA77-4E74-8547-F4C2E5EF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根因确认：主因候选与验证办法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27A772-0A88-4051-B372-3783F3D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将五项原因候选归并为三组主因，逐项检查作用机制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1A244-B823-4B2B-A61C-9539DD2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683F3C-6D8C-4B81-8B65-D098B006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A6E3A5-95E2-43E9-994A-CA21F0E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B5015-6513-48FF-A39D-321721A5A77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572125"/>
                <a:gridCol w="7000875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对应原因与痛点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验证办法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持续同步与入口不足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C5 分析结论分散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P1、P5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走查专项分析与交接过程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记录入口、重复收集和结论查找情况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比较统一台账前后的工作方式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人工归纳与提取依赖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正文评论依赖人工归纳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C4 复现材料缺少模板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P2、P4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选取相近复杂度的 Issue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记录阅读、提取、审核和修正耗时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检查关键配置与信息缺口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评价口径不统一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价值与复现性评价口径不足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P3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同时影响复现准备的判断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多人独立评审同一批样本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比较候选有效性和分歧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抽查筛选遗漏，复评规则调整效果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1F595CA0-8174-45BD-BD80-02FCCCD7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rPr>
              <a:t>当前为主因假设，需结合过程证据和针对性调整后的结果确认。</a:t>
            </a:r>
          </a:p>
        </p:txBody>
      </p:sp>
    </p:spTree>
    <p:extLst>
      <p:ext uri="{BB962C8B-B14F-4D97-AF65-F5344CB8AC3E}">
        <p14:creationId xmlns:p14="http://schemas.microsoft.com/office/powerpoint/2010/main" val="630089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DF37D7-B04B-418D-8E9E-2B7CF0D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拟定对策：每项痛点对应一组措施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6C053A-6B28-4F62-BEEA-D9985BD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用明确的痛点、主因候选和目标组织解决方案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FC4E-3F99-42A2-B156-637FB15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1932EE8-EB4B-4237-B99C-56C3472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C2C32-4B58-4662-A0CD-638E5921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5B152-A438-44EF-89D1-01B10E0395D2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810500"/>
                <a:gridCol w="4381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痛点与主因候选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拟定对策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直接产出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持续跟踪困难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全量、增量同步与手动校准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建立统一台账，明确统计与核对范围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持续维护的问题台账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专项清单与核对记录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人工整理投入大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人工归纳与提取依赖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AI 辅助归纳与批量任务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人员核对原文、修正并采纳建议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待审核的结构化分析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批量任务与审核记录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重点问题筛选难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评价口径不统一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多维筛选与统一评价口径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候选排序结合完整列表人工复查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筛选依据与复查结果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复现材料不完整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M2、M3 共同影响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 结构化整理复现材料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列出配置、触发场景、断言及信息缺口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复现材料模板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待确认参数清单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分析经验难复用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 分析记录、处理状态与评审导出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整理典型问题及测试验证材料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典型场景与复用材料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E1F7E692-77FE-445D-8D5F-730F55F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AI 分析直接服务于降低人工整理投入，其他对策分别改善跟踪、筛选、复现与复用。</a:t>
            </a:r>
          </a:p>
        </p:txBody>
      </p:sp>
    </p:spTree>
    <p:extLst>
      <p:ext uri="{BB962C8B-B14F-4D97-AF65-F5344CB8AC3E}">
        <p14:creationId xmlns:p14="http://schemas.microsoft.com/office/powerpoint/2010/main" val="663013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E0B78C-5555-4246-A7EA-FE3BD964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对策实施：D1 持续同步与统一台账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6563EF-437D-4F42-BDB9-3C4DE5A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 P1 持续跟踪困难，服务 T1 跟踪可靠目标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C7A90-5628-411E-A66A-CEDB75B9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6448C31-5E3D-458B-BC20-AAE818BF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30B78A-F910-4573-A04F-D86553D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F08F7-A36E-47F8-9BD0-7A0CF6F0EFB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实施内容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检查与产出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明确范围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统一仓库、时间、状态与筛选条件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核对是否排除 PR，确保统计可比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范围说明与数量口径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避免把口径差异当成同步遗漏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持续跟进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首次全量获取，日常增量跟进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默认每 15 分钟更新，手动全量校准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统一的问题台账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新增与历史更新可继续跟踪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保留分析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社区侧字段与本地人工分析分别维护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在信息更新时保留分析积累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人工结论与备注记录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支持基于已有分析继续工作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专项核对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按日期、状态、标签和版本收敛范围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形成清单，抽查缺漏与更新情况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专项清单、核对记录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 T1 效果确认提供依据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17A4465C-EC1F-441A-AFB2-5F84B52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评价重点是同口径核对、漏项抽查和更新及时性，任务结束不能替代效果确认。</a:t>
            </a:r>
          </a:p>
        </p:txBody>
      </p:sp>
    </p:spTree>
    <p:extLst>
      <p:ext uri="{BB962C8B-B14F-4D97-AF65-F5344CB8AC3E}">
        <p14:creationId xmlns:p14="http://schemas.microsoft.com/office/powerpoint/2010/main" val="541533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044836-82E9-4B57-8BB1-8C4F111C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对策实施：D2 AI 与批量任务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10CDFA-C914-4D4C-BB53-9437761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 P2 人工整理投入大，服务 T2 降低人工总投入目标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EEE53-D1ED-4A6D-972B-04B1810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8B328A8-31F6-478A-95F5-9F730B1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8E8A31-349C-4EA1-92E5-8E6A747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85B57-17C1-4DF5-ACF7-C6C27C1179F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实施内容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人工质量控制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准备上下文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 Issue 正文、评论和已有分析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统一模型需要整理的字段与材料范围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确认材料范围与关键来源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识别被截断或缺失的信息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结构化归纳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整理摘要、现象、价值和补测建议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区分事实、推测与待确认参数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核对原文证据与关键配置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漏测原因结合实际覆盖人工判断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批量执行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勾选或按筛选结果创建分析任务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结合并发、进度、失败重试与恢复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查看失败项与重复处理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同时记录运行成本和处理时间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审核采纳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人员检查、修正并选择采纳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保存分析结果与必要说明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记录审核修正耗时和错误类型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评价审核后总投入是否下降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9E730EE2-1DFE-4667-A2E4-E90BAF1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rPr>
              <a:t>AI 分析仍需评估，效果统计包含人工审核与修正，不能以生成建议数量代替效率收益。</a:t>
            </a:r>
          </a:p>
        </p:txBody>
      </p:sp>
    </p:spTree>
    <p:extLst>
      <p:ext uri="{BB962C8B-B14F-4D97-AF65-F5344CB8AC3E}">
        <p14:creationId xmlns:p14="http://schemas.microsoft.com/office/powerpoint/2010/main" val="5088817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D04024-C13F-446C-A0DD-3FE7EF2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对策实施：D3 筛选与 D4 复现材料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09CA36-BBD5-44AD-94B9-C3CA0AB2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 P3、P4，服务重点投入和测试准备目标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C632A-AEC8-43CA-9474-6C6F98C1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135EFC-53C6-470B-8907-63A23DC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5572F3-FFC0-4B79-8750-3CEC33B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05C99-0E3C-4654-8150-1D4696B8233E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实施内容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产出与核查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收敛范围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按日期、状态、标签和版本确定范围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结合价值、复现性形成候选清单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保留人工填写的价值判断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排序与复查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优先处理较可复现且价值较高的问题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 Doc、RFC 等类型并保留完整列表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候选排序与理由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复查高价值但信息不足的问题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整理配置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明确模型、量化、TP/PP/EP 配置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 A2/A3/A5 环境及软件版本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模型与软硬件信息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缺失参数明确标为待确认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明确验证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整理触发请求、并发、序列长度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明确预期结果、断言及需要补采的信息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复现材料与缺口清单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由人员和实际环境验证可执行性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F9683737-6AF6-4F43-9411-E77EC2C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只能提取来源中明确提供的配置，版本与根因结论需要可靠资料或实验支持。</a:t>
            </a:r>
          </a:p>
        </p:txBody>
      </p:sp>
    </p:spTree>
    <p:extLst>
      <p:ext uri="{BB962C8B-B14F-4D97-AF65-F5344CB8AC3E}">
        <p14:creationId xmlns:p14="http://schemas.microsoft.com/office/powerpoint/2010/main" val="14741088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D8D15-E288-41AB-8903-974E566E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对策实施：D5 分析沉淀与协作复用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0ED1AF-099A-4341-981C-72E42483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 P5 经验难复用，服务 T5 接续分析与材料复用目标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03E69-35DD-47A0-B678-D8143DB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C02E0B3-4AB0-4E23-9347-38B455EB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E83CA1-4BA2-45FF-AA3C-7EF7E48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D6AC9-97D7-4ECA-AE58-E1FD9FB42D48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实施内容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评价关注点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统一记录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记录问题识别、分析结论与补测建议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维护版本支持和处理进展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将人工结论保留在统一台账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能否查看此前判断和待办信息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记录能否帮助接手者继续分析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支持评审交接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按专题筛选并导出需要评审的清单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结合已有记录开展补充分析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保留结论依据与信息缺口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是否减少重复收集和阅读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团队对材料是否有一致理解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典型场景复用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整理典型配置、复现条件和验证结果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需要形成回归测试时关联来源 Issue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保留最小用例与评审记录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典型材料是否再次使用</a:t>
                      </a:r>
                    </a:p>
                    <a:p>
                      <a:r>
                        <a:rPr sz="217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是否形成可追溯的测试输入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ECEA606C-2837-41B4-BA11-DEAA6DF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效果既看记录完整性，也看交接使用、同类问题分析和测试材料的实际复用。</a:t>
            </a:r>
          </a:p>
        </p:txBody>
      </p:sp>
    </p:spTree>
    <p:extLst>
      <p:ext uri="{BB962C8B-B14F-4D97-AF65-F5344CB8AC3E}">
        <p14:creationId xmlns:p14="http://schemas.microsoft.com/office/powerpoint/2010/main" val="1726347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9E863-CDD6-46AF-B816-9BA44A54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实施示例：复杂反馈整理为验证材料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4BE967-1A5C-47A2-A3B9-4BB52D2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示例说明 D2、D4 的使用方式，来自此前提供的 Kimi decode 崩溃反馈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C218-B8A1-472A-B8A3-066EA38D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6737056-A541-4C2C-8F75-66F7D42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677E39-F7E4-46EC-961C-80E269F8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8EB33-628E-4143-B1DF-7B0A98E6943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21920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整理后的输入与验证动作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报告者给出的配置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800I A3、CANN 9.2.0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Kimi-K3 W4A8、TP16 加 EP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报告者描述的现象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正常，decode 出现 keyRope 视图偏移非法错误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反馈包含多次日志与执行模式对照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需要核实的判断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整数溢出属于待确认假设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需要算子代码、可靠说明或对照实验支持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建议执行动作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补齐参数，在相应环境中复现 decode 请求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eager、图模式和不同软件环境，记录结果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B4EEFBF1-95DF-45DF-995B-DE85A10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本例展示材料整理与审核方法，实际复现、根因和用例成果需要相应记录支持。</a:t>
            </a:r>
          </a:p>
        </p:txBody>
      </p:sp>
    </p:spTree>
    <p:extLst>
      <p:ext uri="{BB962C8B-B14F-4D97-AF65-F5344CB8AC3E}">
        <p14:creationId xmlns:p14="http://schemas.microsoft.com/office/powerpoint/2010/main" val="1650640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B0346-63C5-42E4-B3F6-7354DF4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效果确认：是否达成目标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8E7E08-D170-4697-AC1F-738577F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按 T1 至 T5 逐项确认，缺少前后对比数据时保留“待确认”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F4AD7-1A53-4A11-AF8D-75C9F03C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F847DAA-5B0B-4E63-86FF-35CAD20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38049F-8266-4887-B919-469EE524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6E4E6-F622-4CC3-87B6-1ECDF75BB73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953500"/>
                <a:gridCol w="41910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确认方法与所需证据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跟踪可靠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同口径数量核对与问题抽查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补充缺漏、更新和校准记录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需核对统计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降低投入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相近复杂度下对比人工总耗时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包含阅读、提取、审核与修正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需人工基线和对照结果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聚焦重点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人工评审候选有效性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同时抽查被筛问题中的重要遗漏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需评审与复查记录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T4 支持复现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检查配置、触发条件及信息缺口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结合测试人员实际执行反馈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需材料检查与验证结果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T5 支持复用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检查分析记录完整性和交接使用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统计典型材料与用例的实际复用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需使用与关联记录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54FCCFF6-77A8-4ADF-AA49-63707CF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672B"/>
                </a:solidFill>
                <a:latin typeface="Microsoft YaHei"/>
                <a:ea typeface="Microsoft YaHei"/>
                <a:cs typeface="Microsoft YaHei"/>
              </a:rPr>
              <a:t>现有材料不足以判定整体目标达成，不用功能清单或模型输出数量代替实际收益。</a:t>
            </a:r>
          </a:p>
        </p:txBody>
      </p:sp>
    </p:spTree>
    <p:extLst>
      <p:ext uri="{BB962C8B-B14F-4D97-AF65-F5344CB8AC3E}">
        <p14:creationId xmlns:p14="http://schemas.microsoft.com/office/powerpoint/2010/main" val="45129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787C68-20BD-445F-B0C7-7F5A99A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效果确认：可重复的评价过程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B3E4F8-4045-4700-9A14-CEC8084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通过基线、对照、审核和复评，形成可以据此下结论的记录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1FB9A-A084-458B-8D7A-94B94DF3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E4EFB05-4CE9-463A-8B48-751F50B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396CD3-1610-4D10-92EA-7F9BBD5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F709B-296F-4E0C-B4AC-552BCDE596F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实施方法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选取样本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统一范围并确定相近复杂度的样本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样本范围、数量、时间与人员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避免只选容易处理的问题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记录基线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按纯人工方式记录查找、阅读和整理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检查配置缺失与原有交接方式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分环节工时和材料检查结果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为各项目标建立基线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对照审核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执行辅助流程，并由人员核查修正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同时抽查候选和被筛掉的问题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总投入、审核质量、遗漏和失败成本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形成可比较的结果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判断复评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按目标与评审门槛判断是否达成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未达标时回看原因、材料和规则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目标达成结论与调整措施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在新一轮样本上再次评价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2F0E8D48-5523-4604-9B14-7E9884E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具体阈值依据第一轮基线评审确定，持续关注人工投入、分析质量与测试贡献。</a:t>
            </a:r>
          </a:p>
        </p:txBody>
      </p:sp>
    </p:spTree>
    <p:extLst>
      <p:ext uri="{BB962C8B-B14F-4D97-AF65-F5344CB8AC3E}">
        <p14:creationId xmlns:p14="http://schemas.microsoft.com/office/powerpoint/2010/main" val="4258739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77BDF9-35E5-4655-9F87-CC1DA25C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总结：痛点、对策与效果相互对应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C04810-83CF-4971-8010-9209670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每项改进都能够回答：解决什么问题，怎样实施，用什么证据确认有效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749A4-B96E-4901-9421-2DB4264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4C70A6-9E4A-49D7-81FF-8904E0B5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B39BB6-B880-4BE0-8A5A-D4F3A136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6807F465-3F2C-48E0-9E08-32DA805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609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持续跟踪社区问题</a:t>
            </a:r>
          </a:p>
          <a:p xmlns:a="http://schemas.openxmlformats.org/drawingml/2006/main">
            <a: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支撑测试分析与经验复用</a:t>
            </a:r>
          </a:p>
        </p:txBody>
      </p:sp>
      <p:sp>
        <p:nvSpPr>
          <p:cNvPr id="8" name="summary-body">
            <a:extLst xmlns:a="http://schemas.openxmlformats.org/drawingml/2006/main">
              <a:ext uri="{FF2B5EF4-FFF2-40B4-BE49-F238E27FC236}">
                <a16:creationId xmlns:a16="http://schemas.microsoft.com/office/drawing/2014/main" id="{98F20273-EA53-4542-947B-D9F3B92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62625"/>
            <a:ext cx="15716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五项痛点对应五组对策，统一台账和人工分析提供基础。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AI 辅助直接服务于降低整理投入，重点筛选与复现模板支持测试准备。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以主因验证和目标达成记录指导改进，用实际使用和测试结果评价价值。</a:t>
            </a:r>
          </a:p>
        </p:txBody>
      </p:sp>
      <p:sp>
        <p:nvSpPr>
          <p:cNvPr id="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38BF6A9A-2A55-4951-80D4-B995164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主因与效果需要证据确认，各项方案统一服务于项目整体目标。</a:t>
            </a:r>
          </a:p>
        </p:txBody>
      </p:sp>
    </p:spTree>
    <p:extLst>
      <p:ext uri="{BB962C8B-B14F-4D97-AF65-F5344CB8AC3E}">
        <p14:creationId xmlns:p14="http://schemas.microsoft.com/office/powerpoint/2010/main" val="116874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2026-10-28T02:28:23.5130000Z</dcterms:created>
  <dcterms:modified xsi:type="dcterms:W3CDTF">2026-10-28T02:28:23.5130000Z</dcterms:modified>
</coreProperties>
</file>