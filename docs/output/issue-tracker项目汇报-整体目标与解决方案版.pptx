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e8759fc9344adb" /><Relationship Type="http://schemas.openxmlformats.org/officeDocument/2006/relationships/extended-properties" Target="/docProps/app.xml" Id="R3789694a6f764934" /><Relationship Type="http://schemas.openxmlformats.org/officeDocument/2006/relationships/officeDocument" Target="/ppt/presentation.xml" Id="Rbd044e2425d44f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25eb954c6849c9"/>
  </p:sldMasterIdLst>
  <p:notesMasterIdLst>
    <p:notesMasterId xmlns:r="http://schemas.openxmlformats.org/officeDocument/2006/relationships" r:id="Rb04d4b7bf15a4d71"/>
  </p:notesMasterIdLst>
  <p:sldIdLst>
    <p:sldId xmlns:r="http://schemas.openxmlformats.org/officeDocument/2006/relationships" id="256" r:id="Rbb6356920c544f84"/>
    <p:sldId xmlns:r="http://schemas.openxmlformats.org/officeDocument/2006/relationships" id="257" r:id="Rd4a1f1ec9dd543fe"/>
    <p:sldId xmlns:r="http://schemas.openxmlformats.org/officeDocument/2006/relationships" id="258" r:id="Rab67940c6b3f4823"/>
    <p:sldId xmlns:r="http://schemas.openxmlformats.org/officeDocument/2006/relationships" id="259" r:id="R10eb9566a5eb48e3"/>
    <p:sldId xmlns:r="http://schemas.openxmlformats.org/officeDocument/2006/relationships" id="260" r:id="R9205a3ee9af94d76"/>
    <p:sldId xmlns:r="http://schemas.openxmlformats.org/officeDocument/2006/relationships" id="261" r:id="Re34d25f51e964321"/>
    <p:sldId xmlns:r="http://schemas.openxmlformats.org/officeDocument/2006/relationships" id="262" r:id="R6d004a336bde4d65"/>
    <p:sldId xmlns:r="http://schemas.openxmlformats.org/officeDocument/2006/relationships" id="263" r:id="Re2aa0478532f41fe"/>
    <p:sldId xmlns:r="http://schemas.openxmlformats.org/officeDocument/2006/relationships" id="264" r:id="Ra78920308b514941"/>
    <p:sldId xmlns:r="http://schemas.openxmlformats.org/officeDocument/2006/relationships" id="265" r:id="Rf2a5f3005664440c"/>
    <p:sldId xmlns:r="http://schemas.openxmlformats.org/officeDocument/2006/relationships" id="266" r:id="R591ca8fee20e43bb"/>
    <p:sldId xmlns:r="http://schemas.openxmlformats.org/officeDocument/2006/relationships" id="267" r:id="R6aa6fda274ad4c38"/>
    <p:sldId xmlns:r="http://schemas.openxmlformats.org/officeDocument/2006/relationships" id="268" r:id="R8d97a99129d24d48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c3295e57cb4228" /><Relationship Type="http://schemas.openxmlformats.org/officeDocument/2006/relationships/slideMaster" Target="/ppt/slideMasters/slideMaster1.xml" Id="R7b25eb954c6849c9" /><Relationship Type="http://schemas.openxmlformats.org/officeDocument/2006/relationships/notesMaster" Target="/ppt/notesMasters/notesMaster1.xml" Id="Rb04d4b7bf15a4d71" /><Relationship Type="http://schemas.openxmlformats.org/officeDocument/2006/relationships/presProps" Target="/ppt/presProps.xml" Id="R27c2b3594c0d4d74" /><Relationship Type="http://schemas.openxmlformats.org/officeDocument/2006/relationships/tableStyles" Target="/ppt/tableStyles.xml" Id="R02590b03448f4b7a" /><Relationship Type="http://schemas.openxmlformats.org/officeDocument/2006/relationships/slide" Target="/ppt/slides/slide1.xml" Id="Rbb6356920c544f84" /><Relationship Type="http://schemas.openxmlformats.org/officeDocument/2006/relationships/slide" Target="/ppt/slides/slide2.xml" Id="Rd4a1f1ec9dd543fe" /><Relationship Type="http://schemas.openxmlformats.org/officeDocument/2006/relationships/slide" Target="/ppt/slides/slide3.xml" Id="Rab67940c6b3f4823" /><Relationship Type="http://schemas.openxmlformats.org/officeDocument/2006/relationships/slide" Target="/ppt/slides/slide4.xml" Id="R10eb9566a5eb48e3" /><Relationship Type="http://schemas.openxmlformats.org/officeDocument/2006/relationships/slide" Target="/ppt/slides/slide5.xml" Id="R9205a3ee9af94d76" /><Relationship Type="http://schemas.openxmlformats.org/officeDocument/2006/relationships/slide" Target="/ppt/slides/slide6.xml" Id="Re34d25f51e964321" /><Relationship Type="http://schemas.openxmlformats.org/officeDocument/2006/relationships/slide" Target="/ppt/slides/slide7.xml" Id="R6d004a336bde4d65" /><Relationship Type="http://schemas.openxmlformats.org/officeDocument/2006/relationships/slide" Target="/ppt/slides/slide8.xml" Id="Re2aa0478532f41fe" /><Relationship Type="http://schemas.openxmlformats.org/officeDocument/2006/relationships/slide" Target="/ppt/slides/slide9.xml" Id="Ra78920308b514941" /><Relationship Type="http://schemas.openxmlformats.org/officeDocument/2006/relationships/slide" Target="/ppt/slides/slide10.xml" Id="Rf2a5f3005664440c" /><Relationship Type="http://schemas.openxmlformats.org/officeDocument/2006/relationships/slide" Target="/ppt/slides/slide11.xml" Id="R591ca8fee20e43bb" /><Relationship Type="http://schemas.openxmlformats.org/officeDocument/2006/relationships/slide" Target="/ppt/slides/slide12.xml" Id="R6aa6fda274ad4c38" /><Relationship Type="http://schemas.openxmlformats.org/officeDocument/2006/relationships/slide" Target="/ppt/slides/slide13.xml" Id="R8d97a99129d24d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1eb15f161f42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a25836cb194359" /><Relationship Type="http://schemas.openxmlformats.org/officeDocument/2006/relationships/notesMaster" Target="/ppt/notesMasters/notesMaster1.xml" Id="R6260df2e99ef48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113e1a46b84759" /><Relationship Type="http://schemas.openxmlformats.org/officeDocument/2006/relationships/notesMaster" Target="/ppt/notesMasters/notesMaster1.xml" Id="R74c097e2130f41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e5f554344943e2" /><Relationship Type="http://schemas.openxmlformats.org/officeDocument/2006/relationships/notesMaster" Target="/ppt/notesMasters/notesMaster1.xml" Id="R83853134537a46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45a96f86e245dd" /><Relationship Type="http://schemas.openxmlformats.org/officeDocument/2006/relationships/notesMaster" Target="/ppt/notesMasters/notesMaster1.xml" Id="R8e1f41c7885345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f6a6926042465b" /><Relationship Type="http://schemas.openxmlformats.org/officeDocument/2006/relationships/notesMaster" Target="/ppt/notesMasters/notesMaster1.xml" Id="R00914ef223cc41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6e6f600bf64aab" /><Relationship Type="http://schemas.openxmlformats.org/officeDocument/2006/relationships/notesMaster" Target="/ppt/notesMasters/notesMaster1.xml" Id="Rf976c9adf64b4d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8c0b6ff4b54b09" /><Relationship Type="http://schemas.openxmlformats.org/officeDocument/2006/relationships/notesMaster" Target="/ppt/notesMasters/notesMaster1.xml" Id="Rc20e067918cb48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4eb28009334476" /><Relationship Type="http://schemas.openxmlformats.org/officeDocument/2006/relationships/notesMaster" Target="/ppt/notesMasters/notesMaster1.xml" Id="R19017641f97945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5cb922701348b7" /><Relationship Type="http://schemas.openxmlformats.org/officeDocument/2006/relationships/notesMaster" Target="/ppt/notesMasters/notesMaster1.xml" Id="R3a1702b029ef40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e7c27ff34c4241" /><Relationship Type="http://schemas.openxmlformats.org/officeDocument/2006/relationships/notesMaster" Target="/ppt/notesMasters/notesMaster1.xml" Id="R946c328b9b2f46f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d8f8d7033340de" /><Relationship Type="http://schemas.openxmlformats.org/officeDocument/2006/relationships/notesMaster" Target="/ppt/notesMasters/notesMaster1.xml" Id="Re6296e63f0e84de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f295a0d045460a" /><Relationship Type="http://schemas.openxmlformats.org/officeDocument/2006/relationships/notesMaster" Target="/ppt/notesMasters/notesMaster1.xml" Id="Rb4699bcc63be45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06f452b12a641f1" /><Relationship Type="http://schemas.openxmlformats.org/officeDocument/2006/relationships/notesMaster" Target="/ppt/notesMasters/notesMaster1.xml" Id="Re9e01784dc134c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建议讲述时长：25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今天介绍 issue-tracker 的整体目标和解决方案。汇报围绕社区问题持续跟踪、分析投入选择和经验复用等痛点展开，并说明统一台账、人工分析、批量任务和 AI 辅助怎样共同服务于项目目标。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依据：项目报告、鱼骨图及项目功能说明。各项能力统一作为整体目标的解决方案介绍，评价指标用于观察效果，未引用未经统计的收益数字。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建议讲述时长：65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 vLLM Ascend 为例，一次推理失败可能涉及模型、量化方式、并行策略、硬件型号和软件版本。关键日志和结论还可能出现在后续评论里。依靠人工浏览，首先要持续跟进变化，其次要判断哪些问题值得投入硬件和分析时间，最后还需要让已有结论能够复用。项目针对的就是这些具体工作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资料来源：docs/issue-tracker项目成果汇报-15分钟版.md。项目功能以当前代码及 README 为依据。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建议讲述时长：60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鱼骨图把建设背景分成六个方面。信息获取涉及持续跟进和材料分散。分析方法涉及统一标准与资料整理。环境配置涉及模型、硬件、版本和关键参数。人员协作、工作流程和知识沉淀，则影响交接和结果复用。图中列出的是潜在影响因素，需要结合实际工作核查。它帮助我们说明项目为什么需要同时提供数据、分析和记录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资料来源：docs/figures/issue-tracker-fishbone.png，docs/issue-tracker项目成果汇报-15分钟版.md。项目功能以当前代码及 README 为依据。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建议讲述时长：65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整体目标分为四个方向。持续跟踪强调统一获取与维护社区信息，减少重新收集。重点投入强调围绕版本、标签、价值和复现条件收敛范围，帮助人员选择值得验证的问题。分析复用强调保存人工结论、补测建议和处理进展，支撑交接与同类问题复查。测试改进强调人工判断结合 AI 辅助，把社区反馈整理为测试输入。各项能力统一组织在整体目标下，通过实际工作和测试结果评价方案效果。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依据：项目报告、鱼骨图及项目功能说明。各项能力统一作为整体目标的解决方案介绍，评价指标用于观察效果，未引用未经统计的收益数字。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建议讲述时长：75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项目整体工作流程包含同步汇集、范围筛选、AI 辅助分析、人工审核和分析沉淀。全量与增量同步结合手动校准，持续维护社区信息，并保留本地人工分析。统一入口按日期、状态、标签、价值和版本收敛范围，记录补测及处理状态。AI 结合正文与评论提供结构化建议，由人员检查采纳，漏测原因结合实际测试覆盖人工填写。批量任务支持选中或按筛选范围创建，结合并发、进度、重试和恢复支持集中梳理。候选筛选把较可复现且有价值的问题送到重点验证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依据：项目报告、鱼骨图及项目功能说明。各项能力统一作为整体目标的解决方案介绍，评价指标用于观察效果，未引用未经统计的收益数字。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建议讲述时长：90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这一页逐项对应鱼骨图。信息获取用持续同步和统一入口解决。分析方法用多维筛选、统一字段和人工加 AI 辅助判断，明确分析重点。环境配置通过提取模型、硬件、软件及触发条件帮助测试准备。人员协作依托台账、状态记录和评审导出，方便交接。工作流程通过批量任务、进度和重试支持集中梳理。知识沉淀则保存分析与典型场景，支持后续复用。这里统一介绍项目针对痛点的解决方案，预期作用通过后续指标和案例观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依据：项目报告、鱼骨图及项目功能说明。各项能力统一作为整体目标的解决方案介绍，评价指标用于观察效果，未引用未经统计的收益数字。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建议讲述时长：70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会整理正文和评论，输出中文摘要、价值判断、可能根因和补测建议。补测建议重点包括模型名称、精度量化、TP/PP/EP 配置，A2、A3、A5 硬件和相关软件版本，以及触发请求和验证断言。原文没有的参数要明确标为待确认。漏测原因保留人工填写，因为判断内部为什么没有测到，需要实际测试覆盖信息。人员还要核对证据、实际复现并决定是否形成回归用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资料来源：docs/issue-tracker项目成果汇报-15分钟版.md。项目功能以当前代码及 README 为依据。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建议讲述时长：90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此前提供的一条反馈描述：在 CANN 9.2.0、Atlas 800I A3、TP16 加 EP 环境运行 Kimi-K3 W4A8，prefill 正常，decode 阶段出现 keyRope 视图偏移非法错误。长正文中还包含多次运行日志和执行模式对照。工具辅助提取环境配置、观察现象和验证动作。报告者认为存在整数溢出，但这仍是需要算子团队或实验验证的假设。测试人员可以据此补齐缺失参数，准备相应环境并设计对照验证。本例说明材料如何转化为测试准备输入，并不代表系统已经复现问题或确认了根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资料来源：docs/issue-tracker项目成果汇报-15分钟版.md 第四部分，用户此前提供的 Issue #17084 分析材料。项目功能以当前代码及 README 为依据。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建议讲述时长：70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优先处理是一个候选视图，首先读取最新已保存的 AI 结果，保留复现性和价值为高或中的问题，并排除文档、RFC、咨询和非问题。排序先比较复现性，再比较价值，已有人工价值等级优先。之后参考明确版本的相对新旧、AI 自评置信度和创建时间。目前没有接入官方版本兼容矩阵，置信度也不是经过校准的正确率。高价值但信息不足的问题可能被隐藏，所以需要完整列表复查。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资料来源：docs/issue-tracker项目成果汇报-15分钟版.md。项目功能以当前代码及 README 为依据。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建议讲述时长：60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项目价值围绕整体目标衡量。持续同步与统一台账关注资料整理和交接投入。人工与 AI 辅助分析关注阅读筛选和审核时间。复现候选与补测建议关注推荐有效性和实际验证结果。结果沉淀关注测试用例转化与后续复用。统计时把建议生成、人工确认、实际复现和用例入库分别记录，避免把过程数量当成最终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依据：项目报告、鱼骨图及项目功能说明。各项能力统一作为整体目标的解决方案介绍，评价指标用于观察效果，未引用未经统计的收益数字。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建议讲述时长：45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质量控制贯穿方案应用。分析材料应说明事实、假设与信息缺口，重要判断需要有原文或实验支持。模型、硬件、版本和触发条件逐项核实，缺失项补采。人工审核负责采纳、根因确认和测试决策，并复查高价值但信息不足的问题。AI 辅助判断的效果通过样本评审和实际复现结果验证。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依据：项目报告、鱼骨图及项目功能说明。各项能力统一作为整体目标的解决方案介绍，评价指标用于观察效果，未引用未经统计的收益数字。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建议讲述时长：65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整体目标通过持续改进推进。分析质量方面建议选取代表性样本，覆盖缺陷、咨询和不同材料完整度，形成人工评审基线。证据与规则方面补充原文依据和可靠配套信息，并用复评结果改进提示词与筛选方式。测试转化方面选择价值明确、环境可用的问题补齐材料，开展人工复现，形成最小用例及评审记录。根据实际结果持续调整方案，也关注成本和任务稳定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依据：项目报告、鱼骨图及项目功能说明。各项能力统一作为整体目标的解决方案介绍，评价指标用于观察效果，未引用未经统计的收益数字。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建议讲述时长：25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项目整体目标是持续跟踪社区问题，支撑测试分析与经验复用。管理上集中维护数据和进展。分析上结合人工判断和 AI 辅助，整理配置、缺口及测试建议。测试上把值得投入的问题转化为可验证的场景与可复用材料。最终通过实际工作投入和测试贡献评价项目价值。谢谢大家。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依据：项目报告、鱼骨图及项目功能说明。各项能力统一作为整体目标的解决方案介绍，评价指标用于观察效果，未引用未经统计的收益数字。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babae2a5b5424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0ce36f06cd45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731f389d2e409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381ef562ea407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2b80f4a7484e3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0deb7f58b24b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787BE1-127E-4160-AFDA-21A0ACB250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1B68BDA-F8C6-4AD1-AA3B-0BB490A4E13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EB2ABB-D5BA-4F53-992C-B20FA7CE41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C7121D-C305-4E2A-BC94-CADA64807E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C9E6A16-2D90-49F3-B3C2-ACF8D34E56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580EAB0-C13F-4D4C-88CB-CD1612E4CD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807F3E-51DA-40FF-B377-A0FE2028F4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AE369D3-A98A-4A77-AC5F-7F2F70E2A77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C04562-169F-4440-B3E4-7F4AC1E38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E7511E-08DC-424C-B022-1A6D3714AB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fa50cc3ea44d98" /><Relationship Type="http://schemas.openxmlformats.org/officeDocument/2006/relationships/slideLayout" Target="/ppt/slideLayouts/slideLayout1.xml" Id="Rde520a0c85644000" /><Relationship Type="http://schemas.openxmlformats.org/officeDocument/2006/relationships/slideLayout" Target="/ppt/slideLayouts/slideLayout2.xml" Id="R21ad11ecce52429a" /><Relationship Type="http://schemas.openxmlformats.org/officeDocument/2006/relationships/slideLayout" Target="/ppt/slideLayouts/slideLayout3.xml" Id="R51d58d35e2a246ed" /><Relationship Type="http://schemas.openxmlformats.org/officeDocument/2006/relationships/slideLayout" Target="/ppt/slideLayouts/slideLayout4.xml" Id="R975a3326afd941f7" /><Relationship Type="http://schemas.openxmlformats.org/officeDocument/2006/relationships/slideLayout" Target="/ppt/slideLayouts/slideLayout5.xml" Id="Rbb0cb404603f4883" /><Relationship Type="http://schemas.openxmlformats.org/officeDocument/2006/relationships/slideLayout" Target="/ppt/slideLayouts/slideLayout6.xml" Id="R8f7a308f66c74f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520a0c85644000"/>
    <p:sldLayoutId xmlns:r="http://schemas.openxmlformats.org/officeDocument/2006/relationships" id="2147483650" r:id="R21ad11ecce52429a"/>
    <p:sldLayoutId xmlns:r="http://schemas.openxmlformats.org/officeDocument/2006/relationships" id="2147483651" r:id="R51d58d35e2a246ed"/>
    <p:sldLayoutId xmlns:r="http://schemas.openxmlformats.org/officeDocument/2006/relationships" id="2147483652" r:id="R975a3326afd941f7"/>
    <p:sldLayoutId xmlns:r="http://schemas.openxmlformats.org/officeDocument/2006/relationships" id="2147483653" r:id="Rbb0cb404603f4883"/>
    <p:sldLayoutId xmlns:r="http://schemas.openxmlformats.org/officeDocument/2006/relationships" id="2147483654" r:id="R8f7a308f66c74f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30d410da5d472a" /><Relationship Type="http://schemas.openxmlformats.org/officeDocument/2006/relationships/notesSlide" Target="/ppt/notesSlides/notesSlide1.xml" Id="R33793f1d404043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b348d0bae24f91" /><Relationship Type="http://schemas.openxmlformats.org/officeDocument/2006/relationships/notesSlide" Target="/ppt/notesSlides/notesSlide2.xml" Id="R97ec2591c9cf4b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4e5917640c462e" /><Relationship Type="http://schemas.openxmlformats.org/officeDocument/2006/relationships/image" Target="/ppt/media/image.png" Id="R4d1b3f1d71ce4880" /><Relationship Type="http://schemas.openxmlformats.org/officeDocument/2006/relationships/notesSlide" Target="/ppt/notesSlides/notesSlide3.xml" Id="Rcf2beda909184a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da16884147422f" /><Relationship Type="http://schemas.openxmlformats.org/officeDocument/2006/relationships/notesSlide" Target="/ppt/notesSlides/notesSlide4.xml" Id="R65a2e71ecac74c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4feaf1a2be45af" /><Relationship Type="http://schemas.openxmlformats.org/officeDocument/2006/relationships/notesSlide" Target="/ppt/notesSlides/notesSlide5.xml" Id="R544cfd50607241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33035eaf7b4c2b" /><Relationship Type="http://schemas.openxmlformats.org/officeDocument/2006/relationships/notesSlide" Target="/ppt/notesSlides/notesSlide6.xml" Id="Rb9065eb8bafc47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d76aca0b314121" /><Relationship Type="http://schemas.openxmlformats.org/officeDocument/2006/relationships/notesSlide" Target="/ppt/notesSlides/notesSlide7.xml" Id="R4e910af7364147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3df10d541745f0" /><Relationship Type="http://schemas.openxmlformats.org/officeDocument/2006/relationships/notesSlide" Target="/ppt/notesSlides/notesSlide8.xml" Id="R169bd9a210d546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9aeef6620f4466" /><Relationship Type="http://schemas.openxmlformats.org/officeDocument/2006/relationships/notesSlide" Target="/ppt/notesSlides/notesSlide9.xml" Id="R9cdaecf4268d4f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91a7f6821f4e37" /><Relationship Type="http://schemas.openxmlformats.org/officeDocument/2006/relationships/notesSlide" Target="/ppt/notesSlides/notesSlide10.xml" Id="Rfc1f80b0c2f444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ad553c9d9b453e" /><Relationship Type="http://schemas.openxmlformats.org/officeDocument/2006/relationships/notesSlide" Target="/ppt/notesSlides/notesSlide11.xml" Id="R39817f041c6b418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d31dabcff64e14" /><Relationship Type="http://schemas.openxmlformats.org/officeDocument/2006/relationships/notesSlide" Target="/ppt/notesSlides/notesSlide12.xml" Id="R30768210fd0442b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c494dafe0d4b4c" /><Relationship Type="http://schemas.openxmlformats.org/officeDocument/2006/relationships/notesSlide" Target="/ppt/notesSlides/notesSlide13.xml" Id="Rb817c8576a0d48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ver-project">
            <a:extLst xmlns:a="http://schemas.openxmlformats.org/drawingml/2006/main">
              <a:ext uri="{FF2B5EF4-FFF2-40B4-BE49-F238E27FC236}">
                <a16:creationId xmlns:a16="http://schemas.microsoft.com/office/drawing/2014/main" id="{A97728A2-6324-4FF8-B8E5-FFD0B09A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38300"/>
            <a:ext cx="15525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issue-tracker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AF53998-D9E4-4537-8E80-0E2EC29B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1581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项目目标与解决方案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E5F7F0A-6437-4D6F-B3A2-9A01618E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0175"/>
            <a:ext cx="15621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rPr>
              <a:t>社区问题跟踪与 AI 辅助测试分析</a:t>
            </a:r>
          </a:p>
        </p:txBody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E2617686-914A-4E90-89BC-C453E930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39152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rPr>
              <a:t>2026 年 10 月</a:t>
            </a:r>
          </a:p>
        </p:txBody>
      </p:sp>
    </p:spTree>
    <p:extLst>
      <p:ext uri="{BB962C8B-B14F-4D97-AF65-F5344CB8AC3E}">
        <p14:creationId xmlns:p14="http://schemas.microsoft.com/office/powerpoint/2010/main" val="4511294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25906E-8B38-49E1-B54A-B2C17C3E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19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建设背景与工作痛点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E9C3DFB-8259-4651-A7AD-E9C56020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81175"/>
            <a:ext cx="1600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模型、硬件和软件版本的组合，使社区问题分析需要持续投入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D3CD5-C16C-42D3-976C-DB472D67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25830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093DBDC-FD16-41F2-9732-1D93C36F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05950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893FC5B-06E9-4717-9C43-28805413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4678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row-0-number">
            <a:extLst xmlns:a="http://schemas.openxmlformats.org/drawingml/2006/main">
              <a:ext uri="{FF2B5EF4-FFF2-40B4-BE49-F238E27FC236}">
                <a16:creationId xmlns:a16="http://schemas.microsoft.com/office/drawing/2014/main" id="{5820B373-26F0-412E-B953-CBCAF361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1000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row-0-heading">
            <a:extLst xmlns:a="http://schemas.openxmlformats.org/drawingml/2006/main">
              <a:ext uri="{FF2B5EF4-FFF2-40B4-BE49-F238E27FC236}">
                <a16:creationId xmlns:a16="http://schemas.microsoft.com/office/drawing/2014/main" id="{A0B43ABF-65B0-4E01-A5BA-F12E2A78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62250"/>
            <a:ext cx="1476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持续跟进成本高</a:t>
            </a:r>
          </a:p>
        </p:txBody>
      </p:sp>
      <p:sp>
        <p:nvSpPr>
          <p:cNvPr id="9" name="row-0-body">
            <a:extLst xmlns:a="http://schemas.openxmlformats.org/drawingml/2006/main">
              <a:ext uri="{FF2B5EF4-FFF2-40B4-BE49-F238E27FC236}">
                <a16:creationId xmlns:a16="http://schemas.microsoft.com/office/drawing/2014/main" id="{1799A97A-3465-4B37-A11A-B1A9A115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24250"/>
            <a:ext cx="14573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新增 Issue、历史评论和状态变化需要反复核对，关键日志和解决进展也分散在不同位置。</a:t>
            </a:r>
          </a:p>
          <a:p xmlns:a="http://schemas.openxmlformats.org/drawingml/2006/main">
            <a: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专项分析中断后，分析人员往往需要重新整理材料。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FBF156-E2B8-43FE-9FF7-95DD6BA8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81500"/>
            <a:ext cx="1457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  <a:prstDash val="solid"/>
          </a:ln>
        </p:spPr>
      </p:sp>
      <p:sp>
        <p:nvSpPr>
          <p:cNvPr id="11" name="row-1-number">
            <a:extLst xmlns:a="http://schemas.openxmlformats.org/drawingml/2006/main">
              <a:ext uri="{FF2B5EF4-FFF2-40B4-BE49-F238E27FC236}">
                <a16:creationId xmlns:a16="http://schemas.microsoft.com/office/drawing/2014/main" id="{A5C8FFC9-67D9-4490-B9C7-18E90CBB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9625"/>
            <a:ext cx="1000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row-1-heading">
            <a:extLst xmlns:a="http://schemas.openxmlformats.org/drawingml/2006/main">
              <a:ext uri="{FF2B5EF4-FFF2-40B4-BE49-F238E27FC236}">
                <a16:creationId xmlns:a16="http://schemas.microsoft.com/office/drawing/2014/main" id="{0BCFB9A4-CE43-46B0-86E4-49341A31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19625"/>
            <a:ext cx="1476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测试投入难选择</a:t>
            </a:r>
          </a:p>
        </p:txBody>
      </p:sp>
      <p:sp>
        <p:nvSpPr>
          <p:cNvPr id="13" name="row-1-body">
            <a:extLst xmlns:a="http://schemas.openxmlformats.org/drawingml/2006/main">
              <a:ext uri="{FF2B5EF4-FFF2-40B4-BE49-F238E27FC236}">
                <a16:creationId xmlns:a16="http://schemas.microsoft.com/office/drawing/2014/main" id="{91498450-EF81-4233-BC23-6398FD54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81625"/>
            <a:ext cx="14573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真实缺陷、文档和使用咨询混杂，模型、量化、并行方式与版本组合复杂。</a:t>
            </a:r>
          </a:p>
          <a:p xmlns:a="http://schemas.openxmlformats.org/drawingml/2006/main">
            <a: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分析人员需要先判断问题价值和复现条件，再分配测试资源。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F2371C-4DB1-4558-AE44-CA4BD5E1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238875"/>
            <a:ext cx="1457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  <a:prstDash val="solid"/>
          </a:ln>
        </p:spPr>
      </p:sp>
      <p:sp>
        <p:nvSpPr>
          <p:cNvPr id="15" name="row-2-number">
            <a:extLst xmlns:a="http://schemas.openxmlformats.org/drawingml/2006/main">
              <a:ext uri="{FF2B5EF4-FFF2-40B4-BE49-F238E27FC236}">
                <a16:creationId xmlns:a16="http://schemas.microsoft.com/office/drawing/2014/main" id="{810B79C1-33AC-43E5-AE25-43AB1E06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77000"/>
            <a:ext cx="1000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row-2-heading">
            <a:extLst xmlns:a="http://schemas.openxmlformats.org/drawingml/2006/main">
              <a:ext uri="{FF2B5EF4-FFF2-40B4-BE49-F238E27FC236}">
                <a16:creationId xmlns:a16="http://schemas.microsoft.com/office/drawing/2014/main" id="{8039EE12-E935-4F1B-95CA-D8087648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77000"/>
            <a:ext cx="1476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分析经验难复用</a:t>
            </a:r>
          </a:p>
        </p:txBody>
      </p:sp>
      <p:sp>
        <p:nvSpPr>
          <p:cNvPr id="17" name="row-2-body">
            <a:extLst xmlns:a="http://schemas.openxmlformats.org/drawingml/2006/main">
              <a:ext uri="{FF2B5EF4-FFF2-40B4-BE49-F238E27FC236}">
                <a16:creationId xmlns:a16="http://schemas.microsoft.com/office/drawing/2014/main" id="{F6D48338-F5C4-4FB3-ADDF-EDA87E7C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239000"/>
            <a:ext cx="14573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已有结论分散存放，分析进展、材料缺口和补测需求难以统一查看。</a:t>
            </a:r>
          </a:p>
          <a:p xmlns:a="http://schemas.openxmlformats.org/drawingml/2006/main">
            <a: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团队交接和后续复查时，容易重复阅读相同材料。</a:t>
            </a:r>
          </a:p>
        </p:txBody>
      </p:sp>
    </p:spTree>
    <p:extLst>
      <p:ext uri="{BB962C8B-B14F-4D97-AF65-F5344CB8AC3E}">
        <p14:creationId xmlns:p14="http://schemas.microsoft.com/office/powerpoint/2010/main" val="15573512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8F1AE-1BB7-4DCB-A24C-FED1DDF22B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b3f1d71ce4880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7756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F9D9CC-2E4F-422E-8B6F-0A37B0CE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19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整体目标设定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766455D-940F-4318-AC33-593DB624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81175"/>
            <a:ext cx="1600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建立面向社区 Issue 的持续跟踪与测试分析平台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DDA02-2577-4B38-A9C3-CC26C4A6F26F}"/>
              </a:ext>
            </a:extLst>
          </p:cNvPr>
          <p:cNvGraphicFramePr/>
          <p:nvPr/>
        </p:nvGraphicFramePr>
        <p:xfrm>
          <a:off xmlns:a="http://schemas.openxmlformats.org/drawingml/2006/main" x="990600" y="2857500"/>
          <a:ext xmlns:a="http://schemas.openxmlformats.org/drawingml/2006/main" cx="16287750" cy="552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8001000"/>
                <a:gridCol w="5143500"/>
              </a:tblGrid>
              <a:tr h="83820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目标方向</a:t>
                      </a:r>
                    </a:p>
                  </a:txBody>
                  <a:tcPr marL="190500" marR="190500" marT="152400" marB="15240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项目目标</a:t>
                      </a:r>
                    </a:p>
                  </a:txBody>
                  <a:tcPr marL="190500" marR="190500" marT="152400" marB="1524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评价关注点</a:t>
                      </a:r>
                    </a:p>
                  </a:txBody>
                  <a:tcPr marL="190500" marR="190500" marT="152400" marB="1524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</a:tr>
              <a:tr h="117157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持续跟踪</a:t>
                      </a:r>
                    </a:p>
                  </a:txBody>
                  <a:tcPr marL="190500" marR="190500" marT="152400" marB="15240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集中获取和更新社区问题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形成可筛选、可持续维护的统一台账</a:t>
                      </a:r>
                    </a:p>
                  </a:txBody>
                  <a:tcPr marL="190500" marR="190500" marT="152400" marB="1524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信息覆盖与更新及时性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专题资料整理投入</a:t>
                      </a:r>
                    </a:p>
                  </a:txBody>
                  <a:tcPr marL="190500" marR="190500" marT="152400" marB="1524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7157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重点投入</a:t>
                      </a:r>
                    </a:p>
                  </a:txBody>
                  <a:tcPr marL="190500" marR="190500" marT="152400" marB="15240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围绕版本、标签、价值与复现条件收敛范围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帮助分析人员选择值得验证的问题</a:t>
                      </a:r>
                    </a:p>
                  </a:txBody>
                  <a:tcPr marL="190500" marR="190500" marT="152400" marB="1524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筛选效率与推荐有效性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重要问题的遗漏情况</a:t>
                      </a:r>
                    </a:p>
                  </a:txBody>
                  <a:tcPr marL="190500" marR="190500" marT="152400" marB="1524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7157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分析复用</a:t>
                      </a:r>
                    </a:p>
                  </a:txBody>
                  <a:tcPr marL="190500" marR="190500" marT="152400" marB="15240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统一记录人工结论、补测建议和处理进展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让交接、评审和同类问题分析能够复用</a:t>
                      </a:r>
                    </a:p>
                  </a:txBody>
                  <a:tcPr marL="190500" marR="190500" marT="152400" marB="1524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记录完整性和交接效率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已有分析与典型场景复用</a:t>
                      </a:r>
                    </a:p>
                  </a:txBody>
                  <a:tcPr marL="190500" marR="190500" marT="152400" marB="1524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7157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测试改进</a:t>
                      </a:r>
                    </a:p>
                  </a:txBody>
                  <a:tcPr marL="190500" marR="190500" marT="152400" marB="15240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人工判断结合 AI 辅助归纳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将问题反馈整理为复现材料与测试输入</a:t>
                      </a:r>
                    </a:p>
                  </a:txBody>
                  <a:tcPr marL="190500" marR="190500" marT="152400" marB="1524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建议可执行性与验证结果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测试用例转化及回归贡献</a:t>
                      </a:r>
                    </a:p>
                  </a:txBody>
                  <a:tcPr marL="190500" marR="190500" marT="152400" marB="1524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goal-summary">
            <a:extLst xmlns:a="http://schemas.openxmlformats.org/drawingml/2006/main">
              <a:ext uri="{FF2B5EF4-FFF2-40B4-BE49-F238E27FC236}">
                <a16:creationId xmlns:a16="http://schemas.microsoft.com/office/drawing/2014/main" id="{FCDB87C1-C54C-4234-B288-C115A675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696325"/>
            <a:ext cx="1609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统一台账与人工分析构成基础，AI 辅助服务于信息归纳、候选筛选和测试准备。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DB036-24FB-4E53-A36C-90D1A5BD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25830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</a:ln>
        </p:spPr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976FC40B-1F2F-40CA-97B1-A84699DF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05950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项目汇报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E3BA2FD-42E1-43DA-9DA7-8DBB4F62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4678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92952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A57F1-0930-442B-A23C-4FAEED18C36C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13735050" y="3405188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7451"/>
            </a:solidFill>
            <a:tailEnd type="triangle" w="sm" len="sm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5D09F-59BF-40B9-9FB0-885D18C1FAE9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0439400" y="3405188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7451"/>
            </a:solidFill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0F0B0-102D-47E7-80CE-EF2C441E47CD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143750" y="3405188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7451"/>
            </a:solidFill>
            <a:tailEnd type="triangle" w="sm" len="sm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47C49-DBA7-40C2-8B16-3EC885163A2D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848100" y="3405188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7451"/>
            </a:solidFill>
            <a:tailEnd type="triangle" w="sm" len="sm"/>
          </a:ln>
        </p:spPr>
      </p:cxn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129F10-F9F1-46B5-A095-644A4A4B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19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项目整体工作流程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10CD31C-8A18-4AFD-A8D8-054F8A59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81175"/>
            <a:ext cx="1600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通过统一台账串联问题跟踪、分析筛选、人工审核与结果沉淀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769FA-CF53-4EAC-A940-6AA636FA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25830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CAF436DA-8528-4514-B006-C152CD78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05950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项目汇报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8EB44B8-F0CE-4662-9AC1-8A33DF91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4678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1" name="workflow-stage-0">
            <a:extLst xmlns:a="http://schemas.openxmlformats.org/drawingml/2006/main">
              <a:ext uri="{FF2B5EF4-FFF2-40B4-BE49-F238E27FC236}">
                <a16:creationId xmlns:a16="http://schemas.microsoft.com/office/drawing/2014/main" id="{9D7C2227-4BA8-439C-B561-93B3951A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14625"/>
            <a:ext cx="2857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EF"/>
          </a:solidFill>
          <a:ln xmlns:a="http://schemas.openxmlformats.org/drawingml/2006/main" w="19050">
            <a:solidFill>
              <a:srgbClr val="D5E2DA"/>
            </a:solidFill>
          </a:ln>
        </p:spPr>
      </p:sp>
      <p:sp>
        <p:nvSpPr>
          <p:cNvPr id="12" name="workflow-title-0">
            <a:extLst xmlns:a="http://schemas.openxmlformats.org/drawingml/2006/main">
              <a:ext uri="{FF2B5EF4-FFF2-40B4-BE49-F238E27FC236}">
                <a16:creationId xmlns:a16="http://schemas.microsoft.com/office/drawing/2014/main" id="{F0265D09-F45C-41BA-AA4C-30916B91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67025"/>
            <a:ext cx="2438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同步汇集</a:t>
            </a:r>
          </a:p>
        </p:txBody>
      </p:sp>
      <p:sp>
        <p:nvSpPr>
          <p:cNvPr id="13" name="workflow-body-0">
            <a:extLst xmlns:a="http://schemas.openxmlformats.org/drawingml/2006/main">
              <a:ext uri="{FF2B5EF4-FFF2-40B4-BE49-F238E27FC236}">
                <a16:creationId xmlns:a16="http://schemas.microsoft.com/office/drawing/2014/main" id="{5FC1FB5C-AED5-40C5-8337-8CB6762C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0425"/>
            <a:ext cx="2438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全量同步</a:t>
            </a:r>
          </a:p>
          <a:p xmlns:a="http://schemas.openxmlformats.org/drawingml/2006/main">
            <a: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增量更新与校准</a:t>
            </a:r>
          </a:p>
        </p:txBody>
      </p:sp>
      <p:sp>
        <p:nvSpPr>
          <p:cNvPr id="14" name="workflow-stage-1">
            <a:extLst xmlns:a="http://schemas.openxmlformats.org/drawingml/2006/main">
              <a:ext uri="{FF2B5EF4-FFF2-40B4-BE49-F238E27FC236}">
                <a16:creationId xmlns:a16="http://schemas.microsoft.com/office/drawing/2014/main" id="{F6AC04C0-44D5-496F-ACBB-FB5826D0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14625"/>
            <a:ext cx="2857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EF"/>
          </a:solidFill>
          <a:ln xmlns:a="http://schemas.openxmlformats.org/drawingml/2006/main" w="19050">
            <a:solidFill>
              <a:srgbClr val="D5E2DA"/>
            </a:solidFill>
          </a:ln>
        </p:spPr>
      </p:sp>
      <p:sp>
        <p:nvSpPr>
          <p:cNvPr id="15" name="workflow-title-1">
            <a:extLst xmlns:a="http://schemas.openxmlformats.org/drawingml/2006/main">
              <a:ext uri="{FF2B5EF4-FFF2-40B4-BE49-F238E27FC236}">
                <a16:creationId xmlns:a16="http://schemas.microsoft.com/office/drawing/2014/main" id="{ED9ACAA6-86A1-46F6-ACFC-C00F4B69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67025"/>
            <a:ext cx="2438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范围筛选</a:t>
            </a:r>
          </a:p>
        </p:txBody>
      </p:sp>
      <p:sp>
        <p:nvSpPr>
          <p:cNvPr id="16" name="workflow-body-1">
            <a:extLst xmlns:a="http://schemas.openxmlformats.org/drawingml/2006/main">
              <a:ext uri="{FF2B5EF4-FFF2-40B4-BE49-F238E27FC236}">
                <a16:creationId xmlns:a16="http://schemas.microsoft.com/office/drawing/2014/main" id="{7BCF5382-DA3D-46B6-85D9-D22FBE84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00425"/>
            <a:ext cx="2438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日期、状态、标签</a:t>
            </a:r>
          </a:p>
          <a:p xmlns:a="http://schemas.openxmlformats.org/drawingml/2006/main">
            <a: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版本与分析字段</a:t>
            </a:r>
          </a:p>
        </p:txBody>
      </p:sp>
      <p:sp>
        <p:nvSpPr>
          <p:cNvPr id="17" name="workflow-stage-2">
            <a:extLst xmlns:a="http://schemas.openxmlformats.org/drawingml/2006/main">
              <a:ext uri="{FF2B5EF4-FFF2-40B4-BE49-F238E27FC236}">
                <a16:creationId xmlns:a16="http://schemas.microsoft.com/office/drawing/2014/main" id="{4F326DC0-18B1-4410-A098-7BCFEF30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14625"/>
            <a:ext cx="2857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EF"/>
          </a:solidFill>
          <a:ln xmlns:a="http://schemas.openxmlformats.org/drawingml/2006/main" w="19050">
            <a:solidFill>
              <a:srgbClr val="D5E2DA"/>
            </a:solidFill>
          </a:ln>
        </p:spPr>
      </p:sp>
      <p:sp>
        <p:nvSpPr>
          <p:cNvPr id="18" name="workflow-title-2">
            <a:extLst xmlns:a="http://schemas.openxmlformats.org/drawingml/2006/main">
              <a:ext uri="{FF2B5EF4-FFF2-40B4-BE49-F238E27FC236}">
                <a16:creationId xmlns:a16="http://schemas.microsoft.com/office/drawing/2014/main" id="{0F1B640D-FC05-480D-8616-EA5DDD33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67025"/>
            <a:ext cx="2438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AI 辅助分析</a:t>
            </a:r>
          </a:p>
        </p:txBody>
      </p:sp>
      <p:sp>
        <p:nvSpPr>
          <p:cNvPr id="19" name="workflow-body-2">
            <a:extLst xmlns:a="http://schemas.openxmlformats.org/drawingml/2006/main">
              <a:ext uri="{FF2B5EF4-FFF2-40B4-BE49-F238E27FC236}">
                <a16:creationId xmlns:a16="http://schemas.microsoft.com/office/drawing/2014/main" id="{B099EC65-907D-4754-873D-2C97ADCB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00425"/>
            <a:ext cx="2438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正文与评论归纳</a:t>
            </a:r>
          </a:p>
          <a:p xmlns:a="http://schemas.openxmlformats.org/drawingml/2006/main">
            <a: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结构化补测建议</a:t>
            </a:r>
          </a:p>
        </p:txBody>
      </p:sp>
      <p:sp>
        <p:nvSpPr>
          <p:cNvPr id="20" name="workflow-stage-3">
            <a:extLst xmlns:a="http://schemas.openxmlformats.org/drawingml/2006/main">
              <a:ext uri="{FF2B5EF4-FFF2-40B4-BE49-F238E27FC236}">
                <a16:creationId xmlns:a16="http://schemas.microsoft.com/office/drawing/2014/main" id="{ECE27765-5C83-4F9C-ABB9-32723563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714625"/>
            <a:ext cx="2857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EF"/>
          </a:solidFill>
          <a:ln xmlns:a="http://schemas.openxmlformats.org/drawingml/2006/main" w="19050">
            <a:solidFill>
              <a:srgbClr val="D5E2DA"/>
            </a:solidFill>
          </a:ln>
        </p:spPr>
      </p:sp>
      <p:sp>
        <p:nvSpPr>
          <p:cNvPr id="21" name="workflow-title-3">
            <a:extLst xmlns:a="http://schemas.openxmlformats.org/drawingml/2006/main">
              <a:ext uri="{FF2B5EF4-FFF2-40B4-BE49-F238E27FC236}">
                <a16:creationId xmlns:a16="http://schemas.microsoft.com/office/drawing/2014/main" id="{C15271E0-B3F9-48B6-AC6A-ED2FE7BB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867025"/>
            <a:ext cx="2438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人工审核</a:t>
            </a:r>
          </a:p>
        </p:txBody>
      </p:sp>
      <p:sp>
        <p:nvSpPr>
          <p:cNvPr id="22" name="workflow-body-3">
            <a:extLst xmlns:a="http://schemas.openxmlformats.org/drawingml/2006/main">
              <a:ext uri="{FF2B5EF4-FFF2-40B4-BE49-F238E27FC236}">
                <a16:creationId xmlns:a16="http://schemas.microsoft.com/office/drawing/2014/main" id="{0253DEC8-3BF0-4A64-AE07-DC343B65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400425"/>
            <a:ext cx="2438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核查证据</a:t>
            </a:r>
          </a:p>
          <a:p xmlns:a="http://schemas.openxmlformats.org/drawingml/2006/main">
            <a: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选择采纳并保存</a:t>
            </a:r>
          </a:p>
        </p:txBody>
      </p:sp>
      <p:sp>
        <p:nvSpPr>
          <p:cNvPr id="23" name="workflow-stage-4">
            <a:extLst xmlns:a="http://schemas.openxmlformats.org/drawingml/2006/main">
              <a:ext uri="{FF2B5EF4-FFF2-40B4-BE49-F238E27FC236}">
                <a16:creationId xmlns:a16="http://schemas.microsoft.com/office/drawing/2014/main" id="{0915A570-4BD3-4E34-8E03-50F57625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2714625"/>
            <a:ext cx="2857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EF"/>
          </a:solidFill>
          <a:ln xmlns:a="http://schemas.openxmlformats.org/drawingml/2006/main" w="19050">
            <a:solidFill>
              <a:srgbClr val="D5E2DA"/>
            </a:solidFill>
          </a:ln>
        </p:spPr>
      </p:sp>
      <p:sp>
        <p:nvSpPr>
          <p:cNvPr id="24" name="workflow-title-4">
            <a:extLst xmlns:a="http://schemas.openxmlformats.org/drawingml/2006/main">
              <a:ext uri="{FF2B5EF4-FFF2-40B4-BE49-F238E27FC236}">
                <a16:creationId xmlns:a16="http://schemas.microsoft.com/office/drawing/2014/main" id="{E339FE2E-94FA-4BCD-85CA-865F8200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2867025"/>
            <a:ext cx="2438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分析沉淀</a:t>
            </a:r>
          </a:p>
        </p:txBody>
      </p:sp>
      <p:sp>
        <p:nvSpPr>
          <p:cNvPr id="25" name="workflow-body-4">
            <a:extLst xmlns:a="http://schemas.openxmlformats.org/drawingml/2006/main">
              <a:ext uri="{FF2B5EF4-FFF2-40B4-BE49-F238E27FC236}">
                <a16:creationId xmlns:a16="http://schemas.microsoft.com/office/drawing/2014/main" id="{E036075E-5CC1-44B5-B89D-2C434000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3400425"/>
            <a:ext cx="2438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版本支持与状态记录</a:t>
            </a:r>
          </a:p>
          <a:p xmlns:a="http://schemas.openxmlformats.org/drawingml/2006/main">
            <a: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筛选导出</a:t>
            </a:r>
          </a:p>
        </p:txBody>
      </p:sp>
      <p:sp>
        <p:nvSpPr>
          <p:cNvPr id="26" name="workflow-followup-title">
            <a:extLst xmlns:a="http://schemas.openxmlformats.org/drawingml/2006/main">
              <a:ext uri="{FF2B5EF4-FFF2-40B4-BE49-F238E27FC236}">
                <a16:creationId xmlns:a16="http://schemas.microsoft.com/office/drawing/2014/main" id="{4C410E80-3D1D-49EF-B345-3C8BEF1C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01  持续更新的问题台账</a:t>
            </a:r>
          </a:p>
        </p:txBody>
      </p:sp>
      <p:sp>
        <p:nvSpPr>
          <p:cNvPr id="27" name="workflow-followup">
            <a:extLst xmlns:a="http://schemas.openxmlformats.org/drawingml/2006/main">
              <a:ext uri="{FF2B5EF4-FFF2-40B4-BE49-F238E27FC236}">
                <a16:creationId xmlns:a16="http://schemas.microsoft.com/office/drawing/2014/main" id="{A9EFE173-9BEC-417D-9371-1E785E17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72000"/>
            <a:ext cx="1181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首次全量、默认每 15 分钟增量同步与手动校准，社区信息和人工分析分别维护。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5E2BFE-A15F-40CC-A0E8-E4D0AF10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14950"/>
            <a:ext cx="1607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A"/>
            </a:solidFill>
            <a:prstDash val="solid"/>
          </a:ln>
        </p:spPr>
      </p:sp>
      <p:sp>
        <p:nvSpPr>
          <p:cNvPr id="29" name="workflow-explain-label-1">
            <a:extLst xmlns:a="http://schemas.openxmlformats.org/drawingml/2006/main">
              <a:ext uri="{FF2B5EF4-FFF2-40B4-BE49-F238E27FC236}">
                <a16:creationId xmlns:a16="http://schemas.microsoft.com/office/drawing/2014/main" id="{6203FB79-80B6-450C-98D5-AD84D939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2925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02  统一的分析入口</a:t>
            </a:r>
          </a:p>
        </p:txBody>
      </p:sp>
      <p:sp>
        <p:nvSpPr>
          <p:cNvPr id="30" name="workflow-explain-body-1">
            <a:extLst xmlns:a="http://schemas.openxmlformats.org/drawingml/2006/main">
              <a:ext uri="{FF2B5EF4-FFF2-40B4-BE49-F238E27FC236}">
                <a16:creationId xmlns:a16="http://schemas.microsoft.com/office/drawing/2014/main" id="{634293EB-F2E6-452F-8906-2905468D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429250"/>
            <a:ext cx="1181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按日期、状态、标签、价值和版本筛选，统一记录分析、补测、支持及闭环状态，并支持导出。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3893F2-D7E4-4D30-9B0E-13F86C11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72200"/>
            <a:ext cx="1607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A"/>
            </a:solidFill>
            <a:prstDash val="solid"/>
          </a:ln>
        </p:spPr>
      </p:sp>
      <p:sp>
        <p:nvSpPr>
          <p:cNvPr id="32" name="workflow-explain-label-2">
            <a:extLst xmlns:a="http://schemas.openxmlformats.org/drawingml/2006/main">
              <a:ext uri="{FF2B5EF4-FFF2-40B4-BE49-F238E27FC236}">
                <a16:creationId xmlns:a16="http://schemas.microsoft.com/office/drawing/2014/main" id="{89E22FA2-9F55-4F62-AFC5-6F4A04C6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8650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03  AI 分析与人工审核</a:t>
            </a:r>
          </a:p>
        </p:txBody>
      </p:sp>
      <p:sp>
        <p:nvSpPr>
          <p:cNvPr id="33" name="workflow-explain-body-2">
            <a:extLst xmlns:a="http://schemas.openxmlformats.org/drawingml/2006/main">
              <a:ext uri="{FF2B5EF4-FFF2-40B4-BE49-F238E27FC236}">
                <a16:creationId xmlns:a16="http://schemas.microsoft.com/office/drawing/2014/main" id="{0BE749F1-8790-4B74-BD49-CC17669A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286500"/>
            <a:ext cx="1181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结合正文与评论生成结构化建议，人工检查后采纳，区分事实与推测，漏测原因由人工填写。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5960DE-AE2C-4861-A3EA-7FC82E08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29450"/>
            <a:ext cx="1607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A"/>
            </a:solidFill>
            <a:prstDash val="solid"/>
          </a:ln>
        </p:spPr>
      </p:sp>
      <p:sp>
        <p:nvSpPr>
          <p:cNvPr id="35" name="workflow-explain-label-3">
            <a:extLst xmlns:a="http://schemas.openxmlformats.org/drawingml/2006/main">
              <a:ext uri="{FF2B5EF4-FFF2-40B4-BE49-F238E27FC236}">
                <a16:creationId xmlns:a16="http://schemas.microsoft.com/office/drawing/2014/main" id="{170EA7E0-9E81-4D23-A6DD-A5B15BD4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14375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04  可跟踪的批量任务</a:t>
            </a:r>
          </a:p>
        </p:txBody>
      </p:sp>
      <p:sp>
        <p:nvSpPr>
          <p:cNvPr id="36" name="workflow-explain-body-3">
            <a:extLst xmlns:a="http://schemas.openxmlformats.org/drawingml/2006/main">
              <a:ext uri="{FF2B5EF4-FFF2-40B4-BE49-F238E27FC236}">
                <a16:creationId xmlns:a16="http://schemas.microsoft.com/office/drawing/2014/main" id="{28069CB0-6796-484E-BCF3-9E74A708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143750"/>
            <a:ext cx="1181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勾选或按筛选结果批量分析，支持并发、进度、重试、取消及服务重启后恢复。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B0784E-F7A0-4CAF-874A-5368E26B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86700"/>
            <a:ext cx="1607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A"/>
            </a:solidFill>
            <a:prstDash val="solid"/>
          </a:ln>
        </p:spPr>
      </p:sp>
      <p:sp>
        <p:nvSpPr>
          <p:cNvPr id="38" name="workflow-explain-label-4">
            <a:extLst xmlns:a="http://schemas.openxmlformats.org/drawingml/2006/main">
              <a:ext uri="{FF2B5EF4-FFF2-40B4-BE49-F238E27FC236}">
                <a16:creationId xmlns:a16="http://schemas.microsoft.com/office/drawing/2014/main" id="{C58A495D-49C1-448D-A84A-FCEE8723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00100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05  复现候选清单</a:t>
            </a:r>
          </a:p>
        </p:txBody>
      </p:sp>
      <p:sp>
        <p:nvSpPr>
          <p:cNvPr id="39" name="workflow-explain-body-4">
            <a:extLst xmlns:a="http://schemas.openxmlformats.org/drawingml/2006/main">
              <a:ext uri="{FF2B5EF4-FFF2-40B4-BE49-F238E27FC236}">
                <a16:creationId xmlns:a16="http://schemas.microsoft.com/office/drawing/2014/main" id="{FE378ACD-ED6A-4489-8E13-B630A047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8001000"/>
            <a:ext cx="1181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保留复现性与价值均为高或中的问题，排除 Doc/RFC 等类型，按复现性、价值及明确版本信息排序。</a:t>
            </a:r>
          </a:p>
        </p:txBody>
      </p:sp>
    </p:spTree>
    <p:extLst>
      <p:ext uri="{BB962C8B-B14F-4D97-AF65-F5344CB8AC3E}">
        <p14:creationId xmlns:p14="http://schemas.microsoft.com/office/powerpoint/2010/main" val="14881273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C8BF8B-594F-45C4-9F1E-07FF18A2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19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痛点与解决方案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79E991B-5D0F-464A-9F5D-1D667021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81175"/>
            <a:ext cx="1600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对应鱼骨图六类影响因素，说明项目的处理方式与期望作用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5ECE7-FBFF-4CB4-8C40-31CD8CD2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25830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5F3A5B0-AC0F-41EB-945D-3ADA3FAF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05950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5BACD03-7B42-4F83-A67D-1B91FE84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4678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82229-6470-4B13-9B88-66CEEEAC35F6}"/>
              </a:ext>
            </a:extLst>
          </p:cNvPr>
          <p:cNvGraphicFramePr/>
          <p:nvPr/>
        </p:nvGraphicFramePr>
        <p:xfrm>
          <a:off xmlns:a="http://schemas.openxmlformats.org/drawingml/2006/main" x="990600" y="2857500"/>
          <a:ext xmlns:a="http://schemas.openxmlformats.org/drawingml/2006/main" cx="16287750" cy="7829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7715250"/>
                <a:gridCol w="5810250"/>
              </a:tblGrid>
              <a:tr h="704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痛点类别</a:t>
                      </a:r>
                    </a:p>
                  </a:txBody>
                  <a:tcPr marL="190500" marR="190500" marT="114300" marB="11430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解决方案</a:t>
                      </a:r>
                    </a:p>
                  </a:txBody>
                  <a:tcPr marL="190500" marR="190500" marT="114300" marB="1143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期望作用</a:t>
                      </a:r>
                    </a:p>
                  </a:txBody>
                  <a:tcPr marL="190500" marR="190500" marT="114300" marB="1143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</a:tr>
              <a:tr h="86677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信息获取</a:t>
                      </a:r>
                    </a:p>
                  </a:txBody>
                  <a:tcPr marL="190500" marR="190500" marT="114300" marB="11430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全量与增量同步结合手动校准</a:t>
                      </a:r>
                    </a:p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建立统一问题入口，持续跟进变化</a:t>
                      </a:r>
                    </a:p>
                  </a:txBody>
                  <a:tcPr marL="190500" marR="190500" marT="114300" marB="1143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减少分散查找与反复核对</a:t>
                      </a:r>
                    </a:p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关注同步完整性和更新及时性</a:t>
                      </a:r>
                    </a:p>
                  </a:txBody>
                  <a:tcPr marL="190500" marR="190500" marT="114300" marB="1143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分析方法</a:t>
                      </a:r>
                    </a:p>
                  </a:txBody>
                  <a:tcPr marL="190500" marR="190500" marT="114300" marB="11430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多维筛选与统一分析字段</a:t>
                      </a:r>
                    </a:p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结合人工和 AI 判断价值、复现性与重点</a:t>
                      </a:r>
                    </a:p>
                  </a:txBody>
                  <a:tcPr marL="190500" marR="190500" marT="114300" marB="1143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统一分析口径和关注范围</a:t>
                      </a:r>
                    </a:p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把投入集中到值得验证的问题</a:t>
                      </a:r>
                    </a:p>
                  </a:txBody>
                  <a:tcPr marL="190500" marR="190500" marT="114300" marB="1143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环境配置</a:t>
                      </a:r>
                    </a:p>
                  </a:txBody>
                  <a:tcPr marL="190500" marR="190500" marT="114300" marB="11430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整理模型、量化、并行、硬件和软件版本</a:t>
                      </a:r>
                    </a:p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明确触发场景、验证条件与待补参数</a:t>
                      </a:r>
                    </a:p>
                  </a:txBody>
                  <a:tcPr marL="190500" marR="190500" marT="114300" marB="1143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支持复现环境与测试准备</a:t>
                      </a:r>
                    </a:p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提高材料完整性和可核查性</a:t>
                      </a:r>
                    </a:p>
                  </a:txBody>
                  <a:tcPr marL="190500" marR="190500" marT="114300" marB="1143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人员协作</a:t>
                      </a:r>
                    </a:p>
                  </a:txBody>
                  <a:tcPr marL="190500" marR="190500" marT="114300" marB="11430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统一记录问题识别、结论和处理状态</a:t>
                      </a:r>
                    </a:p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通过评审导出与台账记录支持交接</a:t>
                      </a:r>
                    </a:p>
                  </a:txBody>
                  <a:tcPr marL="190500" marR="190500" marT="114300" marB="1143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便于接续分析和协同跟进</a:t>
                      </a:r>
                    </a:p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减少重复阅读与信息断层</a:t>
                      </a:r>
                    </a:p>
                  </a:txBody>
                  <a:tcPr marL="190500" marR="190500" marT="114300" marB="1143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工作流程</a:t>
                      </a:r>
                    </a:p>
                  </a:txBody>
                  <a:tcPr marL="190500" marR="190500" marT="114300" marB="11430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选中或按筛选范围创建批量任务</a:t>
                      </a:r>
                    </a:p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结合进度、重试、人工审核与状态维护</a:t>
                      </a:r>
                    </a:p>
                  </a:txBody>
                  <a:tcPr marL="190500" marR="190500" marT="114300" marB="1143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减少逐条提交与整理操作</a:t>
                      </a:r>
                    </a:p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集中查看任务和结果</a:t>
                      </a:r>
                    </a:p>
                  </a:txBody>
                  <a:tcPr marL="190500" marR="190500" marT="114300" marB="1143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知识沉淀</a:t>
                      </a:r>
                    </a:p>
                  </a:txBody>
                  <a:tcPr marL="190500" marR="190500" marT="114300" marB="11430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保存人工分析与 AI 建议</a:t>
                      </a:r>
                    </a:p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整理典型场景及相关测试验证材料</a:t>
                      </a:r>
                    </a:p>
                  </a:txBody>
                  <a:tcPr marL="190500" marR="190500" marT="114300" marB="1143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支持同类问题经验复用</a:t>
                      </a:r>
                    </a:p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促进社区反馈转化为测试输入</a:t>
                      </a:r>
                    </a:p>
                  </a:txBody>
                  <a:tcPr marL="190500" marR="190500" marT="114300" marB="1143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expanded-capability-note">
            <a:extLst xmlns:a="http://schemas.openxmlformats.org/drawingml/2006/main">
              <a:ext uri="{FF2B5EF4-FFF2-40B4-BE49-F238E27FC236}">
                <a16:creationId xmlns:a16="http://schemas.microsoft.com/office/drawing/2014/main" id="{83844ADE-94CF-45A9-8252-FF57AA2D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810625"/>
            <a:ext cx="1609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方案围绕具体工作痛点组织，统一台账和人工分析提供基础，AI 辅助归纳与筛选。</a:t>
            </a:r>
          </a:p>
        </p:txBody>
      </p:sp>
    </p:spTree>
    <p:extLst>
      <p:ext uri="{BB962C8B-B14F-4D97-AF65-F5344CB8AC3E}">
        <p14:creationId xmlns:p14="http://schemas.microsoft.com/office/powerpoint/2010/main" val="13375031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9A584C-FD5E-4DAA-938A-88DAAA54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19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AI 分析输出与人工职责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1E454FB-02E9-4F48-ADDC-9258A570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81175"/>
            <a:ext cx="1600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输出围绕测试准备展开，明确事实、假设和待补信息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24BCE-9C94-4FF0-9A2C-48DCCD47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25830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FFECAFD-AEF3-490C-90EF-39B4077E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05950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C70E7C3-8BFC-44FC-B35B-727BD1A8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4678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ai-col-heading">
            <a:extLst xmlns:a="http://schemas.openxmlformats.org/drawingml/2006/main">
              <a:ext uri="{FF2B5EF4-FFF2-40B4-BE49-F238E27FC236}">
                <a16:creationId xmlns:a16="http://schemas.microsoft.com/office/drawing/2014/main" id="{B08FD751-DC02-476A-9100-89CF208C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AI 辅助整理</a:t>
            </a:r>
          </a:p>
        </p:txBody>
      </p:sp>
      <p:sp>
        <p:nvSpPr>
          <p:cNvPr id="8" name="ai-col-body">
            <a:extLst xmlns:a="http://schemas.openxmlformats.org/drawingml/2006/main">
              <a:ext uri="{FF2B5EF4-FFF2-40B4-BE49-F238E27FC236}">
                <a16:creationId xmlns:a16="http://schemas.microsoft.com/office/drawing/2014/main" id="{9D63CF55-C52D-460D-B2A9-B8C310AB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57625"/>
            <a:ext cx="7620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摘要与识别：归纳问题现象、来源和价值，</a:t>
            </a:r>
          </a:p>
          <a:p xmlns:a="http://schemas.openxmlformats.org/drawingml/2006/main">
            <a:pPr algn="l">
              <a:defRPr sz="26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说明判断依据。</a:t>
            </a:r>
          </a:p>
          <a:p xmlns:a="http://schemas.openxmlformats.org/drawingml/2006/main">
            <a: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defRPr sz="26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复现与补测：整理模型、硬件、版本、</a:t>
            </a:r>
          </a:p>
          <a:p xmlns:a="http://schemas.openxmlformats.org/drawingml/2006/main">
            <a: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触发场景及验证断言。</a:t>
            </a:r>
          </a:p>
          <a:p xmlns:a="http://schemas.openxmlformats.org/drawingml/2006/main">
            <a: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信息缺口：标明缺失参数，区分已知事实</a:t>
            </a:r>
          </a:p>
          <a:p xmlns:a="http://schemas.openxmlformats.org/drawingml/2006/main">
            <a: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与根因假设。</a:t>
            </a:r>
          </a:p>
        </p:txBody>
      </p:sp>
      <p:sp>
        <p:nvSpPr>
          <p:cNvPr id="9" name="human-col-heading">
            <a:extLst xmlns:a="http://schemas.openxmlformats.org/drawingml/2006/main">
              <a:ext uri="{FF2B5EF4-FFF2-40B4-BE49-F238E27FC236}">
                <a16:creationId xmlns:a16="http://schemas.microsoft.com/office/drawing/2014/main" id="{7FA41D9B-2237-49B9-8372-D349FEB2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57500"/>
            <a:ext cx="714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人工审核与决策</a:t>
            </a:r>
          </a:p>
        </p:txBody>
      </p:sp>
      <p:sp>
        <p:nvSpPr>
          <p:cNvPr id="10" name="human-col-body">
            <a:extLst xmlns:a="http://schemas.openxmlformats.org/drawingml/2006/main">
              <a:ext uri="{FF2B5EF4-FFF2-40B4-BE49-F238E27FC236}">
                <a16:creationId xmlns:a16="http://schemas.microsoft.com/office/drawing/2014/main" id="{5E058C5A-2FE4-418B-ABDF-CD549D07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57625"/>
            <a:ext cx="7143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证据核查：对照正文和评论，检查关键配置</a:t>
            </a:r>
          </a:p>
          <a:p xmlns:a="http://schemas.openxmlformats.org/drawingml/2006/main">
            <a:pPr algn="l">
              <a:defRPr sz="26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与建议是否可靠。</a:t>
            </a:r>
          </a:p>
          <a:p xmlns:a="http://schemas.openxmlformats.org/drawingml/2006/main">
            <a: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defRPr sz="26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分析确认：检查后选择采纳，结合实际覆盖</a:t>
            </a:r>
          </a:p>
          <a:p xmlns:a="http://schemas.openxmlformats.org/drawingml/2006/main">
            <a: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填写漏测原因。</a:t>
            </a:r>
          </a:p>
          <a:p xmlns:a="http://schemas.openxmlformats.org/drawingml/2006/main">
            <a: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测试决策：补齐材料、执行复现，评审根因</a:t>
            </a:r>
          </a:p>
          <a:p xmlns:a="http://schemas.openxmlformats.org/drawingml/2006/main">
            <a: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与用例入库。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46CC0-5D82-4714-897C-AB9E0591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58125"/>
            <a:ext cx="1626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  <a:prstDash val="solid"/>
          </a:ln>
        </p:spPr>
      </p:sp>
      <p:sp>
        <p:nvSpPr>
          <p:cNvPr id="12" name="ai-input-rule">
            <a:extLst xmlns:a="http://schemas.openxmlformats.org/drawingml/2006/main">
              <a:ext uri="{FF2B5EF4-FFF2-40B4-BE49-F238E27FC236}">
                <a16:creationId xmlns:a16="http://schemas.microsoft.com/office/drawing/2014/main" id="{B33A9DA3-167B-4C6C-92AD-3DB05F3A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81975"/>
            <a:ext cx="1619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A2 / A3 / A5、量化与并行配置仅提取原文已提供的信息，缺失项标为“待确认”。</a:t>
            </a:r>
          </a:p>
        </p:txBody>
      </p:sp>
    </p:spTree>
    <p:extLst>
      <p:ext uri="{BB962C8B-B14F-4D97-AF65-F5344CB8AC3E}">
        <p14:creationId xmlns:p14="http://schemas.microsoft.com/office/powerpoint/2010/main" val="13988409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B83EC4-D090-4C1E-9F73-D6541F1D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19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案例：Kimi 模型 decode 崩溃反馈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6B16BCD-BC99-4049-8DA9-A9EB4D73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81175"/>
            <a:ext cx="1600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依据此前提供的反馈材料整理，根因和实际复现结果仍待核实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2CF46-0AE5-4DC1-A622-15A6659E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25830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1571F04-46DB-4888-A728-9C94E366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05950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9147374-6006-4E78-B20F-4008BB4B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4678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9FE56-AD3F-4DAA-9E28-44017BE649E9}"/>
              </a:ext>
            </a:extLst>
          </p:cNvPr>
          <p:cNvGraphicFramePr/>
          <p:nvPr/>
        </p:nvGraphicFramePr>
        <p:xfrm>
          <a:off xmlns:a="http://schemas.openxmlformats.org/drawingml/2006/main" x="990600" y="2857500"/>
          <a:ext xmlns:a="http://schemas.openxmlformats.org/drawingml/2006/main" cx="16287750" cy="5476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191000"/>
                <a:gridCol w="12096750"/>
              </a:tblGrid>
              <a:tr h="9144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需要提取的内容</a:t>
                      </a:r>
                    </a:p>
                  </a:txBody>
                  <a:tcPr marL="228600" marR="228600" marT="209550" marB="1714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案例材料与下一步动作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</a:tr>
              <a:tr h="114061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环境与配置</a:t>
                      </a:r>
                    </a:p>
                  </a:txBody>
                  <a:tcPr marL="228600" marR="228600" marT="209550" marB="1714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报告者提供 Atlas 800I A3、CANN 9.2.0 环境</a:t>
                      </a:r>
                    </a:p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模型为 Kimi-K3 W4A8，并行方式为 TP16 加 EP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4061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报告者描述的现象</a:t>
                      </a:r>
                    </a:p>
                  </a:txBody>
                  <a:tcPr marL="228600" marR="228600" marT="209550" marB="1714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prefill 正常，decode 出现 keyRope 视图偏移非法错误</a:t>
                      </a:r>
                    </a:p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反馈还包含多次运行日志和执行模式的对照现象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4061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待验证假设</a:t>
                      </a:r>
                    </a:p>
                  </a:txBody>
                  <a:tcPr marL="228600" marR="228600" marT="209550" marB="1714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算子内部偏移计算异常属于可能原因</a:t>
                      </a:r>
                    </a:p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整数溢出需要代码或实验依据进一步确认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4061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建议验证动作</a:t>
                      </a:r>
                    </a:p>
                  </a:txBody>
                  <a:tcPr marL="228600" marR="228600" marT="209550" marB="1714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补齐参数，准备相应环境并复现 decode 请求</a:t>
                      </a:r>
                    </a:p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 eager、图模式和不同软件环境，记录错误与运行结果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expanded-case-note">
            <a:extLst xmlns:a="http://schemas.openxmlformats.org/drawingml/2006/main">
              <a:ext uri="{FF2B5EF4-FFF2-40B4-BE49-F238E27FC236}">
                <a16:creationId xmlns:a16="http://schemas.microsoft.com/office/drawing/2014/main" id="{3142C88E-0023-431A-8E7A-DE56E6D6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591550"/>
            <a:ext cx="1609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案例作用：把长篇反馈整理为可核查的配置、现象和验证动作，支持测试人员继续推进。</a:t>
            </a:r>
          </a:p>
        </p:txBody>
      </p:sp>
    </p:spTree>
    <p:extLst>
      <p:ext uri="{BB962C8B-B14F-4D97-AF65-F5344CB8AC3E}">
        <p14:creationId xmlns:p14="http://schemas.microsoft.com/office/powerpoint/2010/main" val="8923774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7A5E85-B67A-4700-98A8-04F76B99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19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“优先处理”的筛选与排序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9DE70B0-8FD3-4ABF-976E-E1032787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81175"/>
            <a:ext cx="1600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为当前一批问题提供复现投入的候选顺序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7523D-2A2A-4E76-9D7C-7CC60EEC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25830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3AAE8A7-EB75-4DD7-AAF1-009398EA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05950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DA9CAF4-7128-416D-8E5B-AB8530A6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4678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7" name="priority-filter-heading">
            <a:extLst xmlns:a="http://schemas.openxmlformats.org/drawingml/2006/main">
              <a:ext uri="{FF2B5EF4-FFF2-40B4-BE49-F238E27FC236}">
                <a16:creationId xmlns:a16="http://schemas.microsoft.com/office/drawing/2014/main" id="{EF177CEB-9BD8-49AD-9A98-6CDD811F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入选条件</a:t>
            </a:r>
          </a:p>
        </p:txBody>
      </p:sp>
      <p:sp>
        <p:nvSpPr>
          <p:cNvPr id="8" name="priority-filter-body">
            <a:extLst xmlns:a="http://schemas.openxmlformats.org/drawingml/2006/main">
              <a:ext uri="{FF2B5EF4-FFF2-40B4-BE49-F238E27FC236}">
                <a16:creationId xmlns:a16="http://schemas.microsoft.com/office/drawing/2014/main" id="{5AB58B67-1888-4082-97A1-E50B34EB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79057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分析依据：最新已保存的 AI 分析结果。</a:t>
            </a:r>
          </a:p>
          <a:p xmlns:a="http://schemas.openxmlformats.org/drawingml/2006/main">
            <a: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纳入范围：复现性和价值均为“高”或“中”。</a:t>
            </a:r>
          </a:p>
          <a:p xmlns:a="http://schemas.openxmlformats.org/drawingml/2006/main">
            <a: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排除范围：Doc、RFC、咨询与非问题。</a:t>
            </a:r>
          </a:p>
          <a:p xmlns:a="http://schemas.openxmlformats.org/drawingml/2006/main">
            <a: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人工优先：价值等级采用已有人工填写值。</a:t>
            </a:r>
          </a:p>
        </p:txBody>
      </p:sp>
      <p:sp>
        <p:nvSpPr>
          <p:cNvPr id="9" name="priority-order-heading">
            <a:extLst xmlns:a="http://schemas.openxmlformats.org/drawingml/2006/main">
              <a:ext uri="{FF2B5EF4-FFF2-40B4-BE49-F238E27FC236}">
                <a16:creationId xmlns:a16="http://schemas.microsoft.com/office/drawing/2014/main" id="{4432EE63-1A0C-4CEA-AAE0-D64841FC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5750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排序顺序</a:t>
            </a:r>
          </a:p>
        </p:txBody>
      </p:sp>
      <p:sp>
        <p:nvSpPr>
          <p:cNvPr id="10" name="priority-order-body">
            <a:extLst xmlns:a="http://schemas.openxmlformats.org/drawingml/2006/main">
              <a:ext uri="{FF2B5EF4-FFF2-40B4-BE49-F238E27FC236}">
                <a16:creationId xmlns:a16="http://schemas.microsoft.com/office/drawing/2014/main" id="{E449686F-0C53-44C9-B748-0DE4394A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05250"/>
            <a:ext cx="6858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1   复现性，高优先于中</a:t>
            </a:r>
          </a:p>
          <a:p xmlns:a="http://schemas.openxmlformats.org/drawingml/2006/main">
            <a: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2   价值，高优先于中</a:t>
            </a:r>
          </a:p>
          <a:p xmlns:a="http://schemas.openxmlformats.org/drawingml/2006/main">
            <a: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3   明确版本在候选中的相对新旧</a:t>
            </a:r>
          </a:p>
          <a:p xmlns:a="http://schemas.openxmlformats.org/drawingml/2006/main">
            <a: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4   AI 自评置信度、创建时间及编号</a:t>
            </a:r>
          </a:p>
        </p:txBody>
      </p:sp>
      <p:sp>
        <p:nvSpPr>
          <p:cNvPr id="11" name="priority-caveat">
            <a:extLst xmlns:a="http://schemas.openxmlformats.org/drawingml/2006/main">
              <a:ext uri="{FF2B5EF4-FFF2-40B4-BE49-F238E27FC236}">
                <a16:creationId xmlns:a16="http://schemas.microsoft.com/office/drawing/2014/main" id="{8ED72445-7C7B-4E1A-97B4-A300DD26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991475"/>
            <a:ext cx="1609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列表工具栏勾选“优先处理”，即可查看排名与推荐理由。高价值但信息不足的问题也可能被隐藏，需要回到完整列表复查。</a:t>
            </a:r>
          </a:p>
        </p:txBody>
      </p:sp>
    </p:spTree>
    <p:extLst>
      <p:ext uri="{BB962C8B-B14F-4D97-AF65-F5344CB8AC3E}">
        <p14:creationId xmlns:p14="http://schemas.microsoft.com/office/powerpoint/2010/main" val="14454377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F9A2B1-ED10-4C42-A5C0-6903B122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19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项目价值与评价指标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FC9422A-6CB8-467C-9015-361BDBBE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81175"/>
            <a:ext cx="1600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围绕资料整理效率、分析质量和测试转化，持续观察方案效果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19CC9-EDF4-4691-9531-500B1F22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25830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BE5E84F-11BA-42A6-AE5C-66D10B2A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05950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AAA32ED-830C-438A-A5DE-8333BA12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4678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286CC-E515-4EBC-87F6-8619BE052BFF}"/>
              </a:ext>
            </a:extLst>
          </p:cNvPr>
          <p:cNvGraphicFramePr/>
          <p:nvPr/>
        </p:nvGraphicFramePr>
        <p:xfrm>
          <a:off xmlns:a="http://schemas.openxmlformats.org/drawingml/2006/main" x="990600" y="2857500"/>
          <a:ext xmlns:a="http://schemas.openxmlformats.org/drawingml/2006/main" cx="16287750" cy="5524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048250"/>
                <a:gridCol w="5524500"/>
                <a:gridCol w="5715000"/>
              </a:tblGrid>
              <a:tr h="9144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解决方案</a:t>
                      </a:r>
                    </a:p>
                  </a:txBody>
                  <a:tcPr marL="228600" marR="228600" marT="209550" marB="1714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期望作用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评价关注点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</a:tr>
              <a:tr h="11525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持续同步与统一台账</a:t>
                      </a:r>
                    </a:p>
                  </a:txBody>
                  <a:tcPr marL="228600" marR="228600" marT="209550" marB="1714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减少重复收集与核对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让专题分析基于已有积累继续开展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同步完整性、人工整理耗时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核对同仓库、同时间与同筛选范围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525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归纳与批量任务</a:t>
                      </a:r>
                    </a:p>
                  </a:txBody>
                  <a:tcPr marL="228600" marR="228600" marT="209550" marB="1714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减少初步阅读和资料整理投入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把人工精力集中到审核与验证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人工审核耗时、建议采纳情况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比较相近复杂度的分析样本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525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复现候选与补测建议</a:t>
                      </a:r>
                    </a:p>
                  </a:txBody>
                  <a:tcPr marL="228600" marR="228600" marT="209550" marB="1714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收敛重点问题范围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明确测试准备需要的配置与材料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推荐有效性、实际复现结果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同时抽查被筛掉的重要问题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525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分析记录与筛选导出</a:t>
                      </a:r>
                    </a:p>
                  </a:txBody>
                  <a:tcPr marL="228600" marR="228600" marT="209550" marB="1714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便于共享、交接和专题评审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沉淀可复用的测试输入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回归用例转化量、后续复用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 Issue 与用例的关联记录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expanded-metric-note">
            <a:extLst xmlns:a="http://schemas.openxmlformats.org/drawingml/2006/main">
              <a:ext uri="{FF2B5EF4-FFF2-40B4-BE49-F238E27FC236}">
                <a16:creationId xmlns:a16="http://schemas.microsoft.com/office/drawing/2014/main" id="{1BA0D34C-1A31-409D-A62F-733F4841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601075"/>
            <a:ext cx="1609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统计口径：AI 生成、人工确认、实际复现与用例入库分别统计，审核耗时计入效率评价。</a:t>
            </a:r>
          </a:p>
        </p:txBody>
      </p:sp>
    </p:spTree>
    <p:extLst>
      <p:ext uri="{BB962C8B-B14F-4D97-AF65-F5344CB8AC3E}">
        <p14:creationId xmlns:p14="http://schemas.microsoft.com/office/powerpoint/2010/main" val="11893901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51250B-C57F-4530-AC9D-02AA33A6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19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方案应用与质量控制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DF8CC48-1C50-4E19-8F76-D2DC7E2C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81175"/>
            <a:ext cx="1600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以证据核查和人工审核保障分析与测试决策的可靠性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D46B9-7BD1-430B-AAF3-10A1CA08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25830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AD31CC0-300B-4501-80CE-52E73CFC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05950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F07C29F-0851-45CB-9B4B-6BAA5937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4678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7" name="row-0-number">
            <a:extLst xmlns:a="http://schemas.openxmlformats.org/drawingml/2006/main">
              <a:ext uri="{FF2B5EF4-FFF2-40B4-BE49-F238E27FC236}">
                <a16:creationId xmlns:a16="http://schemas.microsoft.com/office/drawing/2014/main" id="{21357DAE-3D8D-4603-A421-7A0B92C0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1000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row-0-heading">
            <a:extLst xmlns:a="http://schemas.openxmlformats.org/drawingml/2006/main">
              <a:ext uri="{FF2B5EF4-FFF2-40B4-BE49-F238E27FC236}">
                <a16:creationId xmlns:a16="http://schemas.microsoft.com/office/drawing/2014/main" id="{45200B8C-00EE-4B97-81F7-689CA04B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62250"/>
            <a:ext cx="1476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分析结论有据可查</a:t>
            </a:r>
          </a:p>
        </p:txBody>
      </p:sp>
      <p:sp>
        <p:nvSpPr>
          <p:cNvPr id="9" name="row-0-body">
            <a:extLst xmlns:a="http://schemas.openxmlformats.org/drawingml/2006/main">
              <a:ext uri="{FF2B5EF4-FFF2-40B4-BE49-F238E27FC236}">
                <a16:creationId xmlns:a16="http://schemas.microsoft.com/office/drawing/2014/main" id="{D8C11588-1B7E-436B-9F6F-D79D185C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24250"/>
            <a:ext cx="14573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分析结合正文、评论、配置和日志，区分事实、假设与缺失信息。</a:t>
            </a:r>
          </a:p>
          <a:p xmlns:a="http://schemas.openxmlformats.org/drawingml/2006/main">
            <a: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复现性判断和 AI 自评置信度，通过人工抽检与实验结果核验。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7CE099-EE8B-4465-B7CE-A9A99BFA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81500"/>
            <a:ext cx="1457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  <a:prstDash val="solid"/>
          </a:ln>
        </p:spPr>
      </p:sp>
      <p:sp>
        <p:nvSpPr>
          <p:cNvPr id="11" name="row-1-number">
            <a:extLst xmlns:a="http://schemas.openxmlformats.org/drawingml/2006/main">
              <a:ext uri="{FF2B5EF4-FFF2-40B4-BE49-F238E27FC236}">
                <a16:creationId xmlns:a16="http://schemas.microsoft.com/office/drawing/2014/main" id="{A7D46A97-CED5-4ABF-ADD2-FD928E8E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9625"/>
            <a:ext cx="1000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row-1-heading">
            <a:extLst xmlns:a="http://schemas.openxmlformats.org/drawingml/2006/main">
              <a:ext uri="{FF2B5EF4-FFF2-40B4-BE49-F238E27FC236}">
                <a16:creationId xmlns:a16="http://schemas.microsoft.com/office/drawing/2014/main" id="{405C3ABD-F44A-484B-BE43-34F74C84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19625"/>
            <a:ext cx="1476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环境与版本逐项核实</a:t>
            </a:r>
          </a:p>
        </p:txBody>
      </p:sp>
      <p:sp>
        <p:nvSpPr>
          <p:cNvPr id="13" name="row-1-body">
            <a:extLst xmlns:a="http://schemas.openxmlformats.org/drawingml/2006/main">
              <a:ext uri="{FF2B5EF4-FFF2-40B4-BE49-F238E27FC236}">
                <a16:creationId xmlns:a16="http://schemas.microsoft.com/office/drawing/2014/main" id="{94A5B9F0-816D-4356-A19B-2F1BF1AF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81625"/>
            <a:ext cx="14573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明确模型配置、硬件环境、软件版本和触发条件，整理需要补采的参数。</a:t>
            </a:r>
          </a:p>
          <a:p xmlns:a="http://schemas.openxmlformats.org/drawingml/2006/main">
            <a: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版本配套与修复结论结合可靠资料和实际对照验证确认。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EB95D6-7B4A-4DF0-98B4-EC1E1C7A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238875"/>
            <a:ext cx="1457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  <a:prstDash val="solid"/>
          </a:ln>
        </p:spPr>
      </p:sp>
      <p:sp>
        <p:nvSpPr>
          <p:cNvPr id="15" name="row-2-number">
            <a:extLst xmlns:a="http://schemas.openxmlformats.org/drawingml/2006/main">
              <a:ext uri="{FF2B5EF4-FFF2-40B4-BE49-F238E27FC236}">
                <a16:creationId xmlns:a16="http://schemas.microsoft.com/office/drawing/2014/main" id="{7DEE2DD0-01AB-458C-BBB2-B01036E5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77000"/>
            <a:ext cx="1000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row-2-heading">
            <a:extLst xmlns:a="http://schemas.openxmlformats.org/drawingml/2006/main">
              <a:ext uri="{FF2B5EF4-FFF2-40B4-BE49-F238E27FC236}">
                <a16:creationId xmlns:a16="http://schemas.microsoft.com/office/drawing/2014/main" id="{3485C489-AF76-434B-BBDB-0F503FBF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77000"/>
            <a:ext cx="1476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人员负责关键决策</a:t>
            </a:r>
          </a:p>
        </p:txBody>
      </p:sp>
      <p:sp>
        <p:nvSpPr>
          <p:cNvPr id="17" name="row-2-body">
            <a:extLst xmlns:a="http://schemas.openxmlformats.org/drawingml/2006/main">
              <a:ext uri="{FF2B5EF4-FFF2-40B4-BE49-F238E27FC236}">
                <a16:creationId xmlns:a16="http://schemas.microsoft.com/office/drawing/2014/main" id="{F794E631-E9D2-490E-9D69-EF20887D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239000"/>
            <a:ext cx="14573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人员核查证据、补齐材料并决定采纳与测试入库，漏测原因结合实际覆盖填写。</a:t>
            </a:r>
          </a:p>
          <a:p xmlns:a="http://schemas.openxmlformats.org/drawingml/2006/main">
            <a: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保留完整问题列表，并复查高价值但信息不足的反馈，减少筛选遗漏。</a:t>
            </a:r>
          </a:p>
        </p:txBody>
      </p:sp>
    </p:spTree>
    <p:extLst>
      <p:ext uri="{BB962C8B-B14F-4D97-AF65-F5344CB8AC3E}">
        <p14:creationId xmlns:p14="http://schemas.microsoft.com/office/powerpoint/2010/main" val="3206817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B4E67A-4F82-440B-820B-745CCA74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19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目标推进与持续改进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0E9393C-881D-4FE8-83D1-34F06462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81175"/>
            <a:ext cx="1600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围绕分析质量、证据与规则、测试转化设置改进方向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F058F-E72F-4EAA-A664-174998A2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25830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832509B-EC3F-4962-88FA-C2162402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05950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81D2DCA-3A0F-4BDE-96AA-BBC9CC5F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4678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4DEB8F-1495-4B97-9A08-46D1587F8F11}"/>
              </a:ext>
            </a:extLst>
          </p:cNvPr>
          <p:cNvGraphicFramePr/>
          <p:nvPr/>
        </p:nvGraphicFramePr>
        <p:xfrm>
          <a:off xmlns:a="http://schemas.openxmlformats.org/drawingml/2006/main" x="990600" y="2857500"/>
          <a:ext xmlns:a="http://schemas.openxmlformats.org/drawingml/2006/main" cx="16287750" cy="5619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43250"/>
                <a:gridCol w="7524750"/>
                <a:gridCol w="5619750"/>
              </a:tblGrid>
              <a:tr h="9144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改进方向</a:t>
                      </a:r>
                    </a:p>
                  </a:txBody>
                  <a:tcPr marL="228600" marR="228600" marT="209550" marB="1714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解决方案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评价与产出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</a:tr>
              <a:tr h="15684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分析质量</a:t>
                      </a:r>
                    </a:p>
                  </a:txBody>
                  <a:tcPr marL="228600" marR="228600" marT="209550" marB="1714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建议选取 50–100 条代表样本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覆盖缺陷、咨询及不同信息完整度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人工评审，并抽查被筛掉的问题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样本集、评审标准与首轮基线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评估摘要、参数准确性及建议可执行性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据此确定下一轮验收门槛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684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证据与规则</a:t>
                      </a:r>
                    </a:p>
                  </a:txBody>
                  <a:tcPr marL="228600" marR="228600" marT="209550" marB="1714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补充原文依据与可靠版本配套信息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明确分析缺口，跟进高价值信息不足问题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结合评审结果迭代提示词与筛选规则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可核查的证据与缺口说明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规则改进记录和样本复评结果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逐步关联 PR、修复记录与内部用例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684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测试转化</a:t>
                      </a:r>
                    </a:p>
                  </a:txBody>
                  <a:tcPr marL="228600" marR="228600" marT="209550" marB="1714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选择少量价值明确、环境可用的问题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补齐材料并开展人工复现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提炼最小用例，完成评审与入库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 Issue、配置与复现结果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最小用例和评审记录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跟踪回归效果，判断是否扩大试点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expanded-roadmap-note">
            <a:extLst xmlns:a="http://schemas.openxmlformats.org/drawingml/2006/main">
              <a:ext uri="{FF2B5EF4-FFF2-40B4-BE49-F238E27FC236}">
                <a16:creationId xmlns:a16="http://schemas.microsoft.com/office/drawing/2014/main" id="{0A7ADAD4-DFE6-4276-B418-C69CCB86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6487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持续改进依据人工评审与测试结果展开，同时关注运行成本、任务稳定性和团队使用体验。</a:t>
            </a:r>
          </a:p>
        </p:txBody>
      </p:sp>
    </p:spTree>
    <p:extLst>
      <p:ext uri="{BB962C8B-B14F-4D97-AF65-F5344CB8AC3E}">
        <p14:creationId xmlns:p14="http://schemas.microsoft.com/office/powerpoint/2010/main" val="7158433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7528F9-5C28-4148-AB31-B524AF87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19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项目目标与价值总结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2C198-55FC-4E73-B55B-8BCC1E64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25830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45A6BC9-3606-4A30-859E-F6C4C676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05950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项目汇报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B451AD6-9E5E-49B9-AF86-91656AEE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4678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close-main">
            <a:extLst xmlns:a="http://schemas.openxmlformats.org/drawingml/2006/main">
              <a:ext uri="{FF2B5EF4-FFF2-40B4-BE49-F238E27FC236}">
                <a16:creationId xmlns:a16="http://schemas.microsoft.com/office/drawing/2014/main" id="{ECE1CCC2-CFCD-4EEC-B671-687EBDFA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1600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5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5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5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5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5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5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5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5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5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持续跟踪社区问题</a:t>
            </a:r>
          </a:p>
          <a:p xmlns:a="http://schemas.openxmlformats.org/drawingml/2006/main">
            <a:pPr algn="l">
              <a:defRPr sz="5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支撑测试分析与经验复用</a:t>
            </a:r>
          </a:p>
        </p:txBody>
      </p:sp>
      <p:sp>
        <p:nvSpPr>
          <p:cNvPr id="7" name="close-evidence">
            <a:extLst xmlns:a="http://schemas.openxmlformats.org/drawingml/2006/main">
              <a:ext uri="{FF2B5EF4-FFF2-40B4-BE49-F238E27FC236}">
                <a16:creationId xmlns:a16="http://schemas.microsoft.com/office/drawing/2014/main" id="{D18E1DC3-582C-4DF8-981C-CE4410C9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29250"/>
            <a:ext cx="15049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管理目标：集中维护问题信息、分析结论和处理进展，支持专项筛选与协作交接。</a:t>
            </a:r>
          </a:p>
          <a:p xmlns:a="http://schemas.openxmlformats.org/drawingml/2006/main">
            <a:pPr algn="l">
              <a:defRPr sz="30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分析目标：结合人工判断与 AI 辅助，提取关键配置、信息缺口和可验证的测试建议。</a:t>
            </a:r>
          </a:p>
          <a:p xmlns:a="http://schemas.openxmlformats.org/drawingml/2006/main">
            <a:pPr algn="l">
              <a:defRPr sz="30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测试目标：将值得投入的问题整理成测试输入，推动实际验证、场景积累与回归用例复用。</a:t>
            </a:r>
          </a:p>
        </p:txBody>
      </p:sp>
      <p:sp>
        <p:nvSpPr>
          <p:cNvPr id="8" name="expanded-close-next">
            <a:extLst xmlns:a="http://schemas.openxmlformats.org/drawingml/2006/main">
              <a:ext uri="{FF2B5EF4-FFF2-40B4-BE49-F238E27FC236}">
                <a16:creationId xmlns:a16="http://schemas.microsoft.com/office/drawing/2014/main" id="{865537CA-1F5A-433A-B92F-7025FB1D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8458200"/>
            <a:ext cx="1504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项目价值通过分析投入、推荐质量、实际验证结果和测试材料复用持续评价。</a:t>
            </a:r>
          </a:p>
        </p:txBody>
      </p:sp>
    </p:spTree>
    <p:extLst>
      <p:ext uri="{BB962C8B-B14F-4D97-AF65-F5344CB8AC3E}">
        <p14:creationId xmlns:p14="http://schemas.microsoft.com/office/powerpoint/2010/main" val="11343623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2026-10-28T02:11:21.4760000Z</dcterms:created>
  <dcterms:modified xsi:type="dcterms:W3CDTF">2026-10-28T02:11:21.4760000Z</dcterms:modified>
</coreProperties>
</file>